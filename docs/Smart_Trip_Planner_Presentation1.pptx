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Good morning. We are presenting Smart Trip Planner, our minor project for MC03094171 Research Work (Phase-1) / Minor Project. Introduce the three of us and our roles: Udit on backend, database and API; Hardik on the frontend; Vraj on documentation, UML and system design. Name our guide. One line on the idea: you give a destination, dates and a budget tier, and the system returns a day-wise itinerary with a cost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Walk through the five parts, do not read every item. First we study how trips are planned today and define the problem. Then the proposed system and its tools, the requirements, the UML design with the data dictionary, and finally what is already built with a live demo. Vraj covers the study and the structural diagrams, Udit the system internals and data, Hardik the requirements, user flows and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There is no single existing system; planning today is a manual process spread over four kinds of tools. You research on blogs and videos, check each place on a maps app, look up prices on booking portals, and finally assemble everything in notes or a spreadsheet. Point at the strip: it takes hours, days are not grouped by distance, the budget is guesswork, and any change means redoing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Compare row by row. Today information is scattered; we keep a curated catalogue of destinations and activities. Today the day plan is made by hand; we generate it and order stops by distance. Today budget is guesswork; we break it into stay, food, transport and activities. A change means starting again versus regenerating in one click, and the plan finally lives in one place, My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Six objectives. One form should give a complete plan. Stops inside a day should be close to each other. The budget must show where the money goes. A visitor can try the planner before creating an account. The demo must not depend on the internet, so seeded data and a local distance calculation are the default. And the API must be secure and covered by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Read the statement once, slowly. Then point right: the six inputs the traveller gives, and the two outputs the system must produce. Stress the word feasible: a day has a limit of 6, 8 or 10 visiting hours depending on pace, and travel time between stops counts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Left is what Phase-1 delivers: twelve Indian destinations with curated activities, search and filter, the plan generator, the three-tier budget, accounts with My Trips, and nearby-place discovery. Right is what we deliberately left out. We do not take payments or make bookings, there is no chatbot and no mobile app, prices are estimates and not live. Saying this clearly avoids questions about features we never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Three tiers. The React client talks only to our REST API under /api/v1; the API is layered as routes, controllers and services; MongoDB holds four collections. The six blocks below are the services where the logic lives. Controllers only handle HTTP, so itinerary and budget are pure functions that we can unit test. Providers hide where distance and places come from: local by default, OpenStreetMap/OSRM or Google by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Same three tiers, now as deployed for the demo: Vite dev server on 5173 proxies /api to Express on 4100, MongoDB 7 runs in Docker on 27017. Follow one request: page, apiClient, route, validate middleware, controller, service, model. When the provider is set to OpenStreetMap or Google the providers call the external places and distance services with a timeout, otherwise, or on any failure, the local provider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This is the heart of the project. Each activity gets a score: its rating plus 1.5 if it matches an interest. Pace sets the hours per day. Each day starts from the best unassigned activity, then keeps adding the nearest one from the top half of the pool while visit plus travel time fits. Morning places move to the front, evening ones to the end, and the day is timed from 9 am with a lunch hour. It is deterministic, same input gives the same plan. Budget on the right: two people share a room, nights are days minus one, everything is in whole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The stack is MERN with JavaScript end to end. On the client React 18 with Vite and React Router, and hand-written CSS with design tokens, no UI kit. On the server Node 20 and Express, with Zod for validation and JWT plus bcrypt for security. MongoDB 7 with Mongoose, run through Docker Compose. OpenStreetMap Overpass and OSRM are the free map services; Google Places and Distance Matrix are optional. Vitest and Supertest for tests, Git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Assumptions are what the estimate takes for granted: two travellers share a room, nights are days minus one, costs are daily averages per tier, and with the local provider the road distance is straight-line times 1.3 at 25 km per hour. Constraints are hard limits in the code: twelve destinations, up to fourteen days, up to twelve travellers, a four-second timeout on external route calls, and twenty auth requests per fifteen minutes per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Sixteen functional requirements, grouped by module; each maps to a page and an API route. FR-01 to 03 are accounts. FR-04 to 06 are the destination catalogue. FR-07 and 08 are the plan form and its validation rules: end date not before start, at most fourteen days, not in the past. Do not read all rows; pick one from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FR-09 and 10 are the two outputs, itinerary and budget. FR-11 is important for usability: a guest can preview without an account. FR-12: if the guest presses Save, we keep the plan in session storage, send them to login, and restore it. FR-13 is a security point: the server regenerates the numbers on save. FR-14 to 16 are trip management, with strict ownership: another user's trip simply returns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Our users are people planning a domestic leisure trip on their own. Three typical cases: a student group watching every rupee, a family that wants a relaxed pace, and a first-time visitor who does not know the place. Inside the system there are only two roles that matter in Phase-1: a guest, who can browse and preview, and a registered traveller, who can save and manage trips. The role field also allows admin, but there are no admin screens in this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Two human actors. A guest can browse destinations, view details, discover nearby places and generate a plan preview. A registered traveller does all of that and also saves trips, views My Trips, updates notes and status, and deletes. Generating a plan always includes building the itinerary and estimating the budget. The map services appear as external, optional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This is the main flow you will see in the demo. The traveller picks a destination, fills the plan form, and the input is validated: dates in order, not in the past, at most fourteen days. The server builds the itinerary and the budget and the client shows the preview. On Save there is one decision: logged in or not. If not, the plan is kept in session storage, the user logs in or registers, comes back to the same preview and saves.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Register checks the input, rejects an email that already exists with a 409 conflict, hashes the password with bcrypt and returns a token. Login verifies the password and returns the same kind of token; wrong email or wrong password give the same 401 message. The client stores the token, loads the user, and sends them back to where they were, for example the plan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Read it top to bottom. The client posts the plan input to /planner/preview. The controller calls the itinerary service, which asks the route provider for distances, then the budget service, and returns both. When the user saves, the client posts the same input to /trips with the JWT. The auth middleware verifies the token, the trip service regenerates itinerary and budget, and only then writes the trip document. So a tampered total from the browser can never reach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The login page posts email and password. The auth service loads the user with the password hash, compares with bcrypt, signs a JWT and returns user plus token. The hash never leaves the server. The client keeps the token in local storage and attaches it as a Bearer header. On reload it calls /auth/me to restore the session. The auth routes are rate limited to twenty requests per fifteen minutes per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[Vraj] Four persistent classes that map one to one to MongoDB collections: User, Destination, Activity and Trip. A user has many trips, a destination has many activities and many trips. Trip is composed of itinerary days, each with itinerary items, and one budget. An itinerary item copies the activity's name, fee and location, so a saved trip stays stable even if the catalogue changes later. The service classes carry the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The database is MongoDB with four collections. Every document has an ObjectId, createdAt and updatedAt. All money is whole rupees. The users collection is small: name, unique lowercase email, a bcrypt password hash that is excluded from every query by default, and a role. Below is how the collections relate: a user has many trips, a destination has many activities and many trips, and a trip embeds its itinerary and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Destinations is the catalogue. The slug is the URL identifier, for example manali. Category is an enum of seven values and drives the filter. The key field is dailyCost: for each tier it holds stay per room per night, and food and transport per person per day. That is exactly what the budget formula reads. Twelve destinations are seeded.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An activity is a place to visit or a thing to do. It points to its destination and carries everything the itinerary algorithm needs: type for interest matching, real coordinates for distance, durationHours for the day capacity, entryFee for the budget, and bestTime for morning or evening ordering. Source tells us whether the record came from our seed or from Google. Destination plus name is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A trip belongs to one user and one destination. The first block is the plan input exactly as the traveller entered it, with the same limits as the form: one to fourteen days, one to twelve travellers. Itinerary and budget are embedded, not referenced, so one read returns the whole trip. Status and notes are the only fields the user edits after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[Udit] Three embedded structures. ItineraryDay is one day with its items and totals. ItineraryItem is a snapshot of an activity with its start and end time and the travel from the previous stop. Budget stores rooms, nights, the four-part breakdown, total and per-person. Because these are snapshots, a saved trip reads the same even if we later edit the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13 of 15 planned modules are complete, about 87 percent, which is above the 50 percent asked for Presentation-1. The whole main flow works end to end: browse, plan, preview, login, save, manage. What remains is listed as in progress; mention each in one line and say it is planned for the next phase. Then hand over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Hardik drives the browser, Udit explains what the server does at each step. Keep the stack running before the presentation starts. Open Manali, plan four days for two travellers on the Standard tier with Adventure and Nature. Walk through one day of the itinerary and the budget breakdown. Press Save while logged out to show the login detour and the restored plan. Finish in My Trips: mark completed, add a note,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Thank the panel and our guide. Questions on API, database and algorithms go to Udit; on screens and user flow to Hardik; on UML and documentation to Vraj. If asked what comes next: finish the in-progress modules, complete the test suite and the project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22A"/>
        </a:solidFill>
      </p:bgPr>
    </p:bg>
    <p:spTree>
      <p:nvGrpSpPr>
        <p:cNvPr id="1" name=""/>
        <p:cNvGrpSpPr/>
        <p:nvPr/>
      </p:nvGrpSpPr>
      <p:grpSpPr>
        <a:xfrm>
          <a:off x="0" y="0"/>
          <a:ext cx="0" cy="0"/>
          <a:chOff x="0" y="0"/>
          <a:chExt cx="0" cy="0"/>
        </a:xfrm>
      </p:grpSpPr>
      <p:sp>
        <p:nvSpPr>
          <p:cNvPr id="3" name="Text 0"/>
          <p:cNvSpPr txBox="1"/>
          <p:nvPr/>
        </p:nvSpPr>
        <p:spPr>
          <a:xfrm>
            <a:off x="685800" y="640080"/>
            <a:ext cx="10820095" cy="274320"/>
          </a:xfrm>
          <a:prstGeom prst="rect">
            <a:avLst/>
          </a:prstGeom>
          <a:noFill/>
          <a:ln/>
        </p:spPr>
        <p:txBody>
          <a:bodyPr wrap="square" lIns="0" tIns="0" rIns="0" bIns="0" rtlCol="0" anchor="t"/>
          <a:lstStyle/>
          <a:p>
            <a:pPr indent="0" marL="0">
              <a:buNone/>
            </a:pPr>
            <a:r>
              <a:rPr lang="en-US" sz="1100" b="1" spc="300" kern="0" dirty="0">
                <a:solidFill>
                  <a:srgbClr val="E39568"/>
                </a:solidFill>
                <a:latin typeface="Arial" pitchFamily="34" charset="0"/>
                <a:ea typeface="Arial" pitchFamily="34" charset="-122"/>
                <a:cs typeface="Arial" pitchFamily="34" charset="-120"/>
              </a:rPr>
              <a:t>MC03094171 RESEARCH WORK (PHASE-1) / MINOR PROJECT</a:t>
            </a:r>
            <a:endParaRPr lang="en-US" sz="1100" dirty="0"/>
          </a:p>
        </p:txBody>
      </p:sp>
      <p:sp>
        <p:nvSpPr>
          <p:cNvPr id="4" name="Text 1"/>
          <p:cNvSpPr txBox="1"/>
          <p:nvPr/>
        </p:nvSpPr>
        <p:spPr>
          <a:xfrm>
            <a:off x="685800" y="1097280"/>
            <a:ext cx="10820095" cy="1097280"/>
          </a:xfrm>
          <a:prstGeom prst="rect">
            <a:avLst/>
          </a:prstGeom>
          <a:noFill/>
          <a:ln/>
        </p:spPr>
        <p:txBody>
          <a:bodyPr wrap="square" lIns="0" tIns="0" rIns="0" bIns="0" rtlCol="0" anchor="ctr"/>
          <a:lstStyle/>
          <a:p>
            <a:pPr indent="0" marL="0">
              <a:buNone/>
            </a:pPr>
            <a:r>
              <a:rPr lang="en-US" sz="6000" dirty="0">
                <a:solidFill>
                  <a:srgbClr val="F6F1E7"/>
                </a:solidFill>
                <a:latin typeface="Georgia" pitchFamily="34" charset="0"/>
                <a:ea typeface="Georgia" pitchFamily="34" charset="-122"/>
                <a:cs typeface="Georgia" pitchFamily="34" charset="-120"/>
              </a:rPr>
              <a:t>Smart Trip Planner</a:t>
            </a:r>
            <a:endParaRPr lang="en-US" sz="6000" dirty="0"/>
          </a:p>
        </p:txBody>
      </p:sp>
      <p:sp>
        <p:nvSpPr>
          <p:cNvPr id="5" name="Text 2"/>
          <p:cNvSpPr txBox="1"/>
          <p:nvPr/>
        </p:nvSpPr>
        <p:spPr>
          <a:xfrm>
            <a:off x="685800" y="2286000"/>
            <a:ext cx="7498080" cy="731520"/>
          </a:xfrm>
          <a:prstGeom prst="rect">
            <a:avLst/>
          </a:prstGeom>
          <a:noFill/>
          <a:ln/>
        </p:spPr>
        <p:txBody>
          <a:bodyPr wrap="square" lIns="0" tIns="0" rIns="0" bIns="0" rtlCol="0" anchor="t"/>
          <a:lstStyle/>
          <a:p>
            <a:pPr indent="0" marL="0">
              <a:buNone/>
            </a:pPr>
            <a:r>
              <a:rPr lang="en-US" sz="1700" dirty="0">
                <a:solidFill>
                  <a:srgbClr val="AEB6BC"/>
                </a:solidFill>
                <a:latin typeface="Arial" pitchFamily="34" charset="0"/>
                <a:ea typeface="Arial" pitchFamily="34" charset="-122"/>
                <a:cs typeface="Arial" pitchFamily="34" charset="-120"/>
              </a:rPr>
              <a:t>A web application that turns a destination, travel dates and a budget tier into a day-wise itinerary and a cost estimate.</a:t>
            </a:r>
            <a:endParaRPr lang="en-US" sz="1700" dirty="0"/>
          </a:p>
        </p:txBody>
      </p:sp>
      <p:sp>
        <p:nvSpPr>
          <p:cNvPr id="6" name="Shape 3"/>
          <p:cNvSpPr/>
          <p:nvPr/>
        </p:nvSpPr>
        <p:spPr>
          <a:xfrm>
            <a:off x="10134295" y="502920"/>
            <a:ext cx="1371600" cy="1371600"/>
          </a:xfrm>
          <a:prstGeom prst="roundRect">
            <a:avLst>
              <a:gd name="adj" fmla="val 4000"/>
            </a:avLst>
          </a:prstGeom>
          <a:solidFill>
            <a:srgbClr val="FFFFFF"/>
          </a:solidFill>
          <a:ln/>
        </p:spPr>
      </p:sp>
      <p:pic>
        <p:nvPicPr>
          <p:cNvPr id="7" name="Image 0" descr="SVIT logo">    </p:cNvPr>
          <p:cNvPicPr>
            <a:picLocks noChangeAspect="1"/>
          </p:cNvPicPr>
          <p:nvPr/>
        </p:nvPicPr>
        <p:blipFill>
          <a:blip r:embed="rId1"/>
          <a:stretch>
            <a:fillRect/>
          </a:stretch>
        </p:blipFill>
        <p:spPr>
          <a:xfrm>
            <a:off x="10244023" y="612648"/>
            <a:ext cx="1152144" cy="1122976"/>
          </a:xfrm>
          <a:prstGeom prst="rect">
            <a:avLst/>
          </a:prstGeom>
        </p:spPr>
      </p:pic>
      <p:sp>
        <p:nvSpPr>
          <p:cNvPr id="8" name="Shape 4"/>
          <p:cNvSpPr/>
          <p:nvPr/>
        </p:nvSpPr>
        <p:spPr>
          <a:xfrm>
            <a:off x="896112" y="3520440"/>
            <a:ext cx="6995160" cy="0"/>
          </a:xfrm>
          <a:prstGeom prst="line">
            <a:avLst/>
          </a:prstGeom>
          <a:noFill/>
          <a:ln w="15875">
            <a:solidFill>
              <a:srgbClr val="E39568"/>
            </a:solidFill>
            <a:prstDash val="dash"/>
          </a:ln>
        </p:spPr>
      </p:sp>
      <p:sp>
        <p:nvSpPr>
          <p:cNvPr id="9" name="Shape 5"/>
          <p:cNvSpPr/>
          <p:nvPr/>
        </p:nvSpPr>
        <p:spPr>
          <a:xfrm>
            <a:off x="685800" y="3310128"/>
            <a:ext cx="420624" cy="420624"/>
          </a:xfrm>
          <a:prstGeom prst="ellipse">
            <a:avLst/>
          </a:prstGeom>
          <a:solidFill>
            <a:srgbClr val="E39568"/>
          </a:solidFill>
          <a:ln/>
        </p:spPr>
      </p:sp>
      <p:sp>
        <p:nvSpPr>
          <p:cNvPr id="10" name="Text 6"/>
          <p:cNvSpPr txBox="1"/>
          <p:nvPr/>
        </p:nvSpPr>
        <p:spPr>
          <a:xfrm>
            <a:off x="685800" y="3310128"/>
            <a:ext cx="420624" cy="420624"/>
          </a:xfrm>
          <a:prstGeom prst="rect">
            <a:avLst/>
          </a:prstGeom>
          <a:noFill/>
          <a:ln/>
        </p:spPr>
        <p:txBody>
          <a:bodyPr wrap="square" lIns="0" tIns="0" rIns="0" bIns="0" rtlCol="0" anchor="ctr"/>
          <a:lstStyle/>
          <a:p>
            <a:pPr algn="ctr" indent="0" marL="0">
              <a:buNone/>
            </a:pPr>
            <a:r>
              <a:rPr lang="en-US" sz="1400" b="1" dirty="0">
                <a:solidFill>
                  <a:srgbClr val="18222A"/>
                </a:solidFill>
                <a:latin typeface="Georgia" pitchFamily="34" charset="0"/>
                <a:ea typeface="Georgia" pitchFamily="34" charset="-122"/>
                <a:cs typeface="Georgia" pitchFamily="34" charset="-120"/>
              </a:rPr>
              <a:t>1</a:t>
            </a:r>
            <a:endParaRPr lang="en-US" sz="1400" dirty="0"/>
          </a:p>
        </p:txBody>
      </p:sp>
      <p:sp>
        <p:nvSpPr>
          <p:cNvPr id="11" name="Text 7"/>
          <p:cNvSpPr txBox="1"/>
          <p:nvPr/>
        </p:nvSpPr>
        <p:spPr>
          <a:xfrm>
            <a:off x="685800" y="3840480"/>
            <a:ext cx="2148840" cy="274320"/>
          </a:xfrm>
          <a:prstGeom prst="rect">
            <a:avLst/>
          </a:prstGeom>
          <a:noFill/>
          <a:ln/>
        </p:spPr>
        <p:txBody>
          <a:bodyPr wrap="square" lIns="0" tIns="0" rIns="0" bIns="0" rtlCol="0" anchor="t"/>
          <a:lstStyle/>
          <a:p>
            <a:pPr indent="0" marL="0">
              <a:buNone/>
            </a:pPr>
            <a:r>
              <a:rPr lang="en-US" sz="1200" dirty="0">
                <a:solidFill>
                  <a:srgbClr val="AEB6BC"/>
                </a:solidFill>
                <a:latin typeface="Arial" pitchFamily="34" charset="0"/>
                <a:ea typeface="Arial" pitchFamily="34" charset="-122"/>
                <a:cs typeface="Arial" pitchFamily="34" charset="-120"/>
              </a:rPr>
              <a:t>Destination</a:t>
            </a:r>
            <a:endParaRPr lang="en-US" sz="1200" dirty="0"/>
          </a:p>
        </p:txBody>
      </p:sp>
      <p:sp>
        <p:nvSpPr>
          <p:cNvPr id="12" name="Shape 8"/>
          <p:cNvSpPr/>
          <p:nvPr/>
        </p:nvSpPr>
        <p:spPr>
          <a:xfrm>
            <a:off x="3017520" y="3310128"/>
            <a:ext cx="420624" cy="420624"/>
          </a:xfrm>
          <a:prstGeom prst="ellipse">
            <a:avLst/>
          </a:prstGeom>
          <a:solidFill>
            <a:srgbClr val="E39568"/>
          </a:solidFill>
          <a:ln/>
        </p:spPr>
      </p:sp>
      <p:sp>
        <p:nvSpPr>
          <p:cNvPr id="13" name="Text 9"/>
          <p:cNvSpPr txBox="1"/>
          <p:nvPr/>
        </p:nvSpPr>
        <p:spPr>
          <a:xfrm>
            <a:off x="3017520" y="3310128"/>
            <a:ext cx="420624" cy="420624"/>
          </a:xfrm>
          <a:prstGeom prst="rect">
            <a:avLst/>
          </a:prstGeom>
          <a:noFill/>
          <a:ln/>
        </p:spPr>
        <p:txBody>
          <a:bodyPr wrap="square" lIns="0" tIns="0" rIns="0" bIns="0" rtlCol="0" anchor="ctr"/>
          <a:lstStyle/>
          <a:p>
            <a:pPr algn="ctr" indent="0" marL="0">
              <a:buNone/>
            </a:pPr>
            <a:r>
              <a:rPr lang="en-US" sz="1400" b="1" dirty="0">
                <a:solidFill>
                  <a:srgbClr val="18222A"/>
                </a:solidFill>
                <a:latin typeface="Georgia" pitchFamily="34" charset="0"/>
                <a:ea typeface="Georgia" pitchFamily="34" charset="-122"/>
                <a:cs typeface="Georgia" pitchFamily="34" charset="-120"/>
              </a:rPr>
              <a:t>2</a:t>
            </a:r>
            <a:endParaRPr lang="en-US" sz="1400" dirty="0"/>
          </a:p>
        </p:txBody>
      </p:sp>
      <p:sp>
        <p:nvSpPr>
          <p:cNvPr id="14" name="Text 10"/>
          <p:cNvSpPr txBox="1"/>
          <p:nvPr/>
        </p:nvSpPr>
        <p:spPr>
          <a:xfrm>
            <a:off x="3017520" y="3840480"/>
            <a:ext cx="2148840" cy="274320"/>
          </a:xfrm>
          <a:prstGeom prst="rect">
            <a:avLst/>
          </a:prstGeom>
          <a:noFill/>
          <a:ln/>
        </p:spPr>
        <p:txBody>
          <a:bodyPr wrap="square" lIns="0" tIns="0" rIns="0" bIns="0" rtlCol="0" anchor="t"/>
          <a:lstStyle/>
          <a:p>
            <a:pPr indent="0" marL="0">
              <a:buNone/>
            </a:pPr>
            <a:r>
              <a:rPr lang="en-US" sz="1200" dirty="0">
                <a:solidFill>
                  <a:srgbClr val="AEB6BC"/>
                </a:solidFill>
                <a:latin typeface="Arial" pitchFamily="34" charset="0"/>
                <a:ea typeface="Arial" pitchFamily="34" charset="-122"/>
                <a:cs typeface="Arial" pitchFamily="34" charset="-120"/>
              </a:rPr>
              <a:t>Day-wise itinerary</a:t>
            </a:r>
            <a:endParaRPr lang="en-US" sz="1200" dirty="0"/>
          </a:p>
        </p:txBody>
      </p:sp>
      <p:sp>
        <p:nvSpPr>
          <p:cNvPr id="15" name="Shape 11"/>
          <p:cNvSpPr/>
          <p:nvPr/>
        </p:nvSpPr>
        <p:spPr>
          <a:xfrm>
            <a:off x="5349240" y="3310128"/>
            <a:ext cx="420624" cy="420624"/>
          </a:xfrm>
          <a:prstGeom prst="ellipse">
            <a:avLst/>
          </a:prstGeom>
          <a:solidFill>
            <a:srgbClr val="E39568"/>
          </a:solidFill>
          <a:ln/>
        </p:spPr>
      </p:sp>
      <p:sp>
        <p:nvSpPr>
          <p:cNvPr id="16" name="Text 12"/>
          <p:cNvSpPr txBox="1"/>
          <p:nvPr/>
        </p:nvSpPr>
        <p:spPr>
          <a:xfrm>
            <a:off x="5349240" y="3310128"/>
            <a:ext cx="420624" cy="420624"/>
          </a:xfrm>
          <a:prstGeom prst="rect">
            <a:avLst/>
          </a:prstGeom>
          <a:noFill/>
          <a:ln/>
        </p:spPr>
        <p:txBody>
          <a:bodyPr wrap="square" lIns="0" tIns="0" rIns="0" bIns="0" rtlCol="0" anchor="ctr"/>
          <a:lstStyle/>
          <a:p>
            <a:pPr algn="ctr" indent="0" marL="0">
              <a:buNone/>
            </a:pPr>
            <a:r>
              <a:rPr lang="en-US" sz="1400" b="1" dirty="0">
                <a:solidFill>
                  <a:srgbClr val="18222A"/>
                </a:solidFill>
                <a:latin typeface="Georgia" pitchFamily="34" charset="0"/>
                <a:ea typeface="Georgia" pitchFamily="34" charset="-122"/>
                <a:cs typeface="Georgia" pitchFamily="34" charset="-120"/>
              </a:rPr>
              <a:t>3</a:t>
            </a:r>
            <a:endParaRPr lang="en-US" sz="1400" dirty="0"/>
          </a:p>
        </p:txBody>
      </p:sp>
      <p:sp>
        <p:nvSpPr>
          <p:cNvPr id="17" name="Text 13"/>
          <p:cNvSpPr txBox="1"/>
          <p:nvPr/>
        </p:nvSpPr>
        <p:spPr>
          <a:xfrm>
            <a:off x="5349240" y="3840480"/>
            <a:ext cx="2148840" cy="274320"/>
          </a:xfrm>
          <a:prstGeom prst="rect">
            <a:avLst/>
          </a:prstGeom>
          <a:noFill/>
          <a:ln/>
        </p:spPr>
        <p:txBody>
          <a:bodyPr wrap="square" lIns="0" tIns="0" rIns="0" bIns="0" rtlCol="0" anchor="t"/>
          <a:lstStyle/>
          <a:p>
            <a:pPr indent="0" marL="0">
              <a:buNone/>
            </a:pPr>
            <a:r>
              <a:rPr lang="en-US" sz="1200" dirty="0">
                <a:solidFill>
                  <a:srgbClr val="AEB6BC"/>
                </a:solidFill>
                <a:latin typeface="Arial" pitchFamily="34" charset="0"/>
                <a:ea typeface="Arial" pitchFamily="34" charset="-122"/>
                <a:cs typeface="Arial" pitchFamily="34" charset="-120"/>
              </a:rPr>
              <a:t>Budget estimate</a:t>
            </a:r>
            <a:endParaRPr lang="en-US" sz="1200" dirty="0"/>
          </a:p>
        </p:txBody>
      </p:sp>
      <p:sp>
        <p:nvSpPr>
          <p:cNvPr id="18" name="Shape 14"/>
          <p:cNvSpPr/>
          <p:nvPr/>
        </p:nvSpPr>
        <p:spPr>
          <a:xfrm>
            <a:off x="7680960" y="3310128"/>
            <a:ext cx="420624" cy="420624"/>
          </a:xfrm>
          <a:prstGeom prst="ellipse">
            <a:avLst/>
          </a:prstGeom>
          <a:solidFill>
            <a:srgbClr val="E39568"/>
          </a:solidFill>
          <a:ln/>
        </p:spPr>
      </p:sp>
      <p:sp>
        <p:nvSpPr>
          <p:cNvPr id="19" name="Text 15"/>
          <p:cNvSpPr txBox="1"/>
          <p:nvPr/>
        </p:nvSpPr>
        <p:spPr>
          <a:xfrm>
            <a:off x="7680960" y="3310128"/>
            <a:ext cx="420624" cy="420624"/>
          </a:xfrm>
          <a:prstGeom prst="rect">
            <a:avLst/>
          </a:prstGeom>
          <a:noFill/>
          <a:ln/>
        </p:spPr>
        <p:txBody>
          <a:bodyPr wrap="square" lIns="0" tIns="0" rIns="0" bIns="0" rtlCol="0" anchor="ctr"/>
          <a:lstStyle/>
          <a:p>
            <a:pPr algn="ctr" indent="0" marL="0">
              <a:buNone/>
            </a:pPr>
            <a:r>
              <a:rPr lang="en-US" sz="1400" b="1" dirty="0">
                <a:solidFill>
                  <a:srgbClr val="18222A"/>
                </a:solidFill>
                <a:latin typeface="Georgia" pitchFamily="34" charset="0"/>
                <a:ea typeface="Georgia" pitchFamily="34" charset="-122"/>
                <a:cs typeface="Georgia" pitchFamily="34" charset="-120"/>
              </a:rPr>
              <a:t>4</a:t>
            </a:r>
            <a:endParaRPr lang="en-US" sz="1400" dirty="0"/>
          </a:p>
        </p:txBody>
      </p:sp>
      <p:sp>
        <p:nvSpPr>
          <p:cNvPr id="20" name="Text 16"/>
          <p:cNvSpPr txBox="1"/>
          <p:nvPr/>
        </p:nvSpPr>
        <p:spPr>
          <a:xfrm>
            <a:off x="7680960" y="3840480"/>
            <a:ext cx="2148840" cy="274320"/>
          </a:xfrm>
          <a:prstGeom prst="rect">
            <a:avLst/>
          </a:prstGeom>
          <a:noFill/>
          <a:ln/>
        </p:spPr>
        <p:txBody>
          <a:bodyPr wrap="square" lIns="0" tIns="0" rIns="0" bIns="0" rtlCol="0" anchor="t"/>
          <a:lstStyle/>
          <a:p>
            <a:pPr indent="0" marL="0">
              <a:buNone/>
            </a:pPr>
            <a:r>
              <a:rPr lang="en-US" sz="1200" dirty="0">
                <a:solidFill>
                  <a:srgbClr val="AEB6BC"/>
                </a:solidFill>
                <a:latin typeface="Arial" pitchFamily="34" charset="0"/>
                <a:ea typeface="Arial" pitchFamily="34" charset="-122"/>
                <a:cs typeface="Arial" pitchFamily="34" charset="-120"/>
              </a:rPr>
              <a:t>My Trips</a:t>
            </a:r>
            <a:endParaRPr lang="en-US" sz="1200" dirty="0"/>
          </a:p>
        </p:txBody>
      </p:sp>
      <p:sp>
        <p:nvSpPr>
          <p:cNvPr id="21" name="Text 17"/>
          <p:cNvSpPr txBox="1"/>
          <p:nvPr/>
        </p:nvSpPr>
        <p:spPr>
          <a:xfrm>
            <a:off x="685800" y="4434840"/>
            <a:ext cx="3657600" cy="228600"/>
          </a:xfrm>
          <a:prstGeom prst="rect">
            <a:avLst/>
          </a:prstGeom>
          <a:noFill/>
          <a:ln/>
        </p:spPr>
        <p:txBody>
          <a:bodyPr wrap="square" lIns="0" tIns="0" rIns="0" bIns="0" rtlCol="0" anchor="t"/>
          <a:lstStyle/>
          <a:p>
            <a:pPr indent="0" marL="0">
              <a:buNone/>
            </a:pPr>
            <a:r>
              <a:rPr lang="en-US" sz="1000" b="1" spc="300" kern="0" dirty="0">
                <a:solidFill>
                  <a:srgbClr val="AEB6BC"/>
                </a:solidFill>
                <a:latin typeface="Arial" pitchFamily="34" charset="0"/>
                <a:ea typeface="Arial" pitchFamily="34" charset="-122"/>
                <a:cs typeface="Arial" pitchFamily="34" charset="-120"/>
              </a:rPr>
              <a:t>PRESENTED BY</a:t>
            </a:r>
            <a:endParaRPr lang="en-US" sz="1000" dirty="0"/>
          </a:p>
        </p:txBody>
      </p:sp>
      <p:sp>
        <p:nvSpPr>
          <p:cNvPr id="22" name="Text 18"/>
          <p:cNvSpPr txBox="1"/>
          <p:nvPr/>
        </p:nvSpPr>
        <p:spPr>
          <a:xfrm>
            <a:off x="685800" y="4782312"/>
            <a:ext cx="2468880" cy="329184"/>
          </a:xfrm>
          <a:prstGeom prst="rect">
            <a:avLst/>
          </a:prstGeom>
          <a:noFill/>
          <a:ln/>
        </p:spPr>
        <p:txBody>
          <a:bodyPr wrap="square" lIns="0" tIns="0" rIns="0" bIns="0" rtlCol="0" anchor="ctr"/>
          <a:lstStyle/>
          <a:p>
            <a:pPr indent="0" marL="0">
              <a:buNone/>
            </a:pPr>
            <a:r>
              <a:rPr lang="en-US" sz="1600" dirty="0">
                <a:solidFill>
                  <a:srgbClr val="F6F1E7"/>
                </a:solidFill>
                <a:latin typeface="Georgia" pitchFamily="34" charset="0"/>
                <a:ea typeface="Georgia" pitchFamily="34" charset="-122"/>
                <a:cs typeface="Georgia" pitchFamily="34" charset="-120"/>
              </a:rPr>
              <a:t>Udit Mishra</a:t>
            </a:r>
            <a:endParaRPr lang="en-US" sz="1400" dirty="0"/>
          </a:p>
        </p:txBody>
      </p:sp>
      <p:sp>
        <p:nvSpPr>
          <p:cNvPr id="23" name="Text 19"/>
          <p:cNvSpPr txBox="1"/>
          <p:nvPr/>
        </p:nvSpPr>
        <p:spPr>
          <a:xfrm>
            <a:off x="3200400" y="4782312"/>
            <a:ext cx="2103120" cy="329184"/>
          </a:xfrm>
          <a:prstGeom prst="rect">
            <a:avLst/>
          </a:prstGeom>
          <a:noFill/>
          <a:ln/>
        </p:spPr>
        <p:txBody>
          <a:bodyPr wrap="square" lIns="0" tIns="0" rIns="0" bIns="0" rtlCol="0" anchor="ctr"/>
          <a:lstStyle/>
          <a:p>
            <a:pPr indent="0" marL="0">
              <a:buNone/>
            </a:pPr>
            <a:r>
              <a:rPr lang="en-US" sz="1300" dirty="0">
                <a:solidFill>
                  <a:srgbClr val="F6F1E7"/>
                </a:solidFill>
                <a:latin typeface="Arial" pitchFamily="34" charset="0"/>
                <a:ea typeface="Arial" pitchFamily="34" charset="-122"/>
                <a:cs typeface="Arial" pitchFamily="34" charset="-120"/>
              </a:rPr>
              <a:t>255300694026</a:t>
            </a:r>
            <a:endParaRPr lang="en-US" sz="1400" dirty="0"/>
          </a:p>
        </p:txBody>
      </p:sp>
      <p:sp>
        <p:nvSpPr>
          <p:cNvPr id="24" name="Text 20"/>
          <p:cNvSpPr txBox="1"/>
          <p:nvPr/>
        </p:nvSpPr>
        <p:spPr>
          <a:xfrm>
            <a:off x="5349240" y="4782312"/>
            <a:ext cx="2926080" cy="329184"/>
          </a:xfrm>
          <a:prstGeom prst="rect">
            <a:avLst/>
          </a:prstGeom>
          <a:noFill/>
          <a:ln/>
        </p:spPr>
        <p:txBody>
          <a:bodyPr wrap="square" lIns="0" tIns="0" rIns="0" bIns="0" rtlCol="0" anchor="ctr"/>
          <a:lstStyle/>
          <a:p>
            <a:pPr indent="0" marL="0">
              <a:buNone/>
            </a:pPr>
            <a:r>
              <a:rPr lang="en-US" sz="1200" dirty="0">
                <a:solidFill>
                  <a:srgbClr val="AEB6BC"/>
                </a:solidFill>
                <a:latin typeface="Arial" pitchFamily="34" charset="0"/>
                <a:ea typeface="Arial" pitchFamily="34" charset="-122"/>
                <a:cs typeface="Arial" pitchFamily="34" charset="-120"/>
              </a:rPr>
              <a:t>Backend / Database / API</a:t>
            </a:r>
            <a:endParaRPr lang="en-US" sz="1200" dirty="0"/>
          </a:p>
        </p:txBody>
      </p:sp>
      <p:sp>
        <p:nvSpPr>
          <p:cNvPr id="25" name="Text 21"/>
          <p:cNvSpPr txBox="1"/>
          <p:nvPr/>
        </p:nvSpPr>
        <p:spPr>
          <a:xfrm>
            <a:off x="685800" y="5166360"/>
            <a:ext cx="2468880" cy="329184"/>
          </a:xfrm>
          <a:prstGeom prst="rect">
            <a:avLst/>
          </a:prstGeom>
          <a:noFill/>
          <a:ln/>
        </p:spPr>
        <p:txBody>
          <a:bodyPr wrap="square" lIns="0" tIns="0" rIns="0" bIns="0" rtlCol="0" anchor="ctr"/>
          <a:lstStyle/>
          <a:p>
            <a:pPr indent="0" marL="0">
              <a:buNone/>
            </a:pPr>
            <a:r>
              <a:rPr lang="en-US" sz="1600" dirty="0">
                <a:solidFill>
                  <a:srgbClr val="F6F1E7"/>
                </a:solidFill>
                <a:latin typeface="Georgia" pitchFamily="34" charset="0"/>
                <a:ea typeface="Georgia" pitchFamily="34" charset="-122"/>
                <a:cs typeface="Georgia" pitchFamily="34" charset="-120"/>
              </a:rPr>
              <a:t>Hardik Vaghela</a:t>
            </a:r>
            <a:endParaRPr lang="en-US" sz="1400" dirty="0"/>
          </a:p>
        </p:txBody>
      </p:sp>
      <p:sp>
        <p:nvSpPr>
          <p:cNvPr id="26" name="Text 22"/>
          <p:cNvSpPr txBox="1"/>
          <p:nvPr/>
        </p:nvSpPr>
        <p:spPr>
          <a:xfrm>
            <a:off x="3200400" y="5166360"/>
            <a:ext cx="2103120" cy="329184"/>
          </a:xfrm>
          <a:prstGeom prst="rect">
            <a:avLst/>
          </a:prstGeom>
          <a:noFill/>
          <a:ln/>
        </p:spPr>
        <p:txBody>
          <a:bodyPr wrap="square" lIns="0" tIns="0" rIns="0" bIns="0" rtlCol="0" anchor="ctr"/>
          <a:lstStyle/>
          <a:p>
            <a:pPr indent="0" marL="0">
              <a:buNone/>
            </a:pPr>
            <a:r>
              <a:rPr lang="en-US" sz="1300" dirty="0">
                <a:solidFill>
                  <a:srgbClr val="F6F1E7"/>
                </a:solidFill>
                <a:latin typeface="Arial" pitchFamily="34" charset="0"/>
                <a:ea typeface="Arial" pitchFamily="34" charset="-122"/>
                <a:cs typeface="Arial" pitchFamily="34" charset="-120"/>
              </a:rPr>
              <a:t>255300694009</a:t>
            </a:r>
            <a:endParaRPr lang="en-US" sz="1400" dirty="0"/>
          </a:p>
        </p:txBody>
      </p:sp>
      <p:sp>
        <p:nvSpPr>
          <p:cNvPr id="27" name="Text 23"/>
          <p:cNvSpPr txBox="1"/>
          <p:nvPr/>
        </p:nvSpPr>
        <p:spPr>
          <a:xfrm>
            <a:off x="5349240" y="5166360"/>
            <a:ext cx="2926080" cy="329184"/>
          </a:xfrm>
          <a:prstGeom prst="rect">
            <a:avLst/>
          </a:prstGeom>
          <a:noFill/>
          <a:ln/>
        </p:spPr>
        <p:txBody>
          <a:bodyPr wrap="square" lIns="0" tIns="0" rIns="0" bIns="0" rtlCol="0" anchor="ctr"/>
          <a:lstStyle/>
          <a:p>
            <a:pPr indent="0" marL="0">
              <a:buNone/>
            </a:pPr>
            <a:r>
              <a:rPr lang="en-US" sz="1200" dirty="0">
                <a:solidFill>
                  <a:srgbClr val="AEB6BC"/>
                </a:solidFill>
                <a:latin typeface="Arial" pitchFamily="34" charset="0"/>
                <a:ea typeface="Arial" pitchFamily="34" charset="-122"/>
                <a:cs typeface="Arial" pitchFamily="34" charset="-120"/>
              </a:rPr>
              <a:t>Frontend / UI</a:t>
            </a:r>
            <a:endParaRPr lang="en-US" sz="1200" dirty="0"/>
          </a:p>
        </p:txBody>
      </p:sp>
      <p:sp>
        <p:nvSpPr>
          <p:cNvPr id="28" name="Text 24"/>
          <p:cNvSpPr txBox="1"/>
          <p:nvPr/>
        </p:nvSpPr>
        <p:spPr>
          <a:xfrm>
            <a:off x="685800" y="5550408"/>
            <a:ext cx="2468880" cy="329184"/>
          </a:xfrm>
          <a:prstGeom prst="rect">
            <a:avLst/>
          </a:prstGeom>
          <a:noFill/>
          <a:ln/>
        </p:spPr>
        <p:txBody>
          <a:bodyPr wrap="square" lIns="0" tIns="0" rIns="0" bIns="0" rtlCol="0" anchor="ctr"/>
          <a:lstStyle/>
          <a:p>
            <a:pPr indent="0" marL="0">
              <a:buNone/>
            </a:pPr>
            <a:r>
              <a:rPr lang="en-US" sz="1600" dirty="0">
                <a:solidFill>
                  <a:srgbClr val="F6F1E7"/>
                </a:solidFill>
                <a:latin typeface="Georgia" pitchFamily="34" charset="0"/>
                <a:ea typeface="Georgia" pitchFamily="34" charset="-122"/>
                <a:cs typeface="Georgia" pitchFamily="34" charset="-120"/>
              </a:rPr>
              <a:t>Vraj Panchal</a:t>
            </a:r>
            <a:endParaRPr lang="en-US" sz="1400" dirty="0"/>
          </a:p>
        </p:txBody>
      </p:sp>
      <p:sp>
        <p:nvSpPr>
          <p:cNvPr id="29" name="Text 25"/>
          <p:cNvSpPr txBox="1"/>
          <p:nvPr/>
        </p:nvSpPr>
        <p:spPr>
          <a:xfrm>
            <a:off x="3200400" y="5550408"/>
            <a:ext cx="2103120" cy="329184"/>
          </a:xfrm>
          <a:prstGeom prst="rect">
            <a:avLst/>
          </a:prstGeom>
          <a:noFill/>
          <a:ln/>
        </p:spPr>
        <p:txBody>
          <a:bodyPr wrap="square" lIns="0" tIns="0" rIns="0" bIns="0" rtlCol="0" anchor="ctr"/>
          <a:lstStyle/>
          <a:p>
            <a:pPr indent="0" marL="0">
              <a:buNone/>
            </a:pPr>
            <a:r>
              <a:rPr lang="en-US" sz="1300" dirty="0">
                <a:solidFill>
                  <a:srgbClr val="F6F1E7"/>
                </a:solidFill>
                <a:latin typeface="Arial" pitchFamily="34" charset="0"/>
                <a:ea typeface="Arial" pitchFamily="34" charset="-122"/>
                <a:cs typeface="Arial" pitchFamily="34" charset="-120"/>
              </a:rPr>
              <a:t>255300694064</a:t>
            </a:r>
            <a:endParaRPr lang="en-US" sz="1400" dirty="0"/>
          </a:p>
        </p:txBody>
      </p:sp>
      <p:sp>
        <p:nvSpPr>
          <p:cNvPr id="30" name="Text 26"/>
          <p:cNvSpPr txBox="1"/>
          <p:nvPr/>
        </p:nvSpPr>
        <p:spPr>
          <a:xfrm>
            <a:off x="5349240" y="5550408"/>
            <a:ext cx="2926080" cy="329184"/>
          </a:xfrm>
          <a:prstGeom prst="rect">
            <a:avLst/>
          </a:prstGeom>
          <a:noFill/>
          <a:ln/>
        </p:spPr>
        <p:txBody>
          <a:bodyPr wrap="square" lIns="0" tIns="0" rIns="0" bIns="0" rtlCol="0" anchor="ctr"/>
          <a:lstStyle/>
          <a:p>
            <a:pPr indent="0" marL="0">
              <a:buNone/>
            </a:pPr>
            <a:r>
              <a:rPr lang="en-US" sz="1200" dirty="0">
                <a:solidFill>
                  <a:srgbClr val="AEB6BC"/>
                </a:solidFill>
                <a:latin typeface="Arial" pitchFamily="34" charset="0"/>
                <a:ea typeface="Arial" pitchFamily="34" charset="-122"/>
                <a:cs typeface="Arial" pitchFamily="34" charset="-120"/>
              </a:rPr>
              <a:t>Documentation / UML / System Design</a:t>
            </a:r>
            <a:endParaRPr lang="en-US" sz="1200" dirty="0"/>
          </a:p>
        </p:txBody>
      </p:sp>
      <p:sp>
        <p:nvSpPr>
          <p:cNvPr id="31" name="Text 27"/>
          <p:cNvSpPr txBox="1"/>
          <p:nvPr/>
        </p:nvSpPr>
        <p:spPr>
          <a:xfrm>
            <a:off x="8549640" y="4434840"/>
            <a:ext cx="2956255" cy="201168"/>
          </a:xfrm>
          <a:prstGeom prst="rect">
            <a:avLst/>
          </a:prstGeom>
          <a:noFill/>
          <a:ln/>
        </p:spPr>
        <p:txBody>
          <a:bodyPr wrap="square" lIns="0" tIns="0" rIns="0" bIns="0" rtlCol="0" anchor="t"/>
          <a:lstStyle/>
          <a:p>
            <a:pPr indent="0" marL="0">
              <a:buNone/>
            </a:pPr>
            <a:r>
              <a:rPr lang="en-US" sz="1000" b="1" spc="300" kern="0" dirty="0">
                <a:solidFill>
                  <a:srgbClr val="AEB6BC"/>
                </a:solidFill>
                <a:latin typeface="Arial" pitchFamily="34" charset="0"/>
                <a:ea typeface="Arial" pitchFamily="34" charset="-122"/>
                <a:cs typeface="Arial" pitchFamily="34" charset="-120"/>
              </a:rPr>
              <a:t>GUIDED BY</a:t>
            </a:r>
            <a:endParaRPr lang="en-US" sz="1000" dirty="0"/>
          </a:p>
        </p:txBody>
      </p:sp>
      <p:sp>
        <p:nvSpPr>
          <p:cNvPr id="32" name="Text 28"/>
          <p:cNvSpPr txBox="1"/>
          <p:nvPr/>
        </p:nvSpPr>
        <p:spPr>
          <a:xfrm>
            <a:off x="8549640" y="4645152"/>
            <a:ext cx="2956255" cy="274320"/>
          </a:xfrm>
          <a:prstGeom prst="rect">
            <a:avLst/>
          </a:prstGeom>
          <a:noFill/>
          <a:ln/>
        </p:spPr>
        <p:txBody>
          <a:bodyPr wrap="square" lIns="0" tIns="0" rIns="0" bIns="0" rtlCol="0" anchor="t"/>
          <a:lstStyle/>
          <a:p>
            <a:pPr indent="0" marL="0">
              <a:buNone/>
            </a:pPr>
            <a:r>
              <a:rPr lang="en-US" sz="1400" dirty="0">
                <a:solidFill>
                  <a:srgbClr val="F6F1E7"/>
                </a:solidFill>
                <a:latin typeface="Arial" pitchFamily="34" charset="0"/>
                <a:ea typeface="Arial" pitchFamily="34" charset="-122"/>
                <a:cs typeface="Arial" pitchFamily="34" charset="-120"/>
              </a:rPr>
              <a:t>Prof. Payal Chauhan</a:t>
            </a:r>
            <a:endParaRPr lang="en-US" sz="1400" dirty="0"/>
          </a:p>
        </p:txBody>
      </p:sp>
      <p:sp>
        <p:nvSpPr>
          <p:cNvPr id="33" name="Text 29"/>
          <p:cNvSpPr txBox="1"/>
          <p:nvPr/>
        </p:nvSpPr>
        <p:spPr>
          <a:xfrm>
            <a:off x="8549640" y="5093208"/>
            <a:ext cx="2956255" cy="201168"/>
          </a:xfrm>
          <a:prstGeom prst="rect">
            <a:avLst/>
          </a:prstGeom>
          <a:noFill/>
          <a:ln/>
        </p:spPr>
        <p:txBody>
          <a:bodyPr wrap="square" lIns="0" tIns="0" rIns="0" bIns="0" rtlCol="0" anchor="t"/>
          <a:lstStyle/>
          <a:p>
            <a:pPr indent="0" marL="0">
              <a:buNone/>
            </a:pPr>
            <a:r>
              <a:rPr lang="en-US" sz="1000" b="1" spc="300" kern="0" dirty="0">
                <a:solidFill>
                  <a:srgbClr val="AEB6BC"/>
                </a:solidFill>
                <a:latin typeface="Arial" pitchFamily="34" charset="0"/>
                <a:ea typeface="Arial" pitchFamily="34" charset="-122"/>
                <a:cs typeface="Arial" pitchFamily="34" charset="-120"/>
              </a:rPr>
              <a:t>PRESENTATION-1</a:t>
            </a:r>
            <a:endParaRPr lang="en-US" sz="1000" dirty="0"/>
          </a:p>
        </p:txBody>
      </p:sp>
      <p:sp>
        <p:nvSpPr>
          <p:cNvPr id="34" name="Text 30"/>
          <p:cNvSpPr txBox="1"/>
          <p:nvPr/>
        </p:nvSpPr>
        <p:spPr>
          <a:xfrm>
            <a:off x="8549640" y="5303520"/>
            <a:ext cx="2956255" cy="274320"/>
          </a:xfrm>
          <a:prstGeom prst="rect">
            <a:avLst/>
          </a:prstGeom>
          <a:noFill/>
          <a:ln/>
        </p:spPr>
        <p:txBody>
          <a:bodyPr wrap="square" lIns="0" tIns="0" rIns="0" bIns="0" rtlCol="0" anchor="t"/>
          <a:lstStyle/>
          <a:p>
            <a:pPr indent="0" marL="0">
              <a:buNone/>
            </a:pPr>
            <a:r>
              <a:rPr lang="en-US" sz="1400" dirty="0">
                <a:solidFill>
                  <a:srgbClr val="F6F1E7"/>
                </a:solidFill>
                <a:latin typeface="Arial" pitchFamily="34" charset="0"/>
                <a:ea typeface="Arial" pitchFamily="34" charset="-122"/>
                <a:cs typeface="Arial" pitchFamily="34" charset="-120"/>
              </a:rPr>
              <a:t>21 September 2026</a:t>
            </a:r>
            <a:endParaRPr lang="en-US" sz="1400" dirty="0"/>
          </a:p>
        </p:txBody>
      </p:sp>
      <p:sp>
        <p:nvSpPr>
          <p:cNvPr id="35" name="Text 31"/>
          <p:cNvSpPr txBox="1"/>
          <p:nvPr/>
        </p:nvSpPr>
        <p:spPr>
          <a:xfrm>
            <a:off x="685800" y="6217920"/>
            <a:ext cx="10820095" cy="274320"/>
          </a:xfrm>
          <a:prstGeom prst="rect">
            <a:avLst/>
          </a:prstGeom>
          <a:noFill/>
          <a:ln/>
        </p:spPr>
        <p:txBody>
          <a:bodyPr wrap="square" lIns="0" tIns="0" rIns="0" bIns="0" rtlCol="0" anchor="t"/>
          <a:lstStyle/>
          <a:p>
            <a:pPr indent="0" marL="0">
              <a:buNone/>
            </a:pPr>
            <a:r>
              <a:rPr lang="en-US" sz="1150" dirty="0">
                <a:solidFill>
                  <a:srgbClr val="AEB6BC"/>
                </a:solidFill>
                <a:latin typeface="Arial" pitchFamily="34" charset="0"/>
                <a:ea typeface="Arial" pitchFamily="34" charset="-122"/>
                <a:cs typeface="Arial" pitchFamily="34" charset="-120"/>
              </a:rPr>
              <a:t>Sardar Vallabhbhai Patel Institute of Technology, Vasad  ·  Master of Computer Applications — Semester III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OVERVIEW</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Presentation Agenda</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02</a:t>
            </a:r>
            <a:endParaRPr lang="en-US" sz="1100" dirty="0"/>
          </a:p>
        </p:txBody>
      </p:sp>
      <p:sp>
        <p:nvSpPr>
          <p:cNvPr id="7" name="Shape 4"/>
          <p:cNvSpPr/>
          <p:nvPr/>
        </p:nvSpPr>
        <p:spPr>
          <a:xfrm>
            <a:off x="685800" y="1783080"/>
            <a:ext cx="1981139" cy="3931920"/>
          </a:xfrm>
          <a:prstGeom prst="roundRect">
            <a:avLst>
              <a:gd name="adj" fmla="val 2769"/>
            </a:avLst>
          </a:prstGeom>
          <a:solidFill>
            <a:srgbClr val="FFFFFF"/>
          </a:solidFill>
          <a:ln w="9525">
            <a:solidFill>
              <a:srgbClr val="D8CDB9"/>
            </a:solidFill>
            <a:prstDash val="solid"/>
          </a:ln>
        </p:spPr>
      </p:sp>
      <p:sp>
        <p:nvSpPr>
          <p:cNvPr id="8" name="Text 5"/>
          <p:cNvSpPr txBox="1"/>
          <p:nvPr/>
        </p:nvSpPr>
        <p:spPr>
          <a:xfrm>
            <a:off x="914400"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01</a:t>
            </a:r>
            <a:endParaRPr lang="en-US" sz="2600" dirty="0"/>
          </a:p>
        </p:txBody>
      </p:sp>
      <p:sp>
        <p:nvSpPr>
          <p:cNvPr id="9" name="Text 6"/>
          <p:cNvSpPr txBox="1"/>
          <p:nvPr/>
        </p:nvSpPr>
        <p:spPr>
          <a:xfrm>
            <a:off x="914400" y="2560320"/>
            <a:ext cx="1615379" cy="32004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Study</a:t>
            </a:r>
            <a:endParaRPr lang="en-US" sz="1500" dirty="0"/>
          </a:p>
        </p:txBody>
      </p:sp>
      <p:sp>
        <p:nvSpPr>
          <p:cNvPr id="10" name="Text 7"/>
          <p:cNvSpPr txBox="1"/>
          <p:nvPr/>
        </p:nvSpPr>
        <p:spPr>
          <a:xfrm>
            <a:off x="914400" y="3063240"/>
            <a:ext cx="1615379" cy="2560320"/>
          </a:xfrm>
          <a:prstGeom prst="rect">
            <a:avLst/>
          </a:prstGeom>
          <a:noFill/>
          <a:ln/>
        </p:spPr>
        <p:txBody>
          <a:bodyPr wrap="square" lIns="0" tIns="0" rIns="0" bIns="0" rtlCol="0" anchor="t"/>
          <a:lstStyle/>
          <a:p>
            <a:pPr indent="0" marL="0">
              <a:spcAft>
                <a:spcPts val="1100"/>
              </a:spcAft>
              <a:buNone/>
            </a:pPr>
            <a:r>
              <a:rPr lang="en-US" sz="1350" dirty="0">
                <a:solidFill>
                  <a:srgbClr val="3D4852"/>
                </a:solidFill>
                <a:latin typeface="Arial" pitchFamily="34" charset="0"/>
                <a:ea typeface="Arial" pitchFamily="34" charset="-122"/>
                <a:cs typeface="Arial" pitchFamily="34" charset="-120"/>
              </a:rPr>
              <a:t>Existing System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Need for the New System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Objective of the New System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Problem Definition</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Scope of the Project</a:t>
            </a:r>
            <a:endParaRPr lang="en-US" sz="1350" dirty="0"/>
          </a:p>
        </p:txBody>
      </p:sp>
      <p:sp>
        <p:nvSpPr>
          <p:cNvPr id="11" name="Shape 8"/>
          <p:cNvSpPr/>
          <p:nvPr/>
        </p:nvSpPr>
        <p:spPr>
          <a:xfrm>
            <a:off x="2895539" y="1783080"/>
            <a:ext cx="1981139" cy="3931920"/>
          </a:xfrm>
          <a:prstGeom prst="roundRect">
            <a:avLst>
              <a:gd name="adj" fmla="val 2769"/>
            </a:avLst>
          </a:prstGeom>
          <a:solidFill>
            <a:srgbClr val="FFFFFF"/>
          </a:solidFill>
          <a:ln w="9525">
            <a:solidFill>
              <a:srgbClr val="D8CDB9"/>
            </a:solidFill>
            <a:prstDash val="solid"/>
          </a:ln>
        </p:spPr>
      </p:sp>
      <p:sp>
        <p:nvSpPr>
          <p:cNvPr id="12" name="Text 9"/>
          <p:cNvSpPr txBox="1"/>
          <p:nvPr/>
        </p:nvSpPr>
        <p:spPr>
          <a:xfrm>
            <a:off x="3124139"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02</a:t>
            </a:r>
            <a:endParaRPr lang="en-US" sz="2600" dirty="0"/>
          </a:p>
        </p:txBody>
      </p:sp>
      <p:sp>
        <p:nvSpPr>
          <p:cNvPr id="13" name="Text 10"/>
          <p:cNvSpPr txBox="1"/>
          <p:nvPr/>
        </p:nvSpPr>
        <p:spPr>
          <a:xfrm>
            <a:off x="3124139" y="2560320"/>
            <a:ext cx="1615379" cy="32004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Proposed system</a:t>
            </a:r>
            <a:endParaRPr lang="en-US" sz="1500" dirty="0"/>
          </a:p>
        </p:txBody>
      </p:sp>
      <p:sp>
        <p:nvSpPr>
          <p:cNvPr id="14" name="Text 11"/>
          <p:cNvSpPr txBox="1"/>
          <p:nvPr/>
        </p:nvSpPr>
        <p:spPr>
          <a:xfrm>
            <a:off x="3124139" y="3063240"/>
            <a:ext cx="1615379" cy="2560320"/>
          </a:xfrm>
          <a:prstGeom prst="rect">
            <a:avLst/>
          </a:prstGeom>
          <a:noFill/>
          <a:ln/>
        </p:spPr>
        <p:txBody>
          <a:bodyPr wrap="square" lIns="0" tIns="0" rIns="0" bIns="0" rtlCol="0" anchor="t"/>
          <a:lstStyle/>
          <a:p>
            <a:pPr indent="0" marL="0">
              <a:spcAft>
                <a:spcPts val="1100"/>
              </a:spcAft>
              <a:buNone/>
            </a:pPr>
            <a:r>
              <a:rPr lang="en-US" sz="1350" dirty="0">
                <a:solidFill>
                  <a:srgbClr val="3D4852"/>
                </a:solidFill>
                <a:latin typeface="Arial" pitchFamily="34" charset="0"/>
                <a:ea typeface="Arial" pitchFamily="34" charset="-122"/>
                <a:cs typeface="Arial" pitchFamily="34" charset="-120"/>
              </a:rPr>
              <a:t>Core Components</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Development Tools &amp; Technologies</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Assumptions and Constraints</a:t>
            </a:r>
            <a:endParaRPr lang="en-US" sz="1350" dirty="0"/>
          </a:p>
        </p:txBody>
      </p:sp>
      <p:sp>
        <p:nvSpPr>
          <p:cNvPr id="15" name="Shape 12"/>
          <p:cNvSpPr/>
          <p:nvPr/>
        </p:nvSpPr>
        <p:spPr>
          <a:xfrm>
            <a:off x="5105278" y="1783080"/>
            <a:ext cx="1981139" cy="3931920"/>
          </a:xfrm>
          <a:prstGeom prst="roundRect">
            <a:avLst>
              <a:gd name="adj" fmla="val 2769"/>
            </a:avLst>
          </a:prstGeom>
          <a:solidFill>
            <a:srgbClr val="FFFFFF"/>
          </a:solidFill>
          <a:ln w="9525">
            <a:solidFill>
              <a:srgbClr val="D8CDB9"/>
            </a:solidFill>
            <a:prstDash val="solid"/>
          </a:ln>
        </p:spPr>
      </p:sp>
      <p:sp>
        <p:nvSpPr>
          <p:cNvPr id="16" name="Text 13"/>
          <p:cNvSpPr txBox="1"/>
          <p:nvPr/>
        </p:nvSpPr>
        <p:spPr>
          <a:xfrm>
            <a:off x="5333878"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03</a:t>
            </a:r>
            <a:endParaRPr lang="en-US" sz="2600" dirty="0"/>
          </a:p>
        </p:txBody>
      </p:sp>
      <p:sp>
        <p:nvSpPr>
          <p:cNvPr id="17" name="Text 14"/>
          <p:cNvSpPr txBox="1"/>
          <p:nvPr/>
        </p:nvSpPr>
        <p:spPr>
          <a:xfrm>
            <a:off x="5333878" y="2560320"/>
            <a:ext cx="1615379" cy="32004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Requirements</a:t>
            </a:r>
            <a:endParaRPr lang="en-US" sz="1500" dirty="0"/>
          </a:p>
        </p:txBody>
      </p:sp>
      <p:sp>
        <p:nvSpPr>
          <p:cNvPr id="18" name="Text 15"/>
          <p:cNvSpPr txBox="1"/>
          <p:nvPr/>
        </p:nvSpPr>
        <p:spPr>
          <a:xfrm>
            <a:off x="5333878" y="3063240"/>
            <a:ext cx="1615379" cy="2560320"/>
          </a:xfrm>
          <a:prstGeom prst="rect">
            <a:avLst/>
          </a:prstGeom>
          <a:noFill/>
          <a:ln/>
        </p:spPr>
        <p:txBody>
          <a:bodyPr wrap="square" lIns="0" tIns="0" rIns="0" bIns="0" rtlCol="0" anchor="t"/>
          <a:lstStyle/>
          <a:p>
            <a:pPr indent="0" marL="0">
              <a:spcAft>
                <a:spcPts val="1100"/>
              </a:spcAft>
              <a:buNone/>
            </a:pPr>
            <a:r>
              <a:rPr lang="en-US" sz="1350" dirty="0">
                <a:solidFill>
                  <a:srgbClr val="3D4852"/>
                </a:solidFill>
                <a:latin typeface="Arial" pitchFamily="34" charset="0"/>
                <a:ea typeface="Arial" pitchFamily="34" charset="-122"/>
                <a:cs typeface="Arial" pitchFamily="34" charset="-120"/>
              </a:rPr>
              <a:t>Functional Requirements</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Targeted Users</a:t>
            </a:r>
            <a:endParaRPr lang="en-US" sz="1350" dirty="0"/>
          </a:p>
        </p:txBody>
      </p:sp>
      <p:sp>
        <p:nvSpPr>
          <p:cNvPr id="19" name="Shape 16"/>
          <p:cNvSpPr/>
          <p:nvPr/>
        </p:nvSpPr>
        <p:spPr>
          <a:xfrm>
            <a:off x="7315017" y="1783080"/>
            <a:ext cx="1981139" cy="3931920"/>
          </a:xfrm>
          <a:prstGeom prst="roundRect">
            <a:avLst>
              <a:gd name="adj" fmla="val 2769"/>
            </a:avLst>
          </a:prstGeom>
          <a:solidFill>
            <a:srgbClr val="FFFFFF"/>
          </a:solidFill>
          <a:ln w="9525">
            <a:solidFill>
              <a:srgbClr val="D8CDB9"/>
            </a:solidFill>
            <a:prstDash val="solid"/>
          </a:ln>
        </p:spPr>
      </p:sp>
      <p:sp>
        <p:nvSpPr>
          <p:cNvPr id="20" name="Text 17"/>
          <p:cNvSpPr txBox="1"/>
          <p:nvPr/>
        </p:nvSpPr>
        <p:spPr>
          <a:xfrm>
            <a:off x="7543617"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04</a:t>
            </a:r>
            <a:endParaRPr lang="en-US" sz="2600" dirty="0"/>
          </a:p>
        </p:txBody>
      </p:sp>
      <p:sp>
        <p:nvSpPr>
          <p:cNvPr id="21" name="Text 18"/>
          <p:cNvSpPr txBox="1"/>
          <p:nvPr/>
        </p:nvSpPr>
        <p:spPr>
          <a:xfrm>
            <a:off x="7543617" y="2560320"/>
            <a:ext cx="1615379" cy="32004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Design</a:t>
            </a:r>
            <a:endParaRPr lang="en-US" sz="1500" dirty="0"/>
          </a:p>
        </p:txBody>
      </p:sp>
      <p:sp>
        <p:nvSpPr>
          <p:cNvPr id="22" name="Text 19"/>
          <p:cNvSpPr txBox="1"/>
          <p:nvPr/>
        </p:nvSpPr>
        <p:spPr>
          <a:xfrm>
            <a:off x="7543617" y="3063240"/>
            <a:ext cx="1615379" cy="2560320"/>
          </a:xfrm>
          <a:prstGeom prst="rect">
            <a:avLst/>
          </a:prstGeom>
          <a:noFill/>
          <a:ln/>
        </p:spPr>
        <p:txBody>
          <a:bodyPr wrap="square" lIns="0" tIns="0" rIns="0" bIns="0" rtlCol="0" anchor="t"/>
          <a:lstStyle/>
          <a:p>
            <a:pPr indent="0" marL="0">
              <a:spcAft>
                <a:spcPts val="1100"/>
              </a:spcAft>
              <a:buNone/>
            </a:pPr>
            <a:r>
              <a:rPr lang="en-US" sz="1350" dirty="0">
                <a:solidFill>
                  <a:srgbClr val="3D4852"/>
                </a:solidFill>
                <a:latin typeface="Arial" pitchFamily="34" charset="0"/>
                <a:ea typeface="Arial" pitchFamily="34" charset="-122"/>
                <a:cs typeface="Arial" pitchFamily="34" charset="-120"/>
              </a:rPr>
              <a:t>Use Case Diagram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Activity Diagram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Interaction Diagram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Class Diagram</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Data Dictionary</a:t>
            </a:r>
            <a:endParaRPr lang="en-US" sz="1350" dirty="0"/>
          </a:p>
        </p:txBody>
      </p:sp>
      <p:sp>
        <p:nvSpPr>
          <p:cNvPr id="23" name="Shape 20"/>
          <p:cNvSpPr/>
          <p:nvPr/>
        </p:nvSpPr>
        <p:spPr>
          <a:xfrm>
            <a:off x="9524756" y="1783080"/>
            <a:ext cx="1981139" cy="3931920"/>
          </a:xfrm>
          <a:prstGeom prst="roundRect">
            <a:avLst>
              <a:gd name="adj" fmla="val 2769"/>
            </a:avLst>
          </a:prstGeom>
          <a:solidFill>
            <a:srgbClr val="FFFFFF"/>
          </a:solidFill>
          <a:ln w="9525">
            <a:solidFill>
              <a:srgbClr val="D8CDB9"/>
            </a:solidFill>
            <a:prstDash val="solid"/>
          </a:ln>
        </p:spPr>
      </p:sp>
      <p:sp>
        <p:nvSpPr>
          <p:cNvPr id="24" name="Text 21"/>
          <p:cNvSpPr txBox="1"/>
          <p:nvPr/>
        </p:nvSpPr>
        <p:spPr>
          <a:xfrm>
            <a:off x="9753356"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05</a:t>
            </a:r>
            <a:endParaRPr lang="en-US" sz="2600" dirty="0"/>
          </a:p>
        </p:txBody>
      </p:sp>
      <p:sp>
        <p:nvSpPr>
          <p:cNvPr id="25" name="Text 22"/>
          <p:cNvSpPr txBox="1"/>
          <p:nvPr/>
        </p:nvSpPr>
        <p:spPr>
          <a:xfrm>
            <a:off x="9753356" y="2560320"/>
            <a:ext cx="1615379" cy="32004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Progress</a:t>
            </a:r>
            <a:endParaRPr lang="en-US" sz="1500" dirty="0"/>
          </a:p>
        </p:txBody>
      </p:sp>
      <p:sp>
        <p:nvSpPr>
          <p:cNvPr id="26" name="Text 23"/>
          <p:cNvSpPr txBox="1"/>
          <p:nvPr/>
        </p:nvSpPr>
        <p:spPr>
          <a:xfrm>
            <a:off x="9753356" y="3063240"/>
            <a:ext cx="1615379" cy="2560320"/>
          </a:xfrm>
          <a:prstGeom prst="rect">
            <a:avLst/>
          </a:prstGeom>
          <a:noFill/>
          <a:ln/>
        </p:spPr>
        <p:txBody>
          <a:bodyPr wrap="square" lIns="0" tIns="0" rIns="0" bIns="0" rtlCol="0" anchor="t"/>
          <a:lstStyle/>
          <a:p>
            <a:pPr indent="0" marL="0">
              <a:spcAft>
                <a:spcPts val="1100"/>
              </a:spcAft>
              <a:buNone/>
            </a:pPr>
            <a:r>
              <a:rPr lang="en-US" sz="1350" dirty="0">
                <a:solidFill>
                  <a:srgbClr val="3D4852"/>
                </a:solidFill>
                <a:latin typeface="Arial" pitchFamily="34" charset="0"/>
                <a:ea typeface="Arial" pitchFamily="34" charset="-122"/>
                <a:cs typeface="Arial" pitchFamily="34" charset="-120"/>
              </a:rPr>
              <a:t>Implementation Status</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Demo Flow</a:t>
            </a:r>
            <a:endParaRPr lang="en-US" sz="1350" dirty="0"/>
          </a:p>
          <a:p>
            <a:pPr indent="0" marL="0">
              <a:spcAft>
                <a:spcPts val="1100"/>
              </a:spcAft>
              <a:buNone/>
            </a:pPr>
            <a:r>
              <a:rPr lang="en-US" sz="1350" dirty="0">
                <a:solidFill>
                  <a:srgbClr val="3D4852"/>
                </a:solidFill>
                <a:latin typeface="Arial" pitchFamily="34" charset="0"/>
                <a:ea typeface="Arial" pitchFamily="34" charset="-122"/>
                <a:cs typeface="Arial" pitchFamily="34" charset="-120"/>
              </a:rPr>
              <a:t>Questions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1 · STUDY</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Existing System</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03</a:t>
            </a:r>
            <a:endParaRPr lang="en-US" sz="1100" dirty="0"/>
          </a:p>
        </p:txBody>
      </p:sp>
      <p:sp>
        <p:nvSpPr>
          <p:cNvPr id="7" name="Shape 4"/>
          <p:cNvSpPr/>
          <p:nvPr/>
        </p:nvSpPr>
        <p:spPr>
          <a:xfrm>
            <a:off x="896112" y="2011680"/>
            <a:ext cx="8320811" cy="0"/>
          </a:xfrm>
          <a:prstGeom prst="line">
            <a:avLst/>
          </a:prstGeom>
          <a:noFill/>
          <a:ln w="15875">
            <a:solidFill>
              <a:srgbClr val="B4532A"/>
            </a:solidFill>
            <a:prstDash val="dash"/>
          </a:ln>
        </p:spPr>
      </p:sp>
      <p:sp>
        <p:nvSpPr>
          <p:cNvPr id="8" name="Shape 5"/>
          <p:cNvSpPr/>
          <p:nvPr/>
        </p:nvSpPr>
        <p:spPr>
          <a:xfrm>
            <a:off x="685800" y="1801368"/>
            <a:ext cx="420624" cy="420624"/>
          </a:xfrm>
          <a:prstGeom prst="ellipse">
            <a:avLst/>
          </a:prstGeom>
          <a:solidFill>
            <a:srgbClr val="B4532A"/>
          </a:solidFill>
          <a:ln/>
        </p:spPr>
      </p:sp>
      <p:sp>
        <p:nvSpPr>
          <p:cNvPr id="9" name="Text 6"/>
          <p:cNvSpPr txBox="1"/>
          <p:nvPr/>
        </p:nvSpPr>
        <p:spPr>
          <a:xfrm>
            <a:off x="6858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0" name="Shape 7"/>
          <p:cNvSpPr/>
          <p:nvPr/>
        </p:nvSpPr>
        <p:spPr>
          <a:xfrm>
            <a:off x="685800" y="2423160"/>
            <a:ext cx="2499284" cy="2331720"/>
          </a:xfrm>
          <a:prstGeom prst="roundRect">
            <a:avLst>
              <a:gd name="adj" fmla="val 2353"/>
            </a:avLst>
          </a:prstGeom>
          <a:solidFill>
            <a:srgbClr val="FFFFFF"/>
          </a:solidFill>
          <a:ln w="9525">
            <a:solidFill>
              <a:srgbClr val="D8CDB9"/>
            </a:solidFill>
            <a:prstDash val="solid"/>
          </a:ln>
        </p:spPr>
      </p:sp>
      <p:sp>
        <p:nvSpPr>
          <p:cNvPr id="11" name="Text 8"/>
          <p:cNvSpPr txBox="1"/>
          <p:nvPr/>
        </p:nvSpPr>
        <p:spPr>
          <a:xfrm>
            <a:off x="914400" y="2624328"/>
            <a:ext cx="2042084" cy="365760"/>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Research</a:t>
            </a:r>
            <a:endParaRPr lang="en-US" sz="2000" dirty="0"/>
          </a:p>
        </p:txBody>
      </p:sp>
      <p:sp>
        <p:nvSpPr>
          <p:cNvPr id="12" name="Text 9"/>
          <p:cNvSpPr txBox="1"/>
          <p:nvPr/>
        </p:nvSpPr>
        <p:spPr>
          <a:xfrm>
            <a:off x="914400" y="3063240"/>
            <a:ext cx="204208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BLOGS AND VIDEOS</a:t>
            </a:r>
            <a:endParaRPr lang="en-US" sz="950" dirty="0"/>
          </a:p>
        </p:txBody>
      </p:sp>
      <p:sp>
        <p:nvSpPr>
          <p:cNvPr id="13" name="Text 10"/>
          <p:cNvSpPr txBox="1"/>
          <p:nvPr/>
        </p:nvSpPr>
        <p:spPr>
          <a:xfrm>
            <a:off x="914400" y="3447288"/>
            <a:ext cx="2042084" cy="12344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Scattered opinions. No single list of what is worth visiting and for how long.</a:t>
            </a:r>
            <a:endParaRPr lang="en-US" sz="1400" dirty="0"/>
          </a:p>
        </p:txBody>
      </p:sp>
      <p:sp>
        <p:nvSpPr>
          <p:cNvPr id="14" name="Shape 11"/>
          <p:cNvSpPr/>
          <p:nvPr/>
        </p:nvSpPr>
        <p:spPr>
          <a:xfrm>
            <a:off x="3459404" y="1801368"/>
            <a:ext cx="420624" cy="420624"/>
          </a:xfrm>
          <a:prstGeom prst="ellipse">
            <a:avLst/>
          </a:prstGeom>
          <a:solidFill>
            <a:srgbClr val="B4532A"/>
          </a:solidFill>
          <a:ln/>
        </p:spPr>
      </p:sp>
      <p:sp>
        <p:nvSpPr>
          <p:cNvPr id="15" name="Text 12"/>
          <p:cNvSpPr txBox="1"/>
          <p:nvPr/>
        </p:nvSpPr>
        <p:spPr>
          <a:xfrm>
            <a:off x="3459404"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Shape 13"/>
          <p:cNvSpPr/>
          <p:nvPr/>
        </p:nvSpPr>
        <p:spPr>
          <a:xfrm>
            <a:off x="3459404" y="2423160"/>
            <a:ext cx="2499284" cy="2331720"/>
          </a:xfrm>
          <a:prstGeom prst="roundRect">
            <a:avLst>
              <a:gd name="adj" fmla="val 2353"/>
            </a:avLst>
          </a:prstGeom>
          <a:solidFill>
            <a:srgbClr val="FFFFFF"/>
          </a:solidFill>
          <a:ln w="9525">
            <a:solidFill>
              <a:srgbClr val="D8CDB9"/>
            </a:solidFill>
            <a:prstDash val="solid"/>
          </a:ln>
        </p:spPr>
      </p:sp>
      <p:sp>
        <p:nvSpPr>
          <p:cNvPr id="17" name="Text 14"/>
          <p:cNvSpPr txBox="1"/>
          <p:nvPr/>
        </p:nvSpPr>
        <p:spPr>
          <a:xfrm>
            <a:off x="3688004" y="2624328"/>
            <a:ext cx="2042084" cy="365760"/>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Locate</a:t>
            </a:r>
            <a:endParaRPr lang="en-US" sz="2000" dirty="0"/>
          </a:p>
        </p:txBody>
      </p:sp>
      <p:sp>
        <p:nvSpPr>
          <p:cNvPr id="18" name="Text 15"/>
          <p:cNvSpPr txBox="1"/>
          <p:nvPr/>
        </p:nvSpPr>
        <p:spPr>
          <a:xfrm>
            <a:off x="3688004" y="3063240"/>
            <a:ext cx="204208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MAPS APPLICATION</a:t>
            </a:r>
            <a:endParaRPr lang="en-US" sz="950" dirty="0"/>
          </a:p>
        </p:txBody>
      </p:sp>
      <p:sp>
        <p:nvSpPr>
          <p:cNvPr id="19" name="Text 16"/>
          <p:cNvSpPr txBox="1"/>
          <p:nvPr/>
        </p:nvSpPr>
        <p:spPr>
          <a:xfrm>
            <a:off x="3688004" y="3447288"/>
            <a:ext cx="2042084" cy="12344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Places are checked one at a time. Nothing groups nearby places into the same day.</a:t>
            </a:r>
            <a:endParaRPr lang="en-US" sz="1400" dirty="0"/>
          </a:p>
        </p:txBody>
      </p:sp>
      <p:sp>
        <p:nvSpPr>
          <p:cNvPr id="20" name="Shape 17"/>
          <p:cNvSpPr/>
          <p:nvPr/>
        </p:nvSpPr>
        <p:spPr>
          <a:xfrm>
            <a:off x="6233008" y="1801368"/>
            <a:ext cx="420624" cy="420624"/>
          </a:xfrm>
          <a:prstGeom prst="ellipse">
            <a:avLst/>
          </a:prstGeom>
          <a:solidFill>
            <a:srgbClr val="B4532A"/>
          </a:solidFill>
          <a:ln/>
        </p:spPr>
      </p:sp>
      <p:sp>
        <p:nvSpPr>
          <p:cNvPr id="21" name="Text 18"/>
          <p:cNvSpPr txBox="1"/>
          <p:nvPr/>
        </p:nvSpPr>
        <p:spPr>
          <a:xfrm>
            <a:off x="6233008"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2" name="Shape 19"/>
          <p:cNvSpPr/>
          <p:nvPr/>
        </p:nvSpPr>
        <p:spPr>
          <a:xfrm>
            <a:off x="6233008" y="2423160"/>
            <a:ext cx="2499284" cy="2331720"/>
          </a:xfrm>
          <a:prstGeom prst="roundRect">
            <a:avLst>
              <a:gd name="adj" fmla="val 2353"/>
            </a:avLst>
          </a:prstGeom>
          <a:solidFill>
            <a:srgbClr val="FFFFFF"/>
          </a:solidFill>
          <a:ln w="9525">
            <a:solidFill>
              <a:srgbClr val="D8CDB9"/>
            </a:solidFill>
            <a:prstDash val="solid"/>
          </a:ln>
        </p:spPr>
      </p:sp>
      <p:sp>
        <p:nvSpPr>
          <p:cNvPr id="23" name="Text 20"/>
          <p:cNvSpPr txBox="1"/>
          <p:nvPr/>
        </p:nvSpPr>
        <p:spPr>
          <a:xfrm>
            <a:off x="6461608" y="2624328"/>
            <a:ext cx="2042084" cy="365760"/>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Price</a:t>
            </a:r>
            <a:endParaRPr lang="en-US" sz="2000" dirty="0"/>
          </a:p>
        </p:txBody>
      </p:sp>
      <p:sp>
        <p:nvSpPr>
          <p:cNvPr id="24" name="Text 21"/>
          <p:cNvSpPr txBox="1"/>
          <p:nvPr/>
        </p:nvSpPr>
        <p:spPr>
          <a:xfrm>
            <a:off x="6461608" y="3063240"/>
            <a:ext cx="204208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BOOKING PORTALS</a:t>
            </a:r>
            <a:endParaRPr lang="en-US" sz="950" dirty="0"/>
          </a:p>
        </p:txBody>
      </p:sp>
      <p:sp>
        <p:nvSpPr>
          <p:cNvPr id="25" name="Text 22"/>
          <p:cNvSpPr txBox="1"/>
          <p:nvPr/>
        </p:nvSpPr>
        <p:spPr>
          <a:xfrm>
            <a:off x="6461608" y="3447288"/>
            <a:ext cx="2042084" cy="12344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Built to sell rooms and tickets. They do not give a whole-trip estimate.</a:t>
            </a:r>
            <a:endParaRPr lang="en-US" sz="1400" dirty="0"/>
          </a:p>
        </p:txBody>
      </p:sp>
      <p:sp>
        <p:nvSpPr>
          <p:cNvPr id="26" name="Shape 23"/>
          <p:cNvSpPr/>
          <p:nvPr/>
        </p:nvSpPr>
        <p:spPr>
          <a:xfrm>
            <a:off x="9006611" y="1801368"/>
            <a:ext cx="420624" cy="420624"/>
          </a:xfrm>
          <a:prstGeom prst="ellipse">
            <a:avLst/>
          </a:prstGeom>
          <a:solidFill>
            <a:srgbClr val="B4532A"/>
          </a:solidFill>
          <a:ln/>
        </p:spPr>
      </p:sp>
      <p:sp>
        <p:nvSpPr>
          <p:cNvPr id="27" name="Text 24"/>
          <p:cNvSpPr txBox="1"/>
          <p:nvPr/>
        </p:nvSpPr>
        <p:spPr>
          <a:xfrm>
            <a:off x="9006611"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8" name="Shape 25"/>
          <p:cNvSpPr/>
          <p:nvPr/>
        </p:nvSpPr>
        <p:spPr>
          <a:xfrm>
            <a:off x="9006611" y="2423160"/>
            <a:ext cx="2499284" cy="2331720"/>
          </a:xfrm>
          <a:prstGeom prst="roundRect">
            <a:avLst>
              <a:gd name="adj" fmla="val 2353"/>
            </a:avLst>
          </a:prstGeom>
          <a:solidFill>
            <a:srgbClr val="FFFFFF"/>
          </a:solidFill>
          <a:ln w="9525">
            <a:solidFill>
              <a:srgbClr val="D8CDB9"/>
            </a:solidFill>
            <a:prstDash val="solid"/>
          </a:ln>
        </p:spPr>
      </p:sp>
      <p:sp>
        <p:nvSpPr>
          <p:cNvPr id="29" name="Text 26"/>
          <p:cNvSpPr txBox="1"/>
          <p:nvPr/>
        </p:nvSpPr>
        <p:spPr>
          <a:xfrm>
            <a:off x="9235211" y="2624328"/>
            <a:ext cx="2042084" cy="365760"/>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Assemble</a:t>
            </a:r>
            <a:endParaRPr lang="en-US" sz="2000" dirty="0"/>
          </a:p>
        </p:txBody>
      </p:sp>
      <p:sp>
        <p:nvSpPr>
          <p:cNvPr id="30" name="Text 27"/>
          <p:cNvSpPr txBox="1"/>
          <p:nvPr/>
        </p:nvSpPr>
        <p:spPr>
          <a:xfrm>
            <a:off x="9235211" y="3063240"/>
            <a:ext cx="204208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NOTES / SPREADSHEET</a:t>
            </a:r>
            <a:endParaRPr lang="en-US" sz="950" dirty="0"/>
          </a:p>
        </p:txBody>
      </p:sp>
      <p:sp>
        <p:nvSpPr>
          <p:cNvPr id="31" name="Text 28"/>
          <p:cNvSpPr txBox="1"/>
          <p:nvPr/>
        </p:nvSpPr>
        <p:spPr>
          <a:xfrm>
            <a:off x="9235211" y="3447288"/>
            <a:ext cx="2042084" cy="12344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The plan is typed by hand and reworked whenever dates or group size change.</a:t>
            </a:r>
            <a:endParaRPr lang="en-US" sz="1400" dirty="0"/>
          </a:p>
        </p:txBody>
      </p:sp>
      <p:sp>
        <p:nvSpPr>
          <p:cNvPr id="32" name="Shape 29"/>
          <p:cNvSpPr/>
          <p:nvPr/>
        </p:nvSpPr>
        <p:spPr>
          <a:xfrm>
            <a:off x="685800" y="5074920"/>
            <a:ext cx="10820095" cy="868680"/>
          </a:xfrm>
          <a:prstGeom prst="roundRect">
            <a:avLst>
              <a:gd name="adj" fmla="val 6316"/>
            </a:avLst>
          </a:prstGeom>
          <a:solidFill>
            <a:srgbClr val="ECE4D4"/>
          </a:solidFill>
          <a:ln/>
        </p:spPr>
      </p:sp>
      <p:sp>
        <p:nvSpPr>
          <p:cNvPr id="33" name="Text 30"/>
          <p:cNvSpPr txBox="1"/>
          <p:nvPr/>
        </p:nvSpPr>
        <p:spPr>
          <a:xfrm>
            <a:off x="960120" y="5074920"/>
            <a:ext cx="1097280" cy="868680"/>
          </a:xfrm>
          <a:prstGeom prst="rect">
            <a:avLst/>
          </a:prstGeom>
          <a:noFill/>
          <a:ln/>
        </p:spPr>
        <p:txBody>
          <a:bodyPr wrap="square" lIns="0" tIns="0" rIns="0" bIns="0" rtlCol="0" anchor="ctr"/>
          <a:lstStyle/>
          <a:p>
            <a:pPr indent="0" marL="0">
              <a:buNone/>
            </a:pPr>
            <a:r>
              <a:rPr lang="en-US" sz="1800" i="1" dirty="0">
                <a:solidFill>
                  <a:srgbClr val="B4532A"/>
                </a:solidFill>
                <a:latin typeface="Georgia" pitchFamily="34" charset="0"/>
                <a:ea typeface="Georgia" pitchFamily="34" charset="-122"/>
                <a:cs typeface="Georgia" pitchFamily="34" charset="-120"/>
              </a:rPr>
              <a:t>Result</a:t>
            </a:r>
            <a:endParaRPr lang="en-US" sz="1800" dirty="0"/>
          </a:p>
        </p:txBody>
      </p:sp>
      <p:sp>
        <p:nvSpPr>
          <p:cNvPr id="34" name="Text 31"/>
          <p:cNvSpPr txBox="1"/>
          <p:nvPr/>
        </p:nvSpPr>
        <p:spPr>
          <a:xfrm>
            <a:off x="2057400" y="5074920"/>
            <a:ext cx="9174175" cy="86868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Hours of effort   ·   no distance-aware day plan   ·   budget is a guess   ·   nothing saved in one place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1 · STUDY</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Need for the New System</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04</a:t>
            </a:r>
            <a:endParaRPr lang="en-US" sz="1100" dirty="0"/>
          </a:p>
        </p:txBody>
      </p:sp>
      <p:sp>
        <p:nvSpPr>
          <p:cNvPr id="7" name="Shape 4"/>
          <p:cNvSpPr/>
          <p:nvPr/>
        </p:nvSpPr>
        <p:spPr>
          <a:xfrm>
            <a:off x="2423160" y="1783080"/>
            <a:ext cx="4206240" cy="4069080"/>
          </a:xfrm>
          <a:prstGeom prst="roundRect">
            <a:avLst>
              <a:gd name="adj" fmla="val 1348"/>
            </a:avLst>
          </a:prstGeom>
          <a:solidFill>
            <a:srgbClr val="ECE4D4"/>
          </a:solidFill>
          <a:ln/>
        </p:spPr>
      </p:sp>
      <p:sp>
        <p:nvSpPr>
          <p:cNvPr id="8" name="Shape 5"/>
          <p:cNvSpPr/>
          <p:nvPr/>
        </p:nvSpPr>
        <p:spPr>
          <a:xfrm>
            <a:off x="6858000" y="1783080"/>
            <a:ext cx="4647895" cy="4069080"/>
          </a:xfrm>
          <a:prstGeom prst="roundRect">
            <a:avLst>
              <a:gd name="adj" fmla="val 1348"/>
            </a:avLst>
          </a:prstGeom>
          <a:solidFill>
            <a:srgbClr val="FFFFFF"/>
          </a:solidFill>
          <a:ln w="9525">
            <a:solidFill>
              <a:srgbClr val="D8CDB9"/>
            </a:solidFill>
            <a:prstDash val="solid"/>
          </a:ln>
        </p:spPr>
      </p:sp>
      <p:sp>
        <p:nvSpPr>
          <p:cNvPr id="9" name="Text 6"/>
          <p:cNvSpPr txBox="1"/>
          <p:nvPr/>
        </p:nvSpPr>
        <p:spPr>
          <a:xfrm>
            <a:off x="2697480" y="1783080"/>
            <a:ext cx="3657600" cy="502920"/>
          </a:xfrm>
          <a:prstGeom prst="rect">
            <a:avLst/>
          </a:prstGeom>
          <a:noFill/>
          <a:ln/>
        </p:spPr>
        <p:txBody>
          <a:bodyPr wrap="square" lIns="0" tIns="0" rIns="0" bIns="0" rtlCol="0" anchor="ctr"/>
          <a:lstStyle/>
          <a:p>
            <a:pPr indent="0" marL="0">
              <a:buNone/>
            </a:pPr>
            <a:r>
              <a:rPr lang="en-US" sz="1050" b="1" spc="300" kern="0" dirty="0">
                <a:solidFill>
                  <a:srgbClr val="6A6F73"/>
                </a:solidFill>
                <a:latin typeface="Arial" pitchFamily="34" charset="0"/>
                <a:ea typeface="Arial" pitchFamily="34" charset="-122"/>
                <a:cs typeface="Arial" pitchFamily="34" charset="-120"/>
              </a:rPr>
              <a:t>EXISTING WAY</a:t>
            </a:r>
            <a:endParaRPr lang="en-US" sz="1050" dirty="0"/>
          </a:p>
        </p:txBody>
      </p:sp>
      <p:sp>
        <p:nvSpPr>
          <p:cNvPr id="10" name="Text 7"/>
          <p:cNvSpPr txBox="1"/>
          <p:nvPr/>
        </p:nvSpPr>
        <p:spPr>
          <a:xfrm>
            <a:off x="7132320" y="1783080"/>
            <a:ext cx="4099255" cy="502920"/>
          </a:xfrm>
          <a:prstGeom prst="rect">
            <a:avLst/>
          </a:prstGeom>
          <a:noFill/>
          <a:ln/>
        </p:spPr>
        <p:txBody>
          <a:bodyPr wrap="square" lIns="0" tIns="0" rIns="0" bIns="0" rtlCol="0" anchor="ctr"/>
          <a:lstStyle/>
          <a:p>
            <a:pPr indent="0" marL="0">
              <a:buNone/>
            </a:pPr>
            <a:r>
              <a:rPr lang="en-US" sz="1050" b="1" spc="300" kern="0" dirty="0">
                <a:solidFill>
                  <a:srgbClr val="B4532A"/>
                </a:solidFill>
                <a:latin typeface="Arial" pitchFamily="34" charset="0"/>
                <a:ea typeface="Arial" pitchFamily="34" charset="-122"/>
                <a:cs typeface="Arial" pitchFamily="34" charset="-120"/>
              </a:rPr>
              <a:t>SMART TRIP PLANNER</a:t>
            </a:r>
            <a:endParaRPr lang="en-US" sz="1050" dirty="0"/>
          </a:p>
        </p:txBody>
      </p:sp>
      <p:sp>
        <p:nvSpPr>
          <p:cNvPr id="11" name="Text 8"/>
          <p:cNvSpPr txBox="1"/>
          <p:nvPr/>
        </p:nvSpPr>
        <p:spPr>
          <a:xfrm>
            <a:off x="685800" y="2286000"/>
            <a:ext cx="1554480" cy="713232"/>
          </a:xfrm>
          <a:prstGeom prst="rect">
            <a:avLst/>
          </a:prstGeom>
          <a:noFill/>
          <a:ln/>
        </p:spPr>
        <p:txBody>
          <a:bodyPr wrap="square" lIns="0" tIns="0" rIns="0" bIns="0" rtlCol="0" anchor="ctr"/>
          <a:lstStyle/>
          <a:p>
            <a:pPr indent="0" marL="0">
              <a:buNone/>
            </a:pPr>
            <a:r>
              <a:rPr lang="en-US" sz="1700" dirty="0">
                <a:solidFill>
                  <a:srgbClr val="1F2A33"/>
                </a:solidFill>
                <a:latin typeface="Georgia" pitchFamily="34" charset="0"/>
                <a:ea typeface="Georgia" pitchFamily="34" charset="-122"/>
                <a:cs typeface="Georgia" pitchFamily="34" charset="-120"/>
              </a:rPr>
              <a:t>Information</a:t>
            </a:r>
            <a:endParaRPr lang="en-US" sz="1700" dirty="0"/>
          </a:p>
        </p:txBody>
      </p:sp>
      <p:sp>
        <p:nvSpPr>
          <p:cNvPr id="12" name="Text 9"/>
          <p:cNvSpPr txBox="1"/>
          <p:nvPr/>
        </p:nvSpPr>
        <p:spPr>
          <a:xfrm>
            <a:off x="2697480" y="2286000"/>
            <a:ext cx="3657600" cy="713232"/>
          </a:xfrm>
          <a:prstGeom prst="rect">
            <a:avLst/>
          </a:prstGeom>
          <a:noFill/>
          <a:ln/>
        </p:spPr>
        <p:txBody>
          <a:bodyPr wrap="square" lIns="0" tIns="0" rIns="0" bIns="0" rtlCol="0" anchor="ctr"/>
          <a:lstStyle/>
          <a:p>
            <a:pPr indent="0" marL="0">
              <a:buNone/>
            </a:pPr>
            <a:r>
              <a:rPr lang="en-US" sz="1350" dirty="0">
                <a:solidFill>
                  <a:srgbClr val="3D4852"/>
                </a:solidFill>
                <a:latin typeface="Arial" pitchFamily="34" charset="0"/>
                <a:ea typeface="Arial" pitchFamily="34" charset="-122"/>
                <a:cs typeface="Arial" pitchFamily="34" charset="-120"/>
              </a:rPr>
              <a:t>Spread over blogs, maps and portals</a:t>
            </a:r>
            <a:endParaRPr lang="en-US" sz="1350" dirty="0"/>
          </a:p>
        </p:txBody>
      </p:sp>
      <p:sp>
        <p:nvSpPr>
          <p:cNvPr id="13" name="Text 10"/>
          <p:cNvSpPr txBox="1"/>
          <p:nvPr/>
        </p:nvSpPr>
        <p:spPr>
          <a:xfrm>
            <a:off x="7132320" y="2286000"/>
            <a:ext cx="4099255" cy="713232"/>
          </a:xfrm>
          <a:prstGeom prst="rect">
            <a:avLst/>
          </a:prstGeom>
          <a:noFill/>
          <a:ln/>
        </p:spPr>
        <p:txBody>
          <a:bodyPr wrap="square" lIns="0" tIns="0" rIns="0" bIns="0" rtlCol="0" anchor="ctr"/>
          <a:lstStyle/>
          <a:p>
            <a:pPr indent="0" marL="0">
              <a:buNone/>
            </a:pPr>
            <a:r>
              <a:rPr lang="en-US" sz="1350" b="1" dirty="0">
                <a:solidFill>
                  <a:srgbClr val="1F2A33"/>
                </a:solidFill>
                <a:latin typeface="Arial" pitchFamily="34" charset="0"/>
                <a:ea typeface="Arial" pitchFamily="34" charset="-122"/>
                <a:cs typeface="Arial" pitchFamily="34" charset="-120"/>
              </a:rPr>
              <a:t>One curated catalogue: destinations with activities, fees, timings</a:t>
            </a:r>
            <a:endParaRPr lang="en-US" sz="1350" dirty="0"/>
          </a:p>
        </p:txBody>
      </p:sp>
      <p:sp>
        <p:nvSpPr>
          <p:cNvPr id="14" name="Text 11"/>
          <p:cNvSpPr txBox="1"/>
          <p:nvPr/>
        </p:nvSpPr>
        <p:spPr>
          <a:xfrm>
            <a:off x="685800" y="2999232"/>
            <a:ext cx="1554480" cy="713232"/>
          </a:xfrm>
          <a:prstGeom prst="rect">
            <a:avLst/>
          </a:prstGeom>
          <a:noFill/>
          <a:ln/>
        </p:spPr>
        <p:txBody>
          <a:bodyPr wrap="square" lIns="0" tIns="0" rIns="0" bIns="0" rtlCol="0" anchor="ctr"/>
          <a:lstStyle/>
          <a:p>
            <a:pPr indent="0" marL="0">
              <a:buNone/>
            </a:pPr>
            <a:r>
              <a:rPr lang="en-US" sz="1700" dirty="0">
                <a:solidFill>
                  <a:srgbClr val="1F2A33"/>
                </a:solidFill>
                <a:latin typeface="Georgia" pitchFamily="34" charset="0"/>
                <a:ea typeface="Georgia" pitchFamily="34" charset="-122"/>
                <a:cs typeface="Georgia" pitchFamily="34" charset="-120"/>
              </a:rPr>
              <a:t>Day plan</a:t>
            </a:r>
            <a:endParaRPr lang="en-US" sz="1700" dirty="0"/>
          </a:p>
        </p:txBody>
      </p:sp>
      <p:sp>
        <p:nvSpPr>
          <p:cNvPr id="15" name="Text 12"/>
          <p:cNvSpPr txBox="1"/>
          <p:nvPr/>
        </p:nvSpPr>
        <p:spPr>
          <a:xfrm>
            <a:off x="2697480" y="2999232"/>
            <a:ext cx="3657600" cy="713232"/>
          </a:xfrm>
          <a:prstGeom prst="rect">
            <a:avLst/>
          </a:prstGeom>
          <a:noFill/>
          <a:ln/>
        </p:spPr>
        <p:txBody>
          <a:bodyPr wrap="square" lIns="0" tIns="0" rIns="0" bIns="0" rtlCol="0" anchor="ctr"/>
          <a:lstStyle/>
          <a:p>
            <a:pPr indent="0" marL="0">
              <a:buNone/>
            </a:pPr>
            <a:r>
              <a:rPr lang="en-US" sz="1350" dirty="0">
                <a:solidFill>
                  <a:srgbClr val="3D4852"/>
                </a:solidFill>
                <a:latin typeface="Arial" pitchFamily="34" charset="0"/>
                <a:ea typeface="Arial" pitchFamily="34" charset="-122"/>
                <a:cs typeface="Arial" pitchFamily="34" charset="-120"/>
              </a:rPr>
              <a:t>Made by hand, distance ignored</a:t>
            </a:r>
            <a:endParaRPr lang="en-US" sz="1350" dirty="0"/>
          </a:p>
        </p:txBody>
      </p:sp>
      <p:sp>
        <p:nvSpPr>
          <p:cNvPr id="16" name="Text 13"/>
          <p:cNvSpPr txBox="1"/>
          <p:nvPr/>
        </p:nvSpPr>
        <p:spPr>
          <a:xfrm>
            <a:off x="7132320" y="2999232"/>
            <a:ext cx="4099255" cy="713232"/>
          </a:xfrm>
          <a:prstGeom prst="rect">
            <a:avLst/>
          </a:prstGeom>
          <a:noFill/>
          <a:ln/>
        </p:spPr>
        <p:txBody>
          <a:bodyPr wrap="square" lIns="0" tIns="0" rIns="0" bIns="0" rtlCol="0" anchor="ctr"/>
          <a:lstStyle/>
          <a:p>
            <a:pPr indent="0" marL="0">
              <a:buNone/>
            </a:pPr>
            <a:r>
              <a:rPr lang="en-US" sz="1350" b="1" dirty="0">
                <a:solidFill>
                  <a:srgbClr val="1F2A33"/>
                </a:solidFill>
                <a:latin typeface="Arial" pitchFamily="34" charset="0"/>
                <a:ea typeface="Arial" pitchFamily="34" charset="-122"/>
                <a:cs typeface="Arial" pitchFamily="34" charset="-120"/>
              </a:rPr>
              <a:t>Generated day-wise, stops ordered to cut travel</a:t>
            </a:r>
            <a:endParaRPr lang="en-US" sz="1350" dirty="0"/>
          </a:p>
        </p:txBody>
      </p:sp>
      <p:sp>
        <p:nvSpPr>
          <p:cNvPr id="17" name="Text 14"/>
          <p:cNvSpPr txBox="1"/>
          <p:nvPr/>
        </p:nvSpPr>
        <p:spPr>
          <a:xfrm>
            <a:off x="685800" y="3712464"/>
            <a:ext cx="1554480" cy="713232"/>
          </a:xfrm>
          <a:prstGeom prst="rect">
            <a:avLst/>
          </a:prstGeom>
          <a:noFill/>
          <a:ln/>
        </p:spPr>
        <p:txBody>
          <a:bodyPr wrap="square" lIns="0" tIns="0" rIns="0" bIns="0" rtlCol="0" anchor="ctr"/>
          <a:lstStyle/>
          <a:p>
            <a:pPr indent="0" marL="0">
              <a:buNone/>
            </a:pPr>
            <a:r>
              <a:rPr lang="en-US" sz="1700" dirty="0">
                <a:solidFill>
                  <a:srgbClr val="1F2A33"/>
                </a:solidFill>
                <a:latin typeface="Georgia" pitchFamily="34" charset="0"/>
                <a:ea typeface="Georgia" pitchFamily="34" charset="-122"/>
                <a:cs typeface="Georgia" pitchFamily="34" charset="-120"/>
              </a:rPr>
              <a:t>Budget</a:t>
            </a:r>
            <a:endParaRPr lang="en-US" sz="1700" dirty="0"/>
          </a:p>
        </p:txBody>
      </p:sp>
      <p:sp>
        <p:nvSpPr>
          <p:cNvPr id="18" name="Text 15"/>
          <p:cNvSpPr txBox="1"/>
          <p:nvPr/>
        </p:nvSpPr>
        <p:spPr>
          <a:xfrm>
            <a:off x="2697480" y="3712464"/>
            <a:ext cx="3657600" cy="713232"/>
          </a:xfrm>
          <a:prstGeom prst="rect">
            <a:avLst/>
          </a:prstGeom>
          <a:noFill/>
          <a:ln/>
        </p:spPr>
        <p:txBody>
          <a:bodyPr wrap="square" lIns="0" tIns="0" rIns="0" bIns="0" rtlCol="0" anchor="ctr"/>
          <a:lstStyle/>
          <a:p>
            <a:pPr indent="0" marL="0">
              <a:buNone/>
            </a:pPr>
            <a:r>
              <a:rPr lang="en-US" sz="1350" dirty="0">
                <a:solidFill>
                  <a:srgbClr val="3D4852"/>
                </a:solidFill>
                <a:latin typeface="Arial" pitchFamily="34" charset="0"/>
                <a:ea typeface="Arial" pitchFamily="34" charset="-122"/>
                <a:cs typeface="Arial" pitchFamily="34" charset="-120"/>
              </a:rPr>
              <a:t>A rough guess, often only the hotel</a:t>
            </a:r>
            <a:endParaRPr lang="en-US" sz="1350" dirty="0"/>
          </a:p>
        </p:txBody>
      </p:sp>
      <p:sp>
        <p:nvSpPr>
          <p:cNvPr id="19" name="Text 16"/>
          <p:cNvSpPr txBox="1"/>
          <p:nvPr/>
        </p:nvSpPr>
        <p:spPr>
          <a:xfrm>
            <a:off x="7132320" y="3712464"/>
            <a:ext cx="4099255" cy="713232"/>
          </a:xfrm>
          <a:prstGeom prst="rect">
            <a:avLst/>
          </a:prstGeom>
          <a:noFill/>
          <a:ln/>
        </p:spPr>
        <p:txBody>
          <a:bodyPr wrap="square" lIns="0" tIns="0" rIns="0" bIns="0" rtlCol="0" anchor="ctr"/>
          <a:lstStyle/>
          <a:p>
            <a:pPr indent="0" marL="0">
              <a:buNone/>
            </a:pPr>
            <a:r>
              <a:rPr lang="en-US" sz="1350" b="1" dirty="0">
                <a:solidFill>
                  <a:srgbClr val="1F2A33"/>
                </a:solidFill>
                <a:latin typeface="Arial" pitchFamily="34" charset="0"/>
                <a:ea typeface="Arial" pitchFamily="34" charset="-122"/>
                <a:cs typeface="Arial" pitchFamily="34" charset="-120"/>
              </a:rPr>
              <a:t>Stay, food, transport and activities; total and per person</a:t>
            </a:r>
            <a:endParaRPr lang="en-US" sz="1350" dirty="0"/>
          </a:p>
        </p:txBody>
      </p:sp>
      <p:sp>
        <p:nvSpPr>
          <p:cNvPr id="20" name="Text 17"/>
          <p:cNvSpPr txBox="1"/>
          <p:nvPr/>
        </p:nvSpPr>
        <p:spPr>
          <a:xfrm>
            <a:off x="685800" y="4425696"/>
            <a:ext cx="1554480" cy="713232"/>
          </a:xfrm>
          <a:prstGeom prst="rect">
            <a:avLst/>
          </a:prstGeom>
          <a:noFill/>
          <a:ln/>
        </p:spPr>
        <p:txBody>
          <a:bodyPr wrap="square" lIns="0" tIns="0" rIns="0" bIns="0" rtlCol="0" anchor="ctr"/>
          <a:lstStyle/>
          <a:p>
            <a:pPr indent="0" marL="0">
              <a:buNone/>
            </a:pPr>
            <a:r>
              <a:rPr lang="en-US" sz="1700" dirty="0">
                <a:solidFill>
                  <a:srgbClr val="1F2A33"/>
                </a:solidFill>
                <a:latin typeface="Georgia" pitchFamily="34" charset="0"/>
                <a:ea typeface="Georgia" pitchFamily="34" charset="-122"/>
                <a:cs typeface="Georgia" pitchFamily="34" charset="-120"/>
              </a:rPr>
              <a:t>Changes</a:t>
            </a:r>
            <a:endParaRPr lang="en-US" sz="1700" dirty="0"/>
          </a:p>
        </p:txBody>
      </p:sp>
      <p:sp>
        <p:nvSpPr>
          <p:cNvPr id="21" name="Text 18"/>
          <p:cNvSpPr txBox="1"/>
          <p:nvPr/>
        </p:nvSpPr>
        <p:spPr>
          <a:xfrm>
            <a:off x="2697480" y="4425696"/>
            <a:ext cx="3657600" cy="713232"/>
          </a:xfrm>
          <a:prstGeom prst="rect">
            <a:avLst/>
          </a:prstGeom>
          <a:noFill/>
          <a:ln/>
        </p:spPr>
        <p:txBody>
          <a:bodyPr wrap="square" lIns="0" tIns="0" rIns="0" bIns="0" rtlCol="0" anchor="ctr"/>
          <a:lstStyle/>
          <a:p>
            <a:pPr indent="0" marL="0">
              <a:buNone/>
            </a:pPr>
            <a:r>
              <a:rPr lang="en-US" sz="1350" dirty="0">
                <a:solidFill>
                  <a:srgbClr val="3D4852"/>
                </a:solidFill>
                <a:latin typeface="Arial" pitchFamily="34" charset="0"/>
                <a:ea typeface="Arial" pitchFamily="34" charset="-122"/>
                <a:cs typeface="Arial" pitchFamily="34" charset="-120"/>
              </a:rPr>
              <a:t>Rework the whole plan</a:t>
            </a:r>
            <a:endParaRPr lang="en-US" sz="1350" dirty="0"/>
          </a:p>
        </p:txBody>
      </p:sp>
      <p:sp>
        <p:nvSpPr>
          <p:cNvPr id="22" name="Text 19"/>
          <p:cNvSpPr txBox="1"/>
          <p:nvPr/>
        </p:nvSpPr>
        <p:spPr>
          <a:xfrm>
            <a:off x="7132320" y="4425696"/>
            <a:ext cx="4099255" cy="713232"/>
          </a:xfrm>
          <a:prstGeom prst="rect">
            <a:avLst/>
          </a:prstGeom>
          <a:noFill/>
          <a:ln/>
        </p:spPr>
        <p:txBody>
          <a:bodyPr wrap="square" lIns="0" tIns="0" rIns="0" bIns="0" rtlCol="0" anchor="ctr"/>
          <a:lstStyle/>
          <a:p>
            <a:pPr indent="0" marL="0">
              <a:buNone/>
            </a:pPr>
            <a:r>
              <a:rPr lang="en-US" sz="1350" b="1" dirty="0">
                <a:solidFill>
                  <a:srgbClr val="1F2A33"/>
                </a:solidFill>
                <a:latin typeface="Arial" pitchFamily="34" charset="0"/>
                <a:ea typeface="Arial" pitchFamily="34" charset="-122"/>
                <a:cs typeface="Arial" pitchFamily="34" charset="-120"/>
              </a:rPr>
              <a:t>Change an input and regenerate</a:t>
            </a:r>
            <a:endParaRPr lang="en-US" sz="1350" dirty="0"/>
          </a:p>
        </p:txBody>
      </p:sp>
      <p:sp>
        <p:nvSpPr>
          <p:cNvPr id="23" name="Text 20"/>
          <p:cNvSpPr txBox="1"/>
          <p:nvPr/>
        </p:nvSpPr>
        <p:spPr>
          <a:xfrm>
            <a:off x="685800" y="5138928"/>
            <a:ext cx="1554480" cy="713232"/>
          </a:xfrm>
          <a:prstGeom prst="rect">
            <a:avLst/>
          </a:prstGeom>
          <a:noFill/>
          <a:ln/>
        </p:spPr>
        <p:txBody>
          <a:bodyPr wrap="square" lIns="0" tIns="0" rIns="0" bIns="0" rtlCol="0" anchor="ctr"/>
          <a:lstStyle/>
          <a:p>
            <a:pPr indent="0" marL="0">
              <a:buNone/>
            </a:pPr>
            <a:r>
              <a:rPr lang="en-US" sz="1700" dirty="0">
                <a:solidFill>
                  <a:srgbClr val="1F2A33"/>
                </a:solidFill>
                <a:latin typeface="Georgia" pitchFamily="34" charset="0"/>
                <a:ea typeface="Georgia" pitchFamily="34" charset="-122"/>
                <a:cs typeface="Georgia" pitchFamily="34" charset="-120"/>
              </a:rPr>
              <a:t>Record</a:t>
            </a:r>
            <a:endParaRPr lang="en-US" sz="1700" dirty="0"/>
          </a:p>
        </p:txBody>
      </p:sp>
      <p:sp>
        <p:nvSpPr>
          <p:cNvPr id="24" name="Text 21"/>
          <p:cNvSpPr txBox="1"/>
          <p:nvPr/>
        </p:nvSpPr>
        <p:spPr>
          <a:xfrm>
            <a:off x="2697480" y="5138928"/>
            <a:ext cx="3657600" cy="713232"/>
          </a:xfrm>
          <a:prstGeom prst="rect">
            <a:avLst/>
          </a:prstGeom>
          <a:noFill/>
          <a:ln/>
        </p:spPr>
        <p:txBody>
          <a:bodyPr wrap="square" lIns="0" tIns="0" rIns="0" bIns="0" rtlCol="0" anchor="ctr"/>
          <a:lstStyle/>
          <a:p>
            <a:pPr indent="0" marL="0">
              <a:buNone/>
            </a:pPr>
            <a:r>
              <a:rPr lang="en-US" sz="1350" dirty="0">
                <a:solidFill>
                  <a:srgbClr val="3D4852"/>
                </a:solidFill>
                <a:latin typeface="Arial" pitchFamily="34" charset="0"/>
                <a:ea typeface="Arial" pitchFamily="34" charset="-122"/>
                <a:cs typeface="Arial" pitchFamily="34" charset="-120"/>
              </a:rPr>
              <a:t>Screenshots and loose notes</a:t>
            </a:r>
            <a:endParaRPr lang="en-US" sz="1350" dirty="0"/>
          </a:p>
        </p:txBody>
      </p:sp>
      <p:sp>
        <p:nvSpPr>
          <p:cNvPr id="25" name="Text 22"/>
          <p:cNvSpPr txBox="1"/>
          <p:nvPr/>
        </p:nvSpPr>
        <p:spPr>
          <a:xfrm>
            <a:off x="7132320" y="5138928"/>
            <a:ext cx="4099255" cy="713232"/>
          </a:xfrm>
          <a:prstGeom prst="rect">
            <a:avLst/>
          </a:prstGeom>
          <a:noFill/>
          <a:ln/>
        </p:spPr>
        <p:txBody>
          <a:bodyPr wrap="square" lIns="0" tIns="0" rIns="0" bIns="0" rtlCol="0" anchor="ctr"/>
          <a:lstStyle/>
          <a:p>
            <a:pPr indent="0" marL="0">
              <a:buNone/>
            </a:pPr>
            <a:r>
              <a:rPr lang="en-US" sz="1350" b="1" dirty="0">
                <a:solidFill>
                  <a:srgbClr val="1F2A33"/>
                </a:solidFill>
                <a:latin typeface="Arial" pitchFamily="34" charset="0"/>
                <a:ea typeface="Arial" pitchFamily="34" charset="-122"/>
                <a:cs typeface="Arial" pitchFamily="34" charset="-120"/>
              </a:rPr>
              <a:t>Saved in My Trips with notes and status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1 · STUDY</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Objective of the New System</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05</a:t>
            </a:r>
            <a:endParaRPr lang="en-US" sz="1100" dirty="0"/>
          </a:p>
        </p:txBody>
      </p:sp>
      <p:sp>
        <p:nvSpPr>
          <p:cNvPr id="7" name="Shape 4"/>
          <p:cNvSpPr/>
          <p:nvPr/>
        </p:nvSpPr>
        <p:spPr>
          <a:xfrm>
            <a:off x="685800" y="1783080"/>
            <a:ext cx="3423818" cy="1920240"/>
          </a:xfrm>
          <a:prstGeom prst="roundRect">
            <a:avLst>
              <a:gd name="adj" fmla="val 2857"/>
            </a:avLst>
          </a:prstGeom>
          <a:solidFill>
            <a:srgbClr val="FFFFFF"/>
          </a:solidFill>
          <a:ln w="9525">
            <a:solidFill>
              <a:srgbClr val="D8CDB9"/>
            </a:solidFill>
            <a:prstDash val="solid"/>
          </a:ln>
        </p:spPr>
      </p:sp>
      <p:sp>
        <p:nvSpPr>
          <p:cNvPr id="8" name="Text 5"/>
          <p:cNvSpPr txBox="1"/>
          <p:nvPr/>
        </p:nvSpPr>
        <p:spPr>
          <a:xfrm>
            <a:off x="941832"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01</a:t>
            </a:r>
            <a:endParaRPr lang="en-US" sz="2600" dirty="0"/>
          </a:p>
        </p:txBody>
      </p:sp>
      <p:sp>
        <p:nvSpPr>
          <p:cNvPr id="9" name="Text 6"/>
          <p:cNvSpPr txBox="1"/>
          <p:nvPr/>
        </p:nvSpPr>
        <p:spPr>
          <a:xfrm>
            <a:off x="941832" y="253288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Plan in one step</a:t>
            </a:r>
            <a:endParaRPr lang="en-US" sz="1550" dirty="0"/>
          </a:p>
        </p:txBody>
      </p:sp>
      <p:sp>
        <p:nvSpPr>
          <p:cNvPr id="10" name="Text 7"/>
          <p:cNvSpPr txBox="1"/>
          <p:nvPr/>
        </p:nvSpPr>
        <p:spPr>
          <a:xfrm>
            <a:off x="941832" y="288036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One form in, a complete day-wise itinerary out.</a:t>
            </a:r>
            <a:endParaRPr lang="en-US" sz="1350" dirty="0"/>
          </a:p>
        </p:txBody>
      </p:sp>
      <p:sp>
        <p:nvSpPr>
          <p:cNvPr id="11" name="Shape 8"/>
          <p:cNvSpPr/>
          <p:nvPr/>
        </p:nvSpPr>
        <p:spPr>
          <a:xfrm>
            <a:off x="4383938" y="1783080"/>
            <a:ext cx="3423818" cy="1920240"/>
          </a:xfrm>
          <a:prstGeom prst="roundRect">
            <a:avLst>
              <a:gd name="adj" fmla="val 2857"/>
            </a:avLst>
          </a:prstGeom>
          <a:solidFill>
            <a:srgbClr val="FFFFFF"/>
          </a:solidFill>
          <a:ln w="9525">
            <a:solidFill>
              <a:srgbClr val="D8CDB9"/>
            </a:solidFill>
            <a:prstDash val="solid"/>
          </a:ln>
        </p:spPr>
      </p:sp>
      <p:sp>
        <p:nvSpPr>
          <p:cNvPr id="12" name="Text 9"/>
          <p:cNvSpPr txBox="1"/>
          <p:nvPr/>
        </p:nvSpPr>
        <p:spPr>
          <a:xfrm>
            <a:off x="4639970"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02</a:t>
            </a:r>
            <a:endParaRPr lang="en-US" sz="2600" dirty="0"/>
          </a:p>
        </p:txBody>
      </p:sp>
      <p:sp>
        <p:nvSpPr>
          <p:cNvPr id="13" name="Text 10"/>
          <p:cNvSpPr txBox="1"/>
          <p:nvPr/>
        </p:nvSpPr>
        <p:spPr>
          <a:xfrm>
            <a:off x="4639970" y="253288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Less time on the road</a:t>
            </a:r>
            <a:endParaRPr lang="en-US" sz="1550" dirty="0"/>
          </a:p>
        </p:txBody>
      </p:sp>
      <p:sp>
        <p:nvSpPr>
          <p:cNvPr id="14" name="Text 11"/>
          <p:cNvSpPr txBox="1"/>
          <p:nvPr/>
        </p:nvSpPr>
        <p:spPr>
          <a:xfrm>
            <a:off x="4639970" y="288036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Each day groups nearby places; stops are ordered by distance.</a:t>
            </a:r>
            <a:endParaRPr lang="en-US" sz="1350" dirty="0"/>
          </a:p>
        </p:txBody>
      </p:sp>
      <p:sp>
        <p:nvSpPr>
          <p:cNvPr id="15" name="Shape 12"/>
          <p:cNvSpPr/>
          <p:nvPr/>
        </p:nvSpPr>
        <p:spPr>
          <a:xfrm>
            <a:off x="8082077" y="1783080"/>
            <a:ext cx="3423818" cy="1920240"/>
          </a:xfrm>
          <a:prstGeom prst="roundRect">
            <a:avLst>
              <a:gd name="adj" fmla="val 2857"/>
            </a:avLst>
          </a:prstGeom>
          <a:solidFill>
            <a:srgbClr val="FFFFFF"/>
          </a:solidFill>
          <a:ln w="9525">
            <a:solidFill>
              <a:srgbClr val="D8CDB9"/>
            </a:solidFill>
            <a:prstDash val="solid"/>
          </a:ln>
        </p:spPr>
      </p:sp>
      <p:sp>
        <p:nvSpPr>
          <p:cNvPr id="16" name="Text 13"/>
          <p:cNvSpPr txBox="1"/>
          <p:nvPr/>
        </p:nvSpPr>
        <p:spPr>
          <a:xfrm>
            <a:off x="8338109" y="198424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03</a:t>
            </a:r>
            <a:endParaRPr lang="en-US" sz="2600" dirty="0"/>
          </a:p>
        </p:txBody>
      </p:sp>
      <p:sp>
        <p:nvSpPr>
          <p:cNvPr id="17" name="Text 14"/>
          <p:cNvSpPr txBox="1"/>
          <p:nvPr/>
        </p:nvSpPr>
        <p:spPr>
          <a:xfrm>
            <a:off x="8338109" y="253288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A budget you can read</a:t>
            </a:r>
            <a:endParaRPr lang="en-US" sz="1550" dirty="0"/>
          </a:p>
        </p:txBody>
      </p:sp>
      <p:sp>
        <p:nvSpPr>
          <p:cNvPr id="18" name="Text 15"/>
          <p:cNvSpPr txBox="1"/>
          <p:nvPr/>
        </p:nvSpPr>
        <p:spPr>
          <a:xfrm>
            <a:off x="8338109" y="288036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Stay, food, transport and activities, with total and per-person cost in INR.</a:t>
            </a:r>
            <a:endParaRPr lang="en-US" sz="1350" dirty="0"/>
          </a:p>
        </p:txBody>
      </p:sp>
      <p:sp>
        <p:nvSpPr>
          <p:cNvPr id="19" name="Shape 16"/>
          <p:cNvSpPr/>
          <p:nvPr/>
        </p:nvSpPr>
        <p:spPr>
          <a:xfrm>
            <a:off x="685800" y="3977640"/>
            <a:ext cx="3423818" cy="1920240"/>
          </a:xfrm>
          <a:prstGeom prst="roundRect">
            <a:avLst>
              <a:gd name="adj" fmla="val 2857"/>
            </a:avLst>
          </a:prstGeom>
          <a:solidFill>
            <a:srgbClr val="FFFFFF"/>
          </a:solidFill>
          <a:ln w="9525">
            <a:solidFill>
              <a:srgbClr val="D8CDB9"/>
            </a:solidFill>
            <a:prstDash val="solid"/>
          </a:ln>
        </p:spPr>
      </p:sp>
      <p:sp>
        <p:nvSpPr>
          <p:cNvPr id="20" name="Text 17"/>
          <p:cNvSpPr txBox="1"/>
          <p:nvPr/>
        </p:nvSpPr>
        <p:spPr>
          <a:xfrm>
            <a:off x="941832" y="417880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04</a:t>
            </a:r>
            <a:endParaRPr lang="en-US" sz="2600" dirty="0"/>
          </a:p>
        </p:txBody>
      </p:sp>
      <p:sp>
        <p:nvSpPr>
          <p:cNvPr id="21" name="Text 18"/>
          <p:cNvSpPr txBox="1"/>
          <p:nvPr/>
        </p:nvSpPr>
        <p:spPr>
          <a:xfrm>
            <a:off x="941832" y="472744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Try before sign-up</a:t>
            </a:r>
            <a:endParaRPr lang="en-US" sz="1550" dirty="0"/>
          </a:p>
        </p:txBody>
      </p:sp>
      <p:sp>
        <p:nvSpPr>
          <p:cNvPr id="22" name="Text 19"/>
          <p:cNvSpPr txBox="1"/>
          <p:nvPr/>
        </p:nvSpPr>
        <p:spPr>
          <a:xfrm>
            <a:off x="941832" y="507492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Anyone can preview a plan. Login is needed only to save it.</a:t>
            </a:r>
            <a:endParaRPr lang="en-US" sz="1350" dirty="0"/>
          </a:p>
        </p:txBody>
      </p:sp>
      <p:sp>
        <p:nvSpPr>
          <p:cNvPr id="23" name="Shape 20"/>
          <p:cNvSpPr/>
          <p:nvPr/>
        </p:nvSpPr>
        <p:spPr>
          <a:xfrm>
            <a:off x="4383938" y="3977640"/>
            <a:ext cx="3423818" cy="1920240"/>
          </a:xfrm>
          <a:prstGeom prst="roundRect">
            <a:avLst>
              <a:gd name="adj" fmla="val 2857"/>
            </a:avLst>
          </a:prstGeom>
          <a:solidFill>
            <a:srgbClr val="FFFFFF"/>
          </a:solidFill>
          <a:ln w="9525">
            <a:solidFill>
              <a:srgbClr val="D8CDB9"/>
            </a:solidFill>
            <a:prstDash val="solid"/>
          </a:ln>
        </p:spPr>
      </p:sp>
      <p:sp>
        <p:nvSpPr>
          <p:cNvPr id="24" name="Text 21"/>
          <p:cNvSpPr txBox="1"/>
          <p:nvPr/>
        </p:nvSpPr>
        <p:spPr>
          <a:xfrm>
            <a:off x="4639970" y="417880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05</a:t>
            </a:r>
            <a:endParaRPr lang="en-US" sz="2600" dirty="0"/>
          </a:p>
        </p:txBody>
      </p:sp>
      <p:sp>
        <p:nvSpPr>
          <p:cNvPr id="25" name="Text 22"/>
          <p:cNvSpPr txBox="1"/>
          <p:nvPr/>
        </p:nvSpPr>
        <p:spPr>
          <a:xfrm>
            <a:off x="4639970" y="472744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Works without the internet</a:t>
            </a:r>
            <a:endParaRPr lang="en-US" sz="1550" dirty="0"/>
          </a:p>
        </p:txBody>
      </p:sp>
      <p:sp>
        <p:nvSpPr>
          <p:cNvPr id="26" name="Text 23"/>
          <p:cNvSpPr txBox="1"/>
          <p:nvPr/>
        </p:nvSpPr>
        <p:spPr>
          <a:xfrm>
            <a:off x="4639970" y="507492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Seeded data and a local distance provider by default; OpenStreetMap and Google are optional.</a:t>
            </a:r>
            <a:endParaRPr lang="en-US" sz="1350" dirty="0"/>
          </a:p>
        </p:txBody>
      </p:sp>
      <p:sp>
        <p:nvSpPr>
          <p:cNvPr id="27" name="Shape 24"/>
          <p:cNvSpPr/>
          <p:nvPr/>
        </p:nvSpPr>
        <p:spPr>
          <a:xfrm>
            <a:off x="8082077" y="3977640"/>
            <a:ext cx="3423818" cy="1920240"/>
          </a:xfrm>
          <a:prstGeom prst="roundRect">
            <a:avLst>
              <a:gd name="adj" fmla="val 2857"/>
            </a:avLst>
          </a:prstGeom>
          <a:solidFill>
            <a:srgbClr val="FFFFFF"/>
          </a:solidFill>
          <a:ln w="9525">
            <a:solidFill>
              <a:srgbClr val="D8CDB9"/>
            </a:solidFill>
            <a:prstDash val="solid"/>
          </a:ln>
        </p:spPr>
      </p:sp>
      <p:sp>
        <p:nvSpPr>
          <p:cNvPr id="28" name="Text 25"/>
          <p:cNvSpPr txBox="1"/>
          <p:nvPr/>
        </p:nvSpPr>
        <p:spPr>
          <a:xfrm>
            <a:off x="8338109" y="4178808"/>
            <a:ext cx="914400" cy="457200"/>
          </a:xfrm>
          <a:prstGeom prst="rect">
            <a:avLst/>
          </a:prstGeom>
          <a:noFill/>
          <a:ln/>
        </p:spPr>
        <p:txBody>
          <a:bodyPr wrap="square" lIns="0" tIns="0" rIns="0" bIns="0" rtlCol="0" anchor="t"/>
          <a:lstStyle/>
          <a:p>
            <a:pPr indent="0" marL="0">
              <a:buNone/>
            </a:pPr>
            <a:r>
              <a:rPr lang="en-US" sz="2600" i="1" dirty="0">
                <a:solidFill>
                  <a:srgbClr val="B4532A"/>
                </a:solidFill>
                <a:latin typeface="Georgia" pitchFamily="34" charset="0"/>
                <a:ea typeface="Georgia" pitchFamily="34" charset="-122"/>
                <a:cs typeface="Georgia" pitchFamily="34" charset="-120"/>
              </a:rPr>
              <a:t>06</a:t>
            </a:r>
            <a:endParaRPr lang="en-US" sz="2600" dirty="0"/>
          </a:p>
        </p:txBody>
      </p:sp>
      <p:sp>
        <p:nvSpPr>
          <p:cNvPr id="29" name="Text 26"/>
          <p:cNvSpPr txBox="1"/>
          <p:nvPr/>
        </p:nvSpPr>
        <p:spPr>
          <a:xfrm>
            <a:off x="8338109" y="4727448"/>
            <a:ext cx="2911754" cy="320040"/>
          </a:xfrm>
          <a:prstGeom prst="rect">
            <a:avLst/>
          </a:prstGeom>
          <a:noFill/>
          <a:ln/>
        </p:spPr>
        <p:txBody>
          <a:bodyPr wrap="square" lIns="0" tIns="0" rIns="0" bIns="0" rtlCol="0" anchor="t"/>
          <a:lstStyle/>
          <a:p>
            <a:pPr indent="0" marL="0">
              <a:buNone/>
            </a:pPr>
            <a:r>
              <a:rPr lang="en-US" sz="1550" b="1" dirty="0">
                <a:solidFill>
                  <a:srgbClr val="1F2A33"/>
                </a:solidFill>
                <a:latin typeface="Arial" pitchFamily="34" charset="0"/>
                <a:ea typeface="Arial" pitchFamily="34" charset="-122"/>
                <a:cs typeface="Arial" pitchFamily="34" charset="-120"/>
              </a:rPr>
              <a:t>Secure and tested</a:t>
            </a:r>
            <a:endParaRPr lang="en-US" sz="1550" dirty="0"/>
          </a:p>
        </p:txBody>
      </p:sp>
      <p:sp>
        <p:nvSpPr>
          <p:cNvPr id="30" name="Text 27"/>
          <p:cNvSpPr txBox="1"/>
          <p:nvPr/>
        </p:nvSpPr>
        <p:spPr>
          <a:xfrm>
            <a:off x="8338109" y="5074920"/>
            <a:ext cx="2911754" cy="731520"/>
          </a:xfrm>
          <a:prstGeom prst="rect">
            <a:avLst/>
          </a:prstGeom>
          <a:noFill/>
          <a:ln/>
        </p:spPr>
        <p:txBody>
          <a:bodyPr wrap="square" lIns="0" tIns="0" rIns="0" bIns="0" rtlCol="0" anchor="t"/>
          <a:lstStyle/>
          <a:p>
            <a:pPr indent="0" marL="0">
              <a:buNone/>
            </a:pPr>
            <a:r>
              <a:rPr lang="en-US" sz="1350" dirty="0">
                <a:solidFill>
                  <a:srgbClr val="3D4852"/>
                </a:solidFill>
                <a:latin typeface="Arial" pitchFamily="34" charset="0"/>
                <a:ea typeface="Arial" pitchFamily="34" charset="-122"/>
                <a:cs typeface="Arial" pitchFamily="34" charset="-120"/>
              </a:rPr>
              <a:t>JWT authentication, validated input, trips visible only to their owner, automated tests.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1 · STUDY</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Problem Definition</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06</a:t>
            </a:r>
            <a:endParaRPr lang="en-US" sz="1100" dirty="0"/>
          </a:p>
        </p:txBody>
      </p:sp>
      <p:sp>
        <p:nvSpPr>
          <p:cNvPr id="7" name="Text 4"/>
          <p:cNvSpPr txBox="1"/>
          <p:nvPr/>
        </p:nvSpPr>
        <p:spPr>
          <a:xfrm>
            <a:off x="685800" y="1828800"/>
            <a:ext cx="5760720" cy="3108960"/>
          </a:xfrm>
          <a:prstGeom prst="rect">
            <a:avLst/>
          </a:prstGeom>
          <a:noFill/>
          <a:ln/>
        </p:spPr>
        <p:txBody>
          <a:bodyPr wrap="square" lIns="0" tIns="0" rIns="0" bIns="0" rtlCol="0" anchor="t"/>
          <a:lstStyle/>
          <a:p>
            <a:pPr indent="0" marL="0">
              <a:lnSpc>
                <a:spcPct val="118000"/>
              </a:lnSpc>
              <a:buNone/>
            </a:pPr>
            <a:r>
              <a:rPr lang="en-US" sz="2400" dirty="0">
                <a:solidFill>
                  <a:srgbClr val="1F2A33"/>
                </a:solidFill>
                <a:latin typeface="Georgia" pitchFamily="34" charset="0"/>
                <a:ea typeface="Georgia" pitchFamily="34" charset="-122"/>
                <a:cs typeface="Georgia" pitchFamily="34" charset="-120"/>
              </a:rPr>
              <a:t>Given a destination, travel dates, group size, budget tier, interests and pace, </a:t>
            </a:r>
            <a:pPr indent="0" marL="0">
              <a:lnSpc>
                <a:spcPct val="118000"/>
              </a:lnSpc>
              <a:buNone/>
            </a:pPr>
            <a:r>
              <a:rPr lang="en-US" sz="2400" dirty="0">
                <a:solidFill>
                  <a:srgbClr val="B4532A"/>
                </a:solidFill>
                <a:latin typeface="Georgia" pitchFamily="34" charset="0"/>
                <a:ea typeface="Georgia" pitchFamily="34" charset="-122"/>
                <a:cs typeface="Georgia" pitchFamily="34" charset="-120"/>
              </a:rPr>
              <a:t>produce a feasible day-wise itinerary that keeps travel between stops low, together with a transparent cost estimate</a:t>
            </a:r>
            <a:pPr indent="0" marL="0">
              <a:lnSpc>
                <a:spcPct val="118000"/>
              </a:lnSpc>
              <a:buNone/>
            </a:pPr>
            <a:r>
              <a:rPr lang="en-US" sz="2400" dirty="0">
                <a:solidFill>
                  <a:srgbClr val="1F2A33"/>
                </a:solidFill>
                <a:latin typeface="Georgia" pitchFamily="34" charset="0"/>
                <a:ea typeface="Georgia" pitchFamily="34" charset="-122"/>
                <a:cs typeface="Georgia" pitchFamily="34" charset="-120"/>
              </a:rPr>
              <a:t> — in one step, and keep it for later.</a:t>
            </a:r>
            <a:endParaRPr lang="en-US" sz="2400" dirty="0"/>
          </a:p>
        </p:txBody>
      </p:sp>
      <p:sp>
        <p:nvSpPr>
          <p:cNvPr id="8" name="Text 5"/>
          <p:cNvSpPr txBox="1"/>
          <p:nvPr/>
        </p:nvSpPr>
        <p:spPr>
          <a:xfrm>
            <a:off x="685800" y="5074920"/>
            <a:ext cx="5760720" cy="640080"/>
          </a:xfrm>
          <a:prstGeom prst="rect">
            <a:avLst/>
          </a:prstGeom>
          <a:noFill/>
          <a:ln/>
        </p:spPr>
        <p:txBody>
          <a:bodyPr wrap="square" lIns="0" tIns="0" rIns="0" bIns="0" rtlCol="0" anchor="t"/>
          <a:lstStyle/>
          <a:p>
            <a:pPr indent="0" marL="0">
              <a:buNone/>
            </a:pPr>
            <a:r>
              <a:rPr lang="en-US" sz="1350" dirty="0">
                <a:solidFill>
                  <a:srgbClr val="6A6F73"/>
                </a:solidFill>
                <a:latin typeface="Arial" pitchFamily="34" charset="0"/>
                <a:ea typeface="Arial" pitchFamily="34" charset="-122"/>
                <a:cs typeface="Arial" pitchFamily="34" charset="-120"/>
              </a:rPr>
              <a:t>Feasible = visit time + travel time fits the day: 6 h relaxed, 8 h balanced, 10 h packed.</a:t>
            </a:r>
            <a:endParaRPr lang="en-US" sz="1350" dirty="0"/>
          </a:p>
        </p:txBody>
      </p:sp>
      <p:sp>
        <p:nvSpPr>
          <p:cNvPr id="9" name="Shape 6"/>
          <p:cNvSpPr/>
          <p:nvPr/>
        </p:nvSpPr>
        <p:spPr>
          <a:xfrm>
            <a:off x="7086600" y="1783080"/>
            <a:ext cx="4419295" cy="2148840"/>
          </a:xfrm>
          <a:prstGeom prst="roundRect">
            <a:avLst>
              <a:gd name="adj" fmla="val 2553"/>
            </a:avLst>
          </a:prstGeom>
          <a:solidFill>
            <a:srgbClr val="FFFFFF"/>
          </a:solidFill>
          <a:ln w="9525">
            <a:solidFill>
              <a:srgbClr val="D8CDB9"/>
            </a:solidFill>
            <a:prstDash val="solid"/>
          </a:ln>
        </p:spPr>
      </p:sp>
      <p:sp>
        <p:nvSpPr>
          <p:cNvPr id="10" name="Text 7"/>
          <p:cNvSpPr txBox="1"/>
          <p:nvPr/>
        </p:nvSpPr>
        <p:spPr>
          <a:xfrm>
            <a:off x="7360920" y="1965960"/>
            <a:ext cx="3870655" cy="228600"/>
          </a:xfrm>
          <a:prstGeom prst="rect">
            <a:avLst/>
          </a:prstGeom>
          <a:noFill/>
          <a:ln/>
        </p:spPr>
        <p:txBody>
          <a:bodyPr wrap="square" lIns="0" tIns="0" rIns="0" bIns="0" rtlCol="0" anchor="t"/>
          <a:lstStyle/>
          <a:p>
            <a:pPr indent="0" marL="0">
              <a:buNone/>
            </a:pPr>
            <a:r>
              <a:rPr lang="en-US" sz="1000" b="1" spc="300" kern="0" dirty="0">
                <a:solidFill>
                  <a:srgbClr val="6A6F73"/>
                </a:solidFill>
                <a:latin typeface="Arial" pitchFamily="34" charset="0"/>
                <a:ea typeface="Arial" pitchFamily="34" charset="-122"/>
                <a:cs typeface="Arial" pitchFamily="34" charset="-120"/>
              </a:rPr>
              <a:t>THE TRAVELLER GIVES</a:t>
            </a:r>
            <a:endParaRPr lang="en-US" sz="1000" dirty="0"/>
          </a:p>
        </p:txBody>
      </p:sp>
      <p:sp>
        <p:nvSpPr>
          <p:cNvPr id="11" name="Shape 8"/>
          <p:cNvSpPr/>
          <p:nvPr/>
        </p:nvSpPr>
        <p:spPr>
          <a:xfrm>
            <a:off x="7374636" y="2427732"/>
            <a:ext cx="100584" cy="100584"/>
          </a:xfrm>
          <a:prstGeom prst="ellipse">
            <a:avLst/>
          </a:prstGeom>
          <a:solidFill>
            <a:srgbClr val="B4532A"/>
          </a:solidFill>
          <a:ln/>
        </p:spPr>
      </p:sp>
      <p:sp>
        <p:nvSpPr>
          <p:cNvPr id="12" name="Text 9"/>
          <p:cNvSpPr txBox="1"/>
          <p:nvPr/>
        </p:nvSpPr>
        <p:spPr>
          <a:xfrm>
            <a:off x="7635240" y="2359152"/>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Destination</a:t>
            </a:r>
            <a:endParaRPr lang="en-US" sz="1350" dirty="0"/>
          </a:p>
        </p:txBody>
      </p:sp>
      <p:sp>
        <p:nvSpPr>
          <p:cNvPr id="13" name="Shape 10"/>
          <p:cNvSpPr/>
          <p:nvPr/>
        </p:nvSpPr>
        <p:spPr>
          <a:xfrm>
            <a:off x="9309964" y="2427732"/>
            <a:ext cx="100584" cy="100584"/>
          </a:xfrm>
          <a:prstGeom prst="ellipse">
            <a:avLst/>
          </a:prstGeom>
          <a:solidFill>
            <a:srgbClr val="B4532A"/>
          </a:solidFill>
          <a:ln/>
        </p:spPr>
      </p:sp>
      <p:sp>
        <p:nvSpPr>
          <p:cNvPr id="14" name="Text 11"/>
          <p:cNvSpPr txBox="1"/>
          <p:nvPr/>
        </p:nvSpPr>
        <p:spPr>
          <a:xfrm>
            <a:off x="9570568" y="2359152"/>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Start and end date</a:t>
            </a:r>
            <a:endParaRPr lang="en-US" sz="1350" dirty="0"/>
          </a:p>
        </p:txBody>
      </p:sp>
      <p:sp>
        <p:nvSpPr>
          <p:cNvPr id="15" name="Shape 12"/>
          <p:cNvSpPr/>
          <p:nvPr/>
        </p:nvSpPr>
        <p:spPr>
          <a:xfrm>
            <a:off x="7374636" y="2903220"/>
            <a:ext cx="100584" cy="100584"/>
          </a:xfrm>
          <a:prstGeom prst="ellipse">
            <a:avLst/>
          </a:prstGeom>
          <a:solidFill>
            <a:srgbClr val="B4532A"/>
          </a:solidFill>
          <a:ln/>
        </p:spPr>
      </p:sp>
      <p:sp>
        <p:nvSpPr>
          <p:cNvPr id="16" name="Text 13"/>
          <p:cNvSpPr txBox="1"/>
          <p:nvPr/>
        </p:nvSpPr>
        <p:spPr>
          <a:xfrm>
            <a:off x="7635240" y="2834640"/>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Travellers (1–12)</a:t>
            </a:r>
            <a:endParaRPr lang="en-US" sz="1350" dirty="0"/>
          </a:p>
        </p:txBody>
      </p:sp>
      <p:sp>
        <p:nvSpPr>
          <p:cNvPr id="17" name="Shape 14"/>
          <p:cNvSpPr/>
          <p:nvPr/>
        </p:nvSpPr>
        <p:spPr>
          <a:xfrm>
            <a:off x="9309964" y="2903220"/>
            <a:ext cx="100584" cy="100584"/>
          </a:xfrm>
          <a:prstGeom prst="ellipse">
            <a:avLst/>
          </a:prstGeom>
          <a:solidFill>
            <a:srgbClr val="B4532A"/>
          </a:solidFill>
          <a:ln/>
        </p:spPr>
      </p:sp>
      <p:sp>
        <p:nvSpPr>
          <p:cNvPr id="18" name="Text 15"/>
          <p:cNvSpPr txBox="1"/>
          <p:nvPr/>
        </p:nvSpPr>
        <p:spPr>
          <a:xfrm>
            <a:off x="9570568" y="2834640"/>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Budget tier</a:t>
            </a:r>
            <a:endParaRPr lang="en-US" sz="1350" dirty="0"/>
          </a:p>
        </p:txBody>
      </p:sp>
      <p:sp>
        <p:nvSpPr>
          <p:cNvPr id="19" name="Shape 16"/>
          <p:cNvSpPr/>
          <p:nvPr/>
        </p:nvSpPr>
        <p:spPr>
          <a:xfrm>
            <a:off x="7374636" y="3378708"/>
            <a:ext cx="100584" cy="100584"/>
          </a:xfrm>
          <a:prstGeom prst="ellipse">
            <a:avLst/>
          </a:prstGeom>
          <a:solidFill>
            <a:srgbClr val="B4532A"/>
          </a:solidFill>
          <a:ln/>
        </p:spPr>
      </p:sp>
      <p:sp>
        <p:nvSpPr>
          <p:cNvPr id="20" name="Text 17"/>
          <p:cNvSpPr txBox="1"/>
          <p:nvPr/>
        </p:nvSpPr>
        <p:spPr>
          <a:xfrm>
            <a:off x="7635240" y="3310128"/>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Interests</a:t>
            </a:r>
            <a:endParaRPr lang="en-US" sz="1350" dirty="0"/>
          </a:p>
        </p:txBody>
      </p:sp>
      <p:sp>
        <p:nvSpPr>
          <p:cNvPr id="21" name="Shape 18"/>
          <p:cNvSpPr/>
          <p:nvPr/>
        </p:nvSpPr>
        <p:spPr>
          <a:xfrm>
            <a:off x="9309964" y="3378708"/>
            <a:ext cx="100584" cy="100584"/>
          </a:xfrm>
          <a:prstGeom prst="ellipse">
            <a:avLst/>
          </a:prstGeom>
          <a:solidFill>
            <a:srgbClr val="B4532A"/>
          </a:solidFill>
          <a:ln/>
        </p:spPr>
      </p:sp>
      <p:sp>
        <p:nvSpPr>
          <p:cNvPr id="22" name="Text 19"/>
          <p:cNvSpPr txBox="1"/>
          <p:nvPr/>
        </p:nvSpPr>
        <p:spPr>
          <a:xfrm>
            <a:off x="9570568" y="3310128"/>
            <a:ext cx="1661008" cy="27432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Pace</a:t>
            </a:r>
            <a:endParaRPr lang="en-US" sz="1350" dirty="0"/>
          </a:p>
        </p:txBody>
      </p:sp>
      <p:sp>
        <p:nvSpPr>
          <p:cNvPr id="23" name="Shape 20"/>
          <p:cNvSpPr/>
          <p:nvPr/>
        </p:nvSpPr>
        <p:spPr>
          <a:xfrm>
            <a:off x="9296248" y="4005072"/>
            <a:ext cx="0" cy="402336"/>
          </a:xfrm>
          <a:prstGeom prst="line">
            <a:avLst/>
          </a:prstGeom>
          <a:noFill/>
          <a:ln w="15875">
            <a:solidFill>
              <a:srgbClr val="B4532A"/>
            </a:solidFill>
            <a:prstDash val="solid"/>
            <a:tailEnd type="triangle"/>
          </a:ln>
        </p:spPr>
      </p:sp>
      <p:sp>
        <p:nvSpPr>
          <p:cNvPr id="24" name="Shape 21"/>
          <p:cNvSpPr/>
          <p:nvPr/>
        </p:nvSpPr>
        <p:spPr>
          <a:xfrm>
            <a:off x="7086600" y="4480560"/>
            <a:ext cx="4419295" cy="1463040"/>
          </a:xfrm>
          <a:prstGeom prst="roundRect">
            <a:avLst>
              <a:gd name="adj" fmla="val 3750"/>
            </a:avLst>
          </a:prstGeom>
          <a:solidFill>
            <a:srgbClr val="1F2A33"/>
          </a:solidFill>
          <a:ln/>
        </p:spPr>
      </p:sp>
      <p:sp>
        <p:nvSpPr>
          <p:cNvPr id="25" name="Text 22"/>
          <p:cNvSpPr txBox="1"/>
          <p:nvPr/>
        </p:nvSpPr>
        <p:spPr>
          <a:xfrm>
            <a:off x="7360920" y="4645152"/>
            <a:ext cx="3870655" cy="228600"/>
          </a:xfrm>
          <a:prstGeom prst="rect">
            <a:avLst/>
          </a:prstGeom>
          <a:noFill/>
          <a:ln/>
        </p:spPr>
        <p:txBody>
          <a:bodyPr wrap="square" lIns="0" tIns="0" rIns="0" bIns="0" rtlCol="0" anchor="t"/>
          <a:lstStyle/>
          <a:p>
            <a:pPr indent="0" marL="0">
              <a:buNone/>
            </a:pPr>
            <a:r>
              <a:rPr lang="en-US" sz="1000" b="1" spc="300" kern="0" dirty="0">
                <a:solidFill>
                  <a:srgbClr val="AEB6BC"/>
                </a:solidFill>
                <a:latin typeface="Arial" pitchFamily="34" charset="0"/>
                <a:ea typeface="Arial" pitchFamily="34" charset="-122"/>
                <a:cs typeface="Arial" pitchFamily="34" charset="-120"/>
              </a:rPr>
              <a:t>THE SYSTEM RETURNS</a:t>
            </a:r>
            <a:endParaRPr lang="en-US" sz="1000" dirty="0"/>
          </a:p>
        </p:txBody>
      </p:sp>
      <p:sp>
        <p:nvSpPr>
          <p:cNvPr id="26" name="Text 23"/>
          <p:cNvSpPr txBox="1"/>
          <p:nvPr/>
        </p:nvSpPr>
        <p:spPr>
          <a:xfrm>
            <a:off x="7360920" y="4983480"/>
            <a:ext cx="3870655" cy="868680"/>
          </a:xfrm>
          <a:prstGeom prst="rect">
            <a:avLst/>
          </a:prstGeom>
          <a:noFill/>
          <a:ln/>
        </p:spPr>
        <p:txBody>
          <a:bodyPr wrap="square" lIns="0" tIns="0" rIns="0" bIns="0" rtlCol="0" anchor="t"/>
          <a:lstStyle/>
          <a:p>
            <a:pPr indent="0" marL="0">
              <a:spcAft>
                <a:spcPts val="600"/>
              </a:spcAft>
              <a:buNone/>
            </a:pPr>
            <a:r>
              <a:rPr lang="en-US" sz="1400" b="1" dirty="0">
                <a:solidFill>
                  <a:srgbClr val="F6F1E7"/>
                </a:solidFill>
                <a:latin typeface="Arial" pitchFamily="34" charset="0"/>
                <a:ea typeface="Arial" pitchFamily="34" charset="-122"/>
                <a:cs typeface="Arial" pitchFamily="34" charset="-120"/>
              </a:rPr>
              <a:t>Day-wise itinerary with start and end times</a:t>
            </a:r>
            <a:endParaRPr lang="en-US" sz="1400" dirty="0"/>
          </a:p>
          <a:p>
            <a:pPr indent="0" marL="0">
              <a:buNone/>
            </a:pPr>
            <a:r>
              <a:rPr lang="en-US" sz="1400" b="1" dirty="0">
                <a:solidFill>
                  <a:srgbClr val="F6F1E7"/>
                </a:solidFill>
                <a:latin typeface="Arial" pitchFamily="34" charset="0"/>
                <a:ea typeface="Arial" pitchFamily="34" charset="-122"/>
                <a:cs typeface="Arial" pitchFamily="34" charset="-120"/>
              </a:rPr>
              <a:t>Budget: stay · food · transport · activities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1 · STUDY</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Scope of the Project</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07</a:t>
            </a:r>
            <a:endParaRPr lang="en-US" sz="1100" dirty="0"/>
          </a:p>
        </p:txBody>
      </p:sp>
      <p:sp>
        <p:nvSpPr>
          <p:cNvPr id="7" name="Shape 4"/>
          <p:cNvSpPr/>
          <p:nvPr/>
        </p:nvSpPr>
        <p:spPr>
          <a:xfrm>
            <a:off x="685800" y="1783080"/>
            <a:ext cx="6492240" cy="4160520"/>
          </a:xfrm>
          <a:prstGeom prst="roundRect">
            <a:avLst>
              <a:gd name="adj" fmla="val 1319"/>
            </a:avLst>
          </a:prstGeom>
          <a:solidFill>
            <a:srgbClr val="FFFFFF"/>
          </a:solidFill>
          <a:ln w="9525">
            <a:solidFill>
              <a:srgbClr val="D8CDB9"/>
            </a:solidFill>
            <a:prstDash val="solid"/>
          </a:ln>
        </p:spPr>
      </p:sp>
      <p:sp>
        <p:nvSpPr>
          <p:cNvPr id="8" name="Text 5"/>
          <p:cNvSpPr txBox="1"/>
          <p:nvPr/>
        </p:nvSpPr>
        <p:spPr>
          <a:xfrm>
            <a:off x="1005840" y="2011680"/>
            <a:ext cx="2743200" cy="411480"/>
          </a:xfrm>
          <a:prstGeom prst="rect">
            <a:avLst/>
          </a:prstGeom>
          <a:noFill/>
          <a:ln/>
        </p:spPr>
        <p:txBody>
          <a:bodyPr wrap="square" lIns="0" tIns="0" rIns="0" bIns="0" rtlCol="0" anchor="t"/>
          <a:lstStyle/>
          <a:p>
            <a:pPr indent="0" marL="0">
              <a:buNone/>
            </a:pPr>
            <a:r>
              <a:rPr lang="en-US" sz="2200" dirty="0">
                <a:solidFill>
                  <a:srgbClr val="1F2A33"/>
                </a:solidFill>
                <a:latin typeface="Georgia" pitchFamily="34" charset="0"/>
                <a:ea typeface="Georgia" pitchFamily="34" charset="-122"/>
                <a:cs typeface="Georgia" pitchFamily="34" charset="-120"/>
              </a:rPr>
              <a:t>In scope</a:t>
            </a:r>
            <a:endParaRPr lang="en-US" sz="2200" dirty="0"/>
          </a:p>
        </p:txBody>
      </p:sp>
      <p:sp>
        <p:nvSpPr>
          <p:cNvPr id="9" name="Shape 6"/>
          <p:cNvSpPr/>
          <p:nvPr/>
        </p:nvSpPr>
        <p:spPr>
          <a:xfrm>
            <a:off x="1019556" y="2720340"/>
            <a:ext cx="100584" cy="100584"/>
          </a:xfrm>
          <a:prstGeom prst="ellipse">
            <a:avLst/>
          </a:prstGeom>
          <a:solidFill>
            <a:srgbClr val="B4532A"/>
          </a:solidFill>
          <a:ln/>
        </p:spPr>
      </p:sp>
      <p:sp>
        <p:nvSpPr>
          <p:cNvPr id="10" name="Text 7"/>
          <p:cNvSpPr txBox="1"/>
          <p:nvPr/>
        </p:nvSpPr>
        <p:spPr>
          <a:xfrm>
            <a:off x="1298448" y="2651760"/>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12 Indian destinations, 8–10 curated activities each</a:t>
            </a:r>
            <a:endParaRPr lang="en-US" sz="1400" dirty="0"/>
          </a:p>
        </p:txBody>
      </p:sp>
      <p:sp>
        <p:nvSpPr>
          <p:cNvPr id="11" name="Shape 8"/>
          <p:cNvSpPr/>
          <p:nvPr/>
        </p:nvSpPr>
        <p:spPr>
          <a:xfrm>
            <a:off x="1019556" y="3232404"/>
            <a:ext cx="100584" cy="100584"/>
          </a:xfrm>
          <a:prstGeom prst="ellipse">
            <a:avLst/>
          </a:prstGeom>
          <a:solidFill>
            <a:srgbClr val="B4532A"/>
          </a:solidFill>
          <a:ln/>
        </p:spPr>
      </p:sp>
      <p:sp>
        <p:nvSpPr>
          <p:cNvPr id="12" name="Text 9"/>
          <p:cNvSpPr txBox="1"/>
          <p:nvPr/>
        </p:nvSpPr>
        <p:spPr>
          <a:xfrm>
            <a:off x="1298448" y="3163824"/>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Destination search, category filter and details page</a:t>
            </a:r>
            <a:endParaRPr lang="en-US" sz="1400" dirty="0"/>
          </a:p>
        </p:txBody>
      </p:sp>
      <p:sp>
        <p:nvSpPr>
          <p:cNvPr id="13" name="Shape 10"/>
          <p:cNvSpPr/>
          <p:nvPr/>
        </p:nvSpPr>
        <p:spPr>
          <a:xfrm>
            <a:off x="1019556" y="3744468"/>
            <a:ext cx="100584" cy="100584"/>
          </a:xfrm>
          <a:prstGeom prst="ellipse">
            <a:avLst/>
          </a:prstGeom>
          <a:solidFill>
            <a:srgbClr val="B4532A"/>
          </a:solidFill>
          <a:ln/>
        </p:spPr>
      </p:sp>
      <p:sp>
        <p:nvSpPr>
          <p:cNvPr id="14" name="Text 11"/>
          <p:cNvSpPr txBox="1"/>
          <p:nvPr/>
        </p:nvSpPr>
        <p:spPr>
          <a:xfrm>
            <a:off x="1298448" y="3675888"/>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Day-wise itinerary from dates, interests and pace</a:t>
            </a:r>
            <a:endParaRPr lang="en-US" sz="1400" dirty="0"/>
          </a:p>
        </p:txBody>
      </p:sp>
      <p:sp>
        <p:nvSpPr>
          <p:cNvPr id="15" name="Shape 12"/>
          <p:cNvSpPr/>
          <p:nvPr/>
        </p:nvSpPr>
        <p:spPr>
          <a:xfrm>
            <a:off x="1019556" y="4256532"/>
            <a:ext cx="100584" cy="100584"/>
          </a:xfrm>
          <a:prstGeom prst="ellipse">
            <a:avLst/>
          </a:prstGeom>
          <a:solidFill>
            <a:srgbClr val="B4532A"/>
          </a:solidFill>
          <a:ln/>
        </p:spPr>
      </p:sp>
      <p:sp>
        <p:nvSpPr>
          <p:cNvPr id="16" name="Text 13"/>
          <p:cNvSpPr txBox="1"/>
          <p:nvPr/>
        </p:nvSpPr>
        <p:spPr>
          <a:xfrm>
            <a:off x="1298448" y="4187952"/>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Budget estimate in three tiers: economy, standard, luxury</a:t>
            </a:r>
            <a:endParaRPr lang="en-US" sz="1400" dirty="0"/>
          </a:p>
        </p:txBody>
      </p:sp>
      <p:sp>
        <p:nvSpPr>
          <p:cNvPr id="17" name="Shape 14"/>
          <p:cNvSpPr/>
          <p:nvPr/>
        </p:nvSpPr>
        <p:spPr>
          <a:xfrm>
            <a:off x="1019556" y="4768596"/>
            <a:ext cx="100584" cy="100584"/>
          </a:xfrm>
          <a:prstGeom prst="ellipse">
            <a:avLst/>
          </a:prstGeom>
          <a:solidFill>
            <a:srgbClr val="B4532A"/>
          </a:solidFill>
          <a:ln/>
        </p:spPr>
      </p:sp>
      <p:sp>
        <p:nvSpPr>
          <p:cNvPr id="18" name="Text 15"/>
          <p:cNvSpPr txBox="1"/>
          <p:nvPr/>
        </p:nvSpPr>
        <p:spPr>
          <a:xfrm>
            <a:off x="1298448" y="4700016"/>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Register, login, and My Trips: save, notes, status, delete</a:t>
            </a:r>
            <a:endParaRPr lang="en-US" sz="1400" dirty="0"/>
          </a:p>
        </p:txBody>
      </p:sp>
      <p:sp>
        <p:nvSpPr>
          <p:cNvPr id="19" name="Shape 16"/>
          <p:cNvSpPr/>
          <p:nvPr/>
        </p:nvSpPr>
        <p:spPr>
          <a:xfrm>
            <a:off x="1019556" y="5280660"/>
            <a:ext cx="100584" cy="100584"/>
          </a:xfrm>
          <a:prstGeom prst="ellipse">
            <a:avLst/>
          </a:prstGeom>
          <a:solidFill>
            <a:srgbClr val="B4532A"/>
          </a:solidFill>
          <a:ln/>
        </p:spPr>
      </p:sp>
      <p:sp>
        <p:nvSpPr>
          <p:cNvPr id="20" name="Text 17"/>
          <p:cNvSpPr txBox="1"/>
          <p:nvPr/>
        </p:nvSpPr>
        <p:spPr>
          <a:xfrm>
            <a:off x="1298448" y="5212080"/>
            <a:ext cx="5559552" cy="512064"/>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Discover nearby places through the Places provider</a:t>
            </a:r>
            <a:endParaRPr lang="en-US" sz="1400" dirty="0"/>
          </a:p>
        </p:txBody>
      </p:sp>
      <p:sp>
        <p:nvSpPr>
          <p:cNvPr id="21" name="Shape 18"/>
          <p:cNvSpPr/>
          <p:nvPr/>
        </p:nvSpPr>
        <p:spPr>
          <a:xfrm>
            <a:off x="7452360" y="1783080"/>
            <a:ext cx="4053535" cy="4160520"/>
          </a:xfrm>
          <a:prstGeom prst="roundRect">
            <a:avLst>
              <a:gd name="adj" fmla="val 1353"/>
            </a:avLst>
          </a:prstGeom>
          <a:solidFill>
            <a:srgbClr val="ECE4D4"/>
          </a:solidFill>
          <a:ln/>
        </p:spPr>
      </p:sp>
      <p:sp>
        <p:nvSpPr>
          <p:cNvPr id="22" name="Text 19"/>
          <p:cNvSpPr txBox="1"/>
          <p:nvPr/>
        </p:nvSpPr>
        <p:spPr>
          <a:xfrm>
            <a:off x="7772400" y="2011680"/>
            <a:ext cx="2743200" cy="411480"/>
          </a:xfrm>
          <a:prstGeom prst="rect">
            <a:avLst/>
          </a:prstGeom>
          <a:noFill/>
          <a:ln/>
        </p:spPr>
        <p:txBody>
          <a:bodyPr wrap="square" lIns="0" tIns="0" rIns="0" bIns="0" rtlCol="0" anchor="t"/>
          <a:lstStyle/>
          <a:p>
            <a:pPr indent="0" marL="0">
              <a:buNone/>
            </a:pPr>
            <a:r>
              <a:rPr lang="en-US" sz="2200" dirty="0">
                <a:solidFill>
                  <a:srgbClr val="3D4852"/>
                </a:solidFill>
                <a:latin typeface="Georgia" pitchFamily="34" charset="0"/>
                <a:ea typeface="Georgia" pitchFamily="34" charset="-122"/>
                <a:cs typeface="Georgia" pitchFamily="34" charset="-120"/>
              </a:rPr>
              <a:t>Out of scope</a:t>
            </a:r>
            <a:endParaRPr lang="en-US" sz="2200" dirty="0"/>
          </a:p>
        </p:txBody>
      </p:sp>
      <p:sp>
        <p:nvSpPr>
          <p:cNvPr id="23" name="Shape 20"/>
          <p:cNvSpPr/>
          <p:nvPr/>
        </p:nvSpPr>
        <p:spPr>
          <a:xfrm>
            <a:off x="7786116" y="2720340"/>
            <a:ext cx="100584" cy="100584"/>
          </a:xfrm>
          <a:prstGeom prst="ellipse">
            <a:avLst/>
          </a:prstGeom>
          <a:solidFill>
            <a:srgbClr val="6A6F73"/>
          </a:solidFill>
          <a:ln/>
        </p:spPr>
      </p:sp>
      <p:sp>
        <p:nvSpPr>
          <p:cNvPr id="24" name="Text 21"/>
          <p:cNvSpPr txBox="1"/>
          <p:nvPr/>
        </p:nvSpPr>
        <p:spPr>
          <a:xfrm>
            <a:off x="8065008" y="2651760"/>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Online payments</a:t>
            </a:r>
            <a:endParaRPr lang="en-US" sz="1400" dirty="0"/>
          </a:p>
        </p:txBody>
      </p:sp>
      <p:sp>
        <p:nvSpPr>
          <p:cNvPr id="25" name="Shape 22"/>
          <p:cNvSpPr/>
          <p:nvPr/>
        </p:nvSpPr>
        <p:spPr>
          <a:xfrm>
            <a:off x="7786116" y="3232404"/>
            <a:ext cx="100584" cy="100584"/>
          </a:xfrm>
          <a:prstGeom prst="ellipse">
            <a:avLst/>
          </a:prstGeom>
          <a:solidFill>
            <a:srgbClr val="6A6F73"/>
          </a:solidFill>
          <a:ln/>
        </p:spPr>
      </p:sp>
      <p:sp>
        <p:nvSpPr>
          <p:cNvPr id="26" name="Text 23"/>
          <p:cNvSpPr txBox="1"/>
          <p:nvPr/>
        </p:nvSpPr>
        <p:spPr>
          <a:xfrm>
            <a:off x="8065008" y="3163824"/>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Hotel, ticket or cab booking</a:t>
            </a:r>
            <a:endParaRPr lang="en-US" sz="1400" dirty="0"/>
          </a:p>
        </p:txBody>
      </p:sp>
      <p:sp>
        <p:nvSpPr>
          <p:cNvPr id="27" name="Shape 24"/>
          <p:cNvSpPr/>
          <p:nvPr/>
        </p:nvSpPr>
        <p:spPr>
          <a:xfrm>
            <a:off x="7786116" y="3744468"/>
            <a:ext cx="100584" cy="100584"/>
          </a:xfrm>
          <a:prstGeom prst="ellipse">
            <a:avLst/>
          </a:prstGeom>
          <a:solidFill>
            <a:srgbClr val="6A6F73"/>
          </a:solidFill>
          <a:ln/>
        </p:spPr>
      </p:sp>
      <p:sp>
        <p:nvSpPr>
          <p:cNvPr id="28" name="Text 25"/>
          <p:cNvSpPr txBox="1"/>
          <p:nvPr/>
        </p:nvSpPr>
        <p:spPr>
          <a:xfrm>
            <a:off x="8065008" y="3675888"/>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Chatbot or AI assistant</a:t>
            </a:r>
            <a:endParaRPr lang="en-US" sz="1400" dirty="0"/>
          </a:p>
        </p:txBody>
      </p:sp>
      <p:sp>
        <p:nvSpPr>
          <p:cNvPr id="29" name="Shape 26"/>
          <p:cNvSpPr/>
          <p:nvPr/>
        </p:nvSpPr>
        <p:spPr>
          <a:xfrm>
            <a:off x="7786116" y="4256532"/>
            <a:ext cx="100584" cy="100584"/>
          </a:xfrm>
          <a:prstGeom prst="ellipse">
            <a:avLst/>
          </a:prstGeom>
          <a:solidFill>
            <a:srgbClr val="6A6F73"/>
          </a:solidFill>
          <a:ln/>
        </p:spPr>
      </p:sp>
      <p:sp>
        <p:nvSpPr>
          <p:cNvPr id="30" name="Text 27"/>
          <p:cNvSpPr txBox="1"/>
          <p:nvPr/>
        </p:nvSpPr>
        <p:spPr>
          <a:xfrm>
            <a:off x="8065008" y="4187952"/>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Native mobile application</a:t>
            </a:r>
            <a:endParaRPr lang="en-US" sz="1400" dirty="0"/>
          </a:p>
        </p:txBody>
      </p:sp>
      <p:sp>
        <p:nvSpPr>
          <p:cNvPr id="31" name="Shape 28"/>
          <p:cNvSpPr/>
          <p:nvPr/>
        </p:nvSpPr>
        <p:spPr>
          <a:xfrm>
            <a:off x="7786116" y="4768596"/>
            <a:ext cx="100584" cy="100584"/>
          </a:xfrm>
          <a:prstGeom prst="ellipse">
            <a:avLst/>
          </a:prstGeom>
          <a:solidFill>
            <a:srgbClr val="6A6F73"/>
          </a:solidFill>
          <a:ln/>
        </p:spPr>
      </p:sp>
      <p:sp>
        <p:nvSpPr>
          <p:cNvPr id="32" name="Text 29"/>
          <p:cNvSpPr txBox="1"/>
          <p:nvPr/>
        </p:nvSpPr>
        <p:spPr>
          <a:xfrm>
            <a:off x="8065008" y="4700016"/>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Live prices and availability</a:t>
            </a:r>
            <a:endParaRPr lang="en-US" sz="1400" dirty="0"/>
          </a:p>
        </p:txBody>
      </p:sp>
      <p:sp>
        <p:nvSpPr>
          <p:cNvPr id="33" name="Shape 30"/>
          <p:cNvSpPr/>
          <p:nvPr/>
        </p:nvSpPr>
        <p:spPr>
          <a:xfrm>
            <a:off x="7786116" y="5280660"/>
            <a:ext cx="100584" cy="100584"/>
          </a:xfrm>
          <a:prstGeom prst="ellipse">
            <a:avLst/>
          </a:prstGeom>
          <a:solidFill>
            <a:srgbClr val="6A6F73"/>
          </a:solidFill>
          <a:ln/>
        </p:spPr>
      </p:sp>
      <p:sp>
        <p:nvSpPr>
          <p:cNvPr id="34" name="Text 31"/>
          <p:cNvSpPr txBox="1"/>
          <p:nvPr/>
        </p:nvSpPr>
        <p:spPr>
          <a:xfrm>
            <a:off x="8065008" y="5212080"/>
            <a:ext cx="3120847" cy="512064"/>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Admin screens (role field is reserved)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2 · PROPOSED SYSTEM</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Core Components</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08</a:t>
            </a:r>
            <a:endParaRPr lang="en-US" sz="1100" dirty="0"/>
          </a:p>
        </p:txBody>
      </p:sp>
      <p:sp>
        <p:nvSpPr>
          <p:cNvPr id="7" name="Shape 4"/>
          <p:cNvSpPr/>
          <p:nvPr/>
        </p:nvSpPr>
        <p:spPr>
          <a:xfrm>
            <a:off x="685800" y="1783080"/>
            <a:ext cx="3119018" cy="1371600"/>
          </a:xfrm>
          <a:prstGeom prst="roundRect">
            <a:avLst>
              <a:gd name="adj" fmla="val 4000"/>
            </a:avLst>
          </a:prstGeom>
          <a:solidFill>
            <a:srgbClr val="FFFFFF"/>
          </a:solidFill>
          <a:ln w="9525">
            <a:solidFill>
              <a:srgbClr val="D8CDB9"/>
            </a:solidFill>
            <a:prstDash val="solid"/>
          </a:ln>
        </p:spPr>
      </p:sp>
      <p:sp>
        <p:nvSpPr>
          <p:cNvPr id="8" name="Text 5"/>
          <p:cNvSpPr txBox="1"/>
          <p:nvPr/>
        </p:nvSpPr>
        <p:spPr>
          <a:xfrm>
            <a:off x="941832" y="1947672"/>
            <a:ext cx="2606954" cy="365760"/>
          </a:xfrm>
          <a:prstGeom prst="rect">
            <a:avLst/>
          </a:prstGeom>
          <a:noFill/>
          <a:ln/>
        </p:spPr>
        <p:txBody>
          <a:bodyPr wrap="square" lIns="0" tIns="0" rIns="0" bIns="0" rtlCol="0" anchor="t"/>
          <a:lstStyle/>
          <a:p>
            <a:pPr indent="0" marL="0">
              <a:buNone/>
            </a:pPr>
            <a:r>
              <a:rPr lang="en-US" sz="1900" dirty="0">
                <a:solidFill>
                  <a:srgbClr val="1F2A33"/>
                </a:solidFill>
                <a:latin typeface="Georgia" pitchFamily="34" charset="0"/>
                <a:ea typeface="Georgia" pitchFamily="34" charset="-122"/>
                <a:cs typeface="Georgia" pitchFamily="34" charset="-120"/>
              </a:rPr>
              <a:t>React client</a:t>
            </a:r>
            <a:endParaRPr lang="en-US" sz="1900" dirty="0"/>
          </a:p>
        </p:txBody>
      </p:sp>
      <p:sp>
        <p:nvSpPr>
          <p:cNvPr id="9" name="Text 6"/>
          <p:cNvSpPr txBox="1"/>
          <p:nvPr/>
        </p:nvSpPr>
        <p:spPr>
          <a:xfrm>
            <a:off x="941832" y="2350008"/>
            <a:ext cx="260695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VITE · REACT ROUTER</a:t>
            </a:r>
            <a:endParaRPr lang="en-US" sz="950" dirty="0"/>
          </a:p>
        </p:txBody>
      </p:sp>
      <p:sp>
        <p:nvSpPr>
          <p:cNvPr id="10" name="Text 7"/>
          <p:cNvSpPr txBox="1"/>
          <p:nvPr/>
        </p:nvSpPr>
        <p:spPr>
          <a:xfrm>
            <a:off x="941832" y="2651760"/>
            <a:ext cx="2606954" cy="36576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Pages, AuthContext, apiClient</a:t>
            </a:r>
            <a:endParaRPr lang="en-US" sz="1250" dirty="0"/>
          </a:p>
        </p:txBody>
      </p:sp>
      <p:sp>
        <p:nvSpPr>
          <p:cNvPr id="11" name="Shape 8"/>
          <p:cNvSpPr/>
          <p:nvPr/>
        </p:nvSpPr>
        <p:spPr>
          <a:xfrm>
            <a:off x="3914546" y="2468880"/>
            <a:ext cx="512064" cy="0"/>
          </a:xfrm>
          <a:prstGeom prst="line">
            <a:avLst/>
          </a:prstGeom>
          <a:noFill/>
          <a:ln w="15875">
            <a:solidFill>
              <a:srgbClr val="B4532A"/>
            </a:solidFill>
            <a:prstDash val="solid"/>
            <a:tailEnd type="triangle"/>
          </a:ln>
        </p:spPr>
      </p:sp>
      <p:sp>
        <p:nvSpPr>
          <p:cNvPr id="12" name="Shape 9"/>
          <p:cNvSpPr/>
          <p:nvPr/>
        </p:nvSpPr>
        <p:spPr>
          <a:xfrm>
            <a:off x="4536338" y="1783080"/>
            <a:ext cx="3119018" cy="1371600"/>
          </a:xfrm>
          <a:prstGeom prst="roundRect">
            <a:avLst>
              <a:gd name="adj" fmla="val 4000"/>
            </a:avLst>
          </a:prstGeom>
          <a:solidFill>
            <a:srgbClr val="1F2A33"/>
          </a:solidFill>
          <a:ln/>
        </p:spPr>
      </p:sp>
      <p:sp>
        <p:nvSpPr>
          <p:cNvPr id="13" name="Text 10"/>
          <p:cNvSpPr txBox="1"/>
          <p:nvPr/>
        </p:nvSpPr>
        <p:spPr>
          <a:xfrm>
            <a:off x="4792370" y="1947672"/>
            <a:ext cx="2606954" cy="365760"/>
          </a:xfrm>
          <a:prstGeom prst="rect">
            <a:avLst/>
          </a:prstGeom>
          <a:noFill/>
          <a:ln/>
        </p:spPr>
        <p:txBody>
          <a:bodyPr wrap="square" lIns="0" tIns="0" rIns="0" bIns="0" rtlCol="0" anchor="t"/>
          <a:lstStyle/>
          <a:p>
            <a:pPr indent="0" marL="0">
              <a:buNone/>
            </a:pPr>
            <a:r>
              <a:rPr lang="en-US" sz="1900" dirty="0">
                <a:solidFill>
                  <a:srgbClr val="F6F1E7"/>
                </a:solidFill>
                <a:latin typeface="Georgia" pitchFamily="34" charset="0"/>
                <a:ea typeface="Georgia" pitchFamily="34" charset="-122"/>
                <a:cs typeface="Georgia" pitchFamily="34" charset="-120"/>
              </a:rPr>
              <a:t>Express REST API</a:t>
            </a:r>
            <a:endParaRPr lang="en-US" sz="1900" dirty="0"/>
          </a:p>
        </p:txBody>
      </p:sp>
      <p:sp>
        <p:nvSpPr>
          <p:cNvPr id="14" name="Text 11"/>
          <p:cNvSpPr txBox="1"/>
          <p:nvPr/>
        </p:nvSpPr>
        <p:spPr>
          <a:xfrm>
            <a:off x="4792370" y="2350008"/>
            <a:ext cx="2606954" cy="228600"/>
          </a:xfrm>
          <a:prstGeom prst="rect">
            <a:avLst/>
          </a:prstGeom>
          <a:noFill/>
          <a:ln/>
        </p:spPr>
        <p:txBody>
          <a:bodyPr wrap="square" lIns="0" tIns="0" rIns="0" bIns="0" rtlCol="0" anchor="t"/>
          <a:lstStyle/>
          <a:p>
            <a:pPr indent="0" marL="0">
              <a:buNone/>
            </a:pPr>
            <a:r>
              <a:rPr lang="en-US" sz="950" b="1" spc="200" kern="0" dirty="0">
                <a:solidFill>
                  <a:srgbClr val="E39568"/>
                </a:solidFill>
                <a:latin typeface="Arial" pitchFamily="34" charset="0"/>
                <a:ea typeface="Arial" pitchFamily="34" charset="-122"/>
                <a:cs typeface="Arial" pitchFamily="34" charset="-120"/>
              </a:rPr>
              <a:t>/API/V1 · JSON · JWT</a:t>
            </a:r>
            <a:endParaRPr lang="en-US" sz="950" dirty="0"/>
          </a:p>
        </p:txBody>
      </p:sp>
      <p:sp>
        <p:nvSpPr>
          <p:cNvPr id="15" name="Text 12"/>
          <p:cNvSpPr txBox="1"/>
          <p:nvPr/>
        </p:nvSpPr>
        <p:spPr>
          <a:xfrm>
            <a:off x="4792370" y="2651760"/>
            <a:ext cx="2606954" cy="365760"/>
          </a:xfrm>
          <a:prstGeom prst="rect">
            <a:avLst/>
          </a:prstGeom>
          <a:noFill/>
          <a:ln/>
        </p:spPr>
        <p:txBody>
          <a:bodyPr wrap="square" lIns="0" tIns="0" rIns="0" bIns="0" rtlCol="0" anchor="t"/>
          <a:lstStyle/>
          <a:p>
            <a:pPr indent="0" marL="0">
              <a:buNone/>
            </a:pPr>
            <a:r>
              <a:rPr lang="en-US" sz="1250" dirty="0">
                <a:solidFill>
                  <a:srgbClr val="AEB6BC"/>
                </a:solidFill>
                <a:latin typeface="Arial" pitchFamily="34" charset="0"/>
                <a:ea typeface="Arial" pitchFamily="34" charset="-122"/>
                <a:cs typeface="Arial" pitchFamily="34" charset="-120"/>
              </a:rPr>
              <a:t>routes → controllers → services</a:t>
            </a:r>
            <a:endParaRPr lang="en-US" sz="1250" dirty="0"/>
          </a:p>
        </p:txBody>
      </p:sp>
      <p:sp>
        <p:nvSpPr>
          <p:cNvPr id="16" name="Shape 13"/>
          <p:cNvSpPr/>
          <p:nvPr/>
        </p:nvSpPr>
        <p:spPr>
          <a:xfrm>
            <a:off x="7765085" y="2468880"/>
            <a:ext cx="512064" cy="0"/>
          </a:xfrm>
          <a:prstGeom prst="line">
            <a:avLst/>
          </a:prstGeom>
          <a:noFill/>
          <a:ln w="15875">
            <a:solidFill>
              <a:srgbClr val="B4532A"/>
            </a:solidFill>
            <a:prstDash val="solid"/>
            <a:tailEnd type="triangle"/>
          </a:ln>
        </p:spPr>
      </p:sp>
      <p:sp>
        <p:nvSpPr>
          <p:cNvPr id="17" name="Shape 14"/>
          <p:cNvSpPr/>
          <p:nvPr/>
        </p:nvSpPr>
        <p:spPr>
          <a:xfrm>
            <a:off x="8386877" y="1783080"/>
            <a:ext cx="3119018" cy="1371600"/>
          </a:xfrm>
          <a:prstGeom prst="roundRect">
            <a:avLst>
              <a:gd name="adj" fmla="val 4000"/>
            </a:avLst>
          </a:prstGeom>
          <a:solidFill>
            <a:srgbClr val="FFFFFF"/>
          </a:solidFill>
          <a:ln w="9525">
            <a:solidFill>
              <a:srgbClr val="D8CDB9"/>
            </a:solidFill>
            <a:prstDash val="solid"/>
          </a:ln>
        </p:spPr>
      </p:sp>
      <p:sp>
        <p:nvSpPr>
          <p:cNvPr id="18" name="Text 15"/>
          <p:cNvSpPr txBox="1"/>
          <p:nvPr/>
        </p:nvSpPr>
        <p:spPr>
          <a:xfrm>
            <a:off x="8642909" y="1947672"/>
            <a:ext cx="2606954" cy="365760"/>
          </a:xfrm>
          <a:prstGeom prst="rect">
            <a:avLst/>
          </a:prstGeom>
          <a:noFill/>
          <a:ln/>
        </p:spPr>
        <p:txBody>
          <a:bodyPr wrap="square" lIns="0" tIns="0" rIns="0" bIns="0" rtlCol="0" anchor="t"/>
          <a:lstStyle/>
          <a:p>
            <a:pPr indent="0" marL="0">
              <a:buNone/>
            </a:pPr>
            <a:r>
              <a:rPr lang="en-US" sz="1900" dirty="0">
                <a:solidFill>
                  <a:srgbClr val="1F2A33"/>
                </a:solidFill>
                <a:latin typeface="Georgia" pitchFamily="34" charset="0"/>
                <a:ea typeface="Georgia" pitchFamily="34" charset="-122"/>
                <a:cs typeface="Georgia" pitchFamily="34" charset="-120"/>
              </a:rPr>
              <a:t>MongoDB</a:t>
            </a:r>
            <a:endParaRPr lang="en-US" sz="1900" dirty="0"/>
          </a:p>
        </p:txBody>
      </p:sp>
      <p:sp>
        <p:nvSpPr>
          <p:cNvPr id="19" name="Text 16"/>
          <p:cNvSpPr txBox="1"/>
          <p:nvPr/>
        </p:nvSpPr>
        <p:spPr>
          <a:xfrm>
            <a:off x="8642909" y="2350008"/>
            <a:ext cx="260695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MONGOOSE MODELS</a:t>
            </a:r>
            <a:endParaRPr lang="en-US" sz="950" dirty="0"/>
          </a:p>
        </p:txBody>
      </p:sp>
      <p:sp>
        <p:nvSpPr>
          <p:cNvPr id="20" name="Text 17"/>
          <p:cNvSpPr txBox="1"/>
          <p:nvPr/>
        </p:nvSpPr>
        <p:spPr>
          <a:xfrm>
            <a:off x="8642909" y="2651760"/>
            <a:ext cx="2606954" cy="36576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users · destinations · activities · trips</a:t>
            </a:r>
            <a:endParaRPr lang="en-US" sz="1250" dirty="0"/>
          </a:p>
        </p:txBody>
      </p:sp>
      <p:sp>
        <p:nvSpPr>
          <p:cNvPr id="21" name="Text 18"/>
          <p:cNvSpPr txBox="1"/>
          <p:nvPr/>
        </p:nvSpPr>
        <p:spPr>
          <a:xfrm>
            <a:off x="685800" y="3566160"/>
            <a:ext cx="10820095" cy="228600"/>
          </a:xfrm>
          <a:prstGeom prst="rect">
            <a:avLst/>
          </a:prstGeom>
          <a:noFill/>
          <a:ln/>
        </p:spPr>
        <p:txBody>
          <a:bodyPr wrap="square" lIns="0" tIns="0" rIns="0" bIns="0" rtlCol="0" anchor="t"/>
          <a:lstStyle/>
          <a:p>
            <a:pPr indent="0" marL="0">
              <a:buNone/>
            </a:pPr>
            <a:r>
              <a:rPr lang="en-US" sz="1000" b="1" spc="300" kern="0" dirty="0">
                <a:solidFill>
                  <a:srgbClr val="6A6F73"/>
                </a:solidFill>
                <a:latin typeface="Arial" pitchFamily="34" charset="0"/>
                <a:ea typeface="Arial" pitchFamily="34" charset="-122"/>
                <a:cs typeface="Arial" pitchFamily="34" charset="-120"/>
              </a:rPr>
              <a:t>SERVICES INSIDE THE API</a:t>
            </a:r>
            <a:endParaRPr lang="en-US" sz="1000" dirty="0"/>
          </a:p>
        </p:txBody>
      </p:sp>
      <p:sp>
        <p:nvSpPr>
          <p:cNvPr id="22" name="Shape 19"/>
          <p:cNvSpPr/>
          <p:nvPr/>
        </p:nvSpPr>
        <p:spPr>
          <a:xfrm>
            <a:off x="685800" y="3931920"/>
            <a:ext cx="1650949" cy="1965960"/>
          </a:xfrm>
          <a:prstGeom prst="roundRect">
            <a:avLst>
              <a:gd name="adj" fmla="val 3323"/>
            </a:avLst>
          </a:prstGeom>
          <a:solidFill>
            <a:srgbClr val="FFFFFF"/>
          </a:solidFill>
          <a:ln w="9525">
            <a:solidFill>
              <a:srgbClr val="D8CDB9"/>
            </a:solidFill>
            <a:prstDash val="solid"/>
          </a:ln>
        </p:spPr>
      </p:sp>
      <p:sp>
        <p:nvSpPr>
          <p:cNvPr id="23" name="Text 20"/>
          <p:cNvSpPr txBox="1"/>
          <p:nvPr/>
        </p:nvSpPr>
        <p:spPr>
          <a:xfrm>
            <a:off x="868680"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Auth</a:t>
            </a:r>
            <a:endParaRPr lang="en-US" sz="1450" dirty="0"/>
          </a:p>
        </p:txBody>
      </p:sp>
      <p:sp>
        <p:nvSpPr>
          <p:cNvPr id="24" name="Text 21"/>
          <p:cNvSpPr txBox="1"/>
          <p:nvPr/>
        </p:nvSpPr>
        <p:spPr>
          <a:xfrm>
            <a:off x="868680"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Register, login, JWT issue and verify, bcrypt hashing.</a:t>
            </a:r>
            <a:endParaRPr lang="en-US" sz="1250" dirty="0"/>
          </a:p>
        </p:txBody>
      </p:sp>
      <p:sp>
        <p:nvSpPr>
          <p:cNvPr id="25" name="Shape 22"/>
          <p:cNvSpPr/>
          <p:nvPr/>
        </p:nvSpPr>
        <p:spPr>
          <a:xfrm>
            <a:off x="2519629" y="3931920"/>
            <a:ext cx="1650949" cy="1965960"/>
          </a:xfrm>
          <a:prstGeom prst="roundRect">
            <a:avLst>
              <a:gd name="adj" fmla="val 3323"/>
            </a:avLst>
          </a:prstGeom>
          <a:solidFill>
            <a:srgbClr val="FFFFFF"/>
          </a:solidFill>
          <a:ln w="9525">
            <a:solidFill>
              <a:srgbClr val="D8CDB9"/>
            </a:solidFill>
            <a:prstDash val="solid"/>
          </a:ln>
        </p:spPr>
      </p:sp>
      <p:sp>
        <p:nvSpPr>
          <p:cNvPr id="26" name="Text 23"/>
          <p:cNvSpPr txBox="1"/>
          <p:nvPr/>
        </p:nvSpPr>
        <p:spPr>
          <a:xfrm>
            <a:off x="2702509"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Destination</a:t>
            </a:r>
            <a:endParaRPr lang="en-US" sz="1450" dirty="0"/>
          </a:p>
        </p:txBody>
      </p:sp>
      <p:sp>
        <p:nvSpPr>
          <p:cNvPr id="27" name="Text 24"/>
          <p:cNvSpPr txBox="1"/>
          <p:nvPr/>
        </p:nvSpPr>
        <p:spPr>
          <a:xfrm>
            <a:off x="2702509"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Catalogue search, category filter, details with activities.</a:t>
            </a:r>
            <a:endParaRPr lang="en-US" sz="1250" dirty="0"/>
          </a:p>
        </p:txBody>
      </p:sp>
      <p:sp>
        <p:nvSpPr>
          <p:cNvPr id="28" name="Shape 25"/>
          <p:cNvSpPr/>
          <p:nvPr/>
        </p:nvSpPr>
        <p:spPr>
          <a:xfrm>
            <a:off x="4353458" y="3931920"/>
            <a:ext cx="1650949" cy="1965960"/>
          </a:xfrm>
          <a:prstGeom prst="roundRect">
            <a:avLst>
              <a:gd name="adj" fmla="val 3323"/>
            </a:avLst>
          </a:prstGeom>
          <a:solidFill>
            <a:srgbClr val="FFFFFF"/>
          </a:solidFill>
          <a:ln w="9525">
            <a:solidFill>
              <a:srgbClr val="D8CDB9"/>
            </a:solidFill>
            <a:prstDash val="solid"/>
          </a:ln>
        </p:spPr>
      </p:sp>
      <p:sp>
        <p:nvSpPr>
          <p:cNvPr id="29" name="Text 26"/>
          <p:cNvSpPr txBox="1"/>
          <p:nvPr/>
        </p:nvSpPr>
        <p:spPr>
          <a:xfrm>
            <a:off x="4536338"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Itinerary</a:t>
            </a:r>
            <a:endParaRPr lang="en-US" sz="1450" dirty="0"/>
          </a:p>
        </p:txBody>
      </p:sp>
      <p:sp>
        <p:nvSpPr>
          <p:cNvPr id="30" name="Text 27"/>
          <p:cNvSpPr txBox="1"/>
          <p:nvPr/>
        </p:nvSpPr>
        <p:spPr>
          <a:xfrm>
            <a:off x="4536338"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Scores activities, builds days by nearest stop, schedules times.</a:t>
            </a:r>
            <a:endParaRPr lang="en-US" sz="1250" dirty="0"/>
          </a:p>
        </p:txBody>
      </p:sp>
      <p:sp>
        <p:nvSpPr>
          <p:cNvPr id="31" name="Shape 28"/>
          <p:cNvSpPr/>
          <p:nvPr/>
        </p:nvSpPr>
        <p:spPr>
          <a:xfrm>
            <a:off x="6187288" y="3931920"/>
            <a:ext cx="1650949" cy="1965960"/>
          </a:xfrm>
          <a:prstGeom prst="roundRect">
            <a:avLst>
              <a:gd name="adj" fmla="val 3323"/>
            </a:avLst>
          </a:prstGeom>
          <a:solidFill>
            <a:srgbClr val="FFFFFF"/>
          </a:solidFill>
          <a:ln w="9525">
            <a:solidFill>
              <a:srgbClr val="D8CDB9"/>
            </a:solidFill>
            <a:prstDash val="solid"/>
          </a:ln>
        </p:spPr>
      </p:sp>
      <p:sp>
        <p:nvSpPr>
          <p:cNvPr id="32" name="Text 29"/>
          <p:cNvSpPr txBox="1"/>
          <p:nvPr/>
        </p:nvSpPr>
        <p:spPr>
          <a:xfrm>
            <a:off x="6370168"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Budget</a:t>
            </a:r>
            <a:endParaRPr lang="en-US" sz="1450" dirty="0"/>
          </a:p>
        </p:txBody>
      </p:sp>
      <p:sp>
        <p:nvSpPr>
          <p:cNvPr id="33" name="Text 30"/>
          <p:cNvSpPr txBox="1"/>
          <p:nvPr/>
        </p:nvSpPr>
        <p:spPr>
          <a:xfrm>
            <a:off x="6370168"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Tier-based estimate: stay, food, transport, activities.</a:t>
            </a:r>
            <a:endParaRPr lang="en-US" sz="1250" dirty="0"/>
          </a:p>
        </p:txBody>
      </p:sp>
      <p:sp>
        <p:nvSpPr>
          <p:cNvPr id="34" name="Shape 31"/>
          <p:cNvSpPr/>
          <p:nvPr/>
        </p:nvSpPr>
        <p:spPr>
          <a:xfrm>
            <a:off x="8021117" y="3931920"/>
            <a:ext cx="1650949" cy="1965960"/>
          </a:xfrm>
          <a:prstGeom prst="roundRect">
            <a:avLst>
              <a:gd name="adj" fmla="val 3323"/>
            </a:avLst>
          </a:prstGeom>
          <a:solidFill>
            <a:srgbClr val="FFFFFF"/>
          </a:solidFill>
          <a:ln w="9525">
            <a:solidFill>
              <a:srgbClr val="D8CDB9"/>
            </a:solidFill>
            <a:prstDash val="solid"/>
          </a:ln>
        </p:spPr>
      </p:sp>
      <p:sp>
        <p:nvSpPr>
          <p:cNvPr id="35" name="Text 32"/>
          <p:cNvSpPr txBox="1"/>
          <p:nvPr/>
        </p:nvSpPr>
        <p:spPr>
          <a:xfrm>
            <a:off x="8203997"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Trip</a:t>
            </a:r>
            <a:endParaRPr lang="en-US" sz="1450" dirty="0"/>
          </a:p>
        </p:txBody>
      </p:sp>
      <p:sp>
        <p:nvSpPr>
          <p:cNvPr id="36" name="Text 33"/>
          <p:cNvSpPr txBox="1"/>
          <p:nvPr/>
        </p:nvSpPr>
        <p:spPr>
          <a:xfrm>
            <a:off x="8203997"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Saves plans, enforces ownership, updates notes and status.</a:t>
            </a:r>
            <a:endParaRPr lang="en-US" sz="1250" dirty="0"/>
          </a:p>
        </p:txBody>
      </p:sp>
      <p:sp>
        <p:nvSpPr>
          <p:cNvPr id="37" name="Shape 34"/>
          <p:cNvSpPr/>
          <p:nvPr/>
        </p:nvSpPr>
        <p:spPr>
          <a:xfrm>
            <a:off x="9854946" y="3931920"/>
            <a:ext cx="1650949" cy="1965960"/>
          </a:xfrm>
          <a:prstGeom prst="roundRect">
            <a:avLst>
              <a:gd name="adj" fmla="val 3323"/>
            </a:avLst>
          </a:prstGeom>
          <a:solidFill>
            <a:srgbClr val="FFFFFF"/>
          </a:solidFill>
          <a:ln w="9525">
            <a:solidFill>
              <a:srgbClr val="D8CDB9"/>
            </a:solidFill>
            <a:prstDash val="solid"/>
          </a:ln>
        </p:spPr>
      </p:sp>
      <p:sp>
        <p:nvSpPr>
          <p:cNvPr id="38" name="Text 35"/>
          <p:cNvSpPr txBox="1"/>
          <p:nvPr/>
        </p:nvSpPr>
        <p:spPr>
          <a:xfrm>
            <a:off x="10037826" y="4114800"/>
            <a:ext cx="1285189" cy="320040"/>
          </a:xfrm>
          <a:prstGeom prst="rect">
            <a:avLst/>
          </a:prstGeom>
          <a:noFill/>
          <a:ln/>
        </p:spPr>
        <p:txBody>
          <a:bodyPr wrap="square" lIns="0" tIns="0" rIns="0" bIns="0" rtlCol="0" anchor="t"/>
          <a:lstStyle/>
          <a:p>
            <a:pPr indent="0" marL="0">
              <a:buNone/>
            </a:pPr>
            <a:r>
              <a:rPr lang="en-US" sz="1450" b="1" dirty="0">
                <a:solidFill>
                  <a:srgbClr val="1F2A33"/>
                </a:solidFill>
                <a:latin typeface="Arial" pitchFamily="34" charset="0"/>
                <a:ea typeface="Arial" pitchFamily="34" charset="-122"/>
                <a:cs typeface="Arial" pitchFamily="34" charset="-120"/>
              </a:rPr>
              <a:t>Providers</a:t>
            </a:r>
            <a:endParaRPr lang="en-US" sz="1450" dirty="0"/>
          </a:p>
        </p:txBody>
      </p:sp>
      <p:sp>
        <p:nvSpPr>
          <p:cNvPr id="39" name="Text 36"/>
          <p:cNvSpPr txBox="1"/>
          <p:nvPr/>
        </p:nvSpPr>
        <p:spPr>
          <a:xfrm>
            <a:off x="10037826" y="4526280"/>
            <a:ext cx="1285189" cy="12344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Route and Places adapters: local, OpenStreetMap (free) or Google.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2 · PROPOSED SYSTEM</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Core Components — System Architecture</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09</a:t>
            </a:r>
            <a:endParaRPr lang="en-US" sz="1100" dirty="0"/>
          </a:p>
        </p:txBody>
      </p:sp>
      <p:sp>
        <p:nvSpPr>
          <p:cNvPr id="7" name="Shape 4"/>
          <p:cNvSpPr/>
          <p:nvPr/>
        </p:nvSpPr>
        <p:spPr>
          <a:xfrm>
            <a:off x="685800" y="1325880"/>
            <a:ext cx="10820095" cy="4462272"/>
          </a:xfrm>
          <a:prstGeom prst="roundRect">
            <a:avLst>
              <a:gd name="adj" fmla="val 1230"/>
            </a:avLst>
          </a:prstGeom>
          <a:solidFill>
            <a:srgbClr val="FFFFFF"/>
          </a:solidFill>
          <a:ln w="9525">
            <a:solidFill>
              <a:srgbClr val="D8CDB9"/>
            </a:solidFill>
            <a:prstDash val="solid"/>
          </a:ln>
        </p:spPr>
      </p:sp>
      <p:pic>
        <p:nvPicPr>
          <p:cNvPr id="8" name="Image 0" descr="Core Components — System Architecture (architecture.png)">    </p:cNvPr>
          <p:cNvPicPr>
            <a:picLocks noChangeAspect="1"/>
          </p:cNvPicPr>
          <p:nvPr/>
        </p:nvPicPr>
        <p:blipFill>
          <a:blip r:embed="rId1"/>
          <a:stretch>
            <a:fillRect/>
          </a:stretch>
        </p:blipFill>
        <p:spPr>
          <a:xfrm>
            <a:off x="2128149" y="1453896"/>
            <a:ext cx="7935396" cy="4206240"/>
          </a:xfrm>
          <a:prstGeom prst="rect">
            <a:avLst/>
          </a:prstGeom>
        </p:spPr>
      </p:pic>
      <p:sp>
        <p:nvSpPr>
          <p:cNvPr id="9" name="Text 5"/>
          <p:cNvSpPr txBox="1"/>
          <p:nvPr/>
        </p:nvSpPr>
        <p:spPr>
          <a:xfrm>
            <a:off x="685800" y="5879592"/>
            <a:ext cx="10820095" cy="274320"/>
          </a:xfrm>
          <a:prstGeom prst="rect">
            <a:avLst/>
          </a:prstGeom>
          <a:noFill/>
          <a:ln/>
        </p:spPr>
        <p:txBody>
          <a:bodyPr wrap="square" lIns="0" tIns="0" rIns="0" bIns="0" rtlCol="0" anchor="t"/>
          <a:lstStyle/>
          <a:p>
            <a:pPr indent="0" marL="0">
              <a:buNone/>
            </a:pPr>
            <a:r>
              <a:rPr lang="en-US" sz="1250" i="1" dirty="0">
                <a:solidFill>
                  <a:srgbClr val="3D4852"/>
                </a:solidFill>
                <a:latin typeface="Arial" pitchFamily="34" charset="0"/>
                <a:ea typeface="Arial" pitchFamily="34" charset="-122"/>
                <a:cs typeface="Arial" pitchFamily="34" charset="-120"/>
              </a:rPr>
              <a:t>Browser → REST API → MongoDB. External map services are optional; every call falls back to the local provider.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2 · PROPOSED SYSTEM</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Core Components — How the Plan Is Computed</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10</a:t>
            </a:r>
            <a:endParaRPr lang="en-US" sz="1100" dirty="0"/>
          </a:p>
        </p:txBody>
      </p:sp>
      <p:sp>
        <p:nvSpPr>
          <p:cNvPr id="7" name="Text 4"/>
          <p:cNvSpPr txBox="1"/>
          <p:nvPr/>
        </p:nvSpPr>
        <p:spPr>
          <a:xfrm>
            <a:off x="685800" y="1737360"/>
            <a:ext cx="2743200" cy="411480"/>
          </a:xfrm>
          <a:prstGeom prst="rect">
            <a:avLst/>
          </a:prstGeom>
          <a:noFill/>
          <a:ln/>
        </p:spPr>
        <p:txBody>
          <a:bodyPr wrap="square" lIns="0" tIns="0" rIns="0" bIns="0" rtlCol="0" anchor="t"/>
          <a:lstStyle/>
          <a:p>
            <a:pPr indent="0" marL="0">
              <a:buNone/>
            </a:pPr>
            <a:r>
              <a:rPr lang="en-US" sz="2200" dirty="0">
                <a:solidFill>
                  <a:srgbClr val="1F2A33"/>
                </a:solidFill>
                <a:latin typeface="Georgia" pitchFamily="34" charset="0"/>
                <a:ea typeface="Georgia" pitchFamily="34" charset="-122"/>
                <a:cs typeface="Georgia" pitchFamily="34" charset="-120"/>
              </a:rPr>
              <a:t>Itinerary</a:t>
            </a:r>
            <a:endParaRPr lang="en-US" sz="2200" dirty="0"/>
          </a:p>
        </p:txBody>
      </p:sp>
      <p:sp>
        <p:nvSpPr>
          <p:cNvPr id="8" name="Shape 5"/>
          <p:cNvSpPr/>
          <p:nvPr/>
        </p:nvSpPr>
        <p:spPr>
          <a:xfrm>
            <a:off x="868680" y="2514600"/>
            <a:ext cx="0" cy="2779776"/>
          </a:xfrm>
          <a:prstGeom prst="line">
            <a:avLst/>
          </a:prstGeom>
          <a:noFill/>
          <a:ln w="15875">
            <a:solidFill>
              <a:srgbClr val="B4532A"/>
            </a:solidFill>
            <a:prstDash val="dash"/>
          </a:ln>
        </p:spPr>
      </p:sp>
      <p:sp>
        <p:nvSpPr>
          <p:cNvPr id="9" name="Shape 6"/>
          <p:cNvSpPr/>
          <p:nvPr/>
        </p:nvSpPr>
        <p:spPr>
          <a:xfrm>
            <a:off x="685800" y="2331720"/>
            <a:ext cx="365760" cy="365760"/>
          </a:xfrm>
          <a:prstGeom prst="ellipse">
            <a:avLst/>
          </a:prstGeom>
          <a:solidFill>
            <a:srgbClr val="B4532A"/>
          </a:solidFill>
          <a:ln/>
        </p:spPr>
      </p:sp>
      <p:sp>
        <p:nvSpPr>
          <p:cNvPr id="10" name="Text 7"/>
          <p:cNvSpPr txBox="1"/>
          <p:nvPr/>
        </p:nvSpPr>
        <p:spPr>
          <a:xfrm>
            <a:off x="685800" y="2331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1" name="Text 8"/>
          <p:cNvSpPr txBox="1"/>
          <p:nvPr/>
        </p:nvSpPr>
        <p:spPr>
          <a:xfrm>
            <a:off x="1280160" y="2240280"/>
            <a:ext cx="137160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Score</a:t>
            </a:r>
            <a:endParaRPr lang="en-US" sz="1400" dirty="0"/>
          </a:p>
        </p:txBody>
      </p:sp>
      <p:sp>
        <p:nvSpPr>
          <p:cNvPr id="12" name="Text 9"/>
          <p:cNvSpPr txBox="1"/>
          <p:nvPr/>
        </p:nvSpPr>
        <p:spPr>
          <a:xfrm>
            <a:off x="2651760" y="2240280"/>
            <a:ext cx="3520440" cy="54864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rating + 1.5 when the type matches an interest</a:t>
            </a:r>
            <a:endParaRPr lang="en-US" sz="1250" dirty="0"/>
          </a:p>
        </p:txBody>
      </p:sp>
      <p:sp>
        <p:nvSpPr>
          <p:cNvPr id="13" name="Shape 10"/>
          <p:cNvSpPr/>
          <p:nvPr/>
        </p:nvSpPr>
        <p:spPr>
          <a:xfrm>
            <a:off x="685800" y="3026664"/>
            <a:ext cx="365760" cy="365760"/>
          </a:xfrm>
          <a:prstGeom prst="ellipse">
            <a:avLst/>
          </a:prstGeom>
          <a:solidFill>
            <a:srgbClr val="B4532A"/>
          </a:solidFill>
          <a:ln/>
        </p:spPr>
      </p:sp>
      <p:sp>
        <p:nvSpPr>
          <p:cNvPr id="14" name="Text 11"/>
          <p:cNvSpPr txBox="1"/>
          <p:nvPr/>
        </p:nvSpPr>
        <p:spPr>
          <a:xfrm>
            <a:off x="685800" y="30266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5" name="Text 12"/>
          <p:cNvSpPr txBox="1"/>
          <p:nvPr/>
        </p:nvSpPr>
        <p:spPr>
          <a:xfrm>
            <a:off x="1280160" y="2935224"/>
            <a:ext cx="137160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Capacity</a:t>
            </a:r>
            <a:endParaRPr lang="en-US" sz="1400" dirty="0"/>
          </a:p>
        </p:txBody>
      </p:sp>
      <p:sp>
        <p:nvSpPr>
          <p:cNvPr id="16" name="Text 13"/>
          <p:cNvSpPr txBox="1"/>
          <p:nvPr/>
        </p:nvSpPr>
        <p:spPr>
          <a:xfrm>
            <a:off x="2651760" y="2935224"/>
            <a:ext cx="3520440" cy="54864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hours per day: relaxed 6 · balanced 8 · packed 10</a:t>
            </a:r>
            <a:endParaRPr lang="en-US" sz="1250" dirty="0"/>
          </a:p>
        </p:txBody>
      </p:sp>
      <p:sp>
        <p:nvSpPr>
          <p:cNvPr id="17" name="Shape 14"/>
          <p:cNvSpPr/>
          <p:nvPr/>
        </p:nvSpPr>
        <p:spPr>
          <a:xfrm>
            <a:off x="685800" y="3721608"/>
            <a:ext cx="365760" cy="365760"/>
          </a:xfrm>
          <a:prstGeom prst="ellipse">
            <a:avLst/>
          </a:prstGeom>
          <a:solidFill>
            <a:srgbClr val="B4532A"/>
          </a:solidFill>
          <a:ln/>
        </p:spPr>
      </p:sp>
      <p:sp>
        <p:nvSpPr>
          <p:cNvPr id="18" name="Text 15"/>
          <p:cNvSpPr txBox="1"/>
          <p:nvPr/>
        </p:nvSpPr>
        <p:spPr>
          <a:xfrm>
            <a:off x="685800" y="37216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9" name="Text 16"/>
          <p:cNvSpPr txBox="1"/>
          <p:nvPr/>
        </p:nvSpPr>
        <p:spPr>
          <a:xfrm>
            <a:off x="1280160" y="3630168"/>
            <a:ext cx="137160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Build the day</a:t>
            </a:r>
            <a:endParaRPr lang="en-US" sz="1400" dirty="0"/>
          </a:p>
        </p:txBody>
      </p:sp>
      <p:sp>
        <p:nvSpPr>
          <p:cNvPr id="20" name="Text 17"/>
          <p:cNvSpPr txBox="1"/>
          <p:nvPr/>
        </p:nvSpPr>
        <p:spPr>
          <a:xfrm>
            <a:off x="2651760" y="3630168"/>
            <a:ext cx="3520440" cy="54864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start at the best activity, keep adding the nearest one that still fits</a:t>
            </a:r>
            <a:endParaRPr lang="en-US" sz="1250" dirty="0"/>
          </a:p>
        </p:txBody>
      </p:sp>
      <p:sp>
        <p:nvSpPr>
          <p:cNvPr id="21" name="Shape 18"/>
          <p:cNvSpPr/>
          <p:nvPr/>
        </p:nvSpPr>
        <p:spPr>
          <a:xfrm>
            <a:off x="685800" y="4416552"/>
            <a:ext cx="365760" cy="365760"/>
          </a:xfrm>
          <a:prstGeom prst="ellipse">
            <a:avLst/>
          </a:prstGeom>
          <a:solidFill>
            <a:srgbClr val="B4532A"/>
          </a:solidFill>
          <a:ln/>
        </p:spPr>
      </p:sp>
      <p:sp>
        <p:nvSpPr>
          <p:cNvPr id="22" name="Text 19"/>
          <p:cNvSpPr txBox="1"/>
          <p:nvPr/>
        </p:nvSpPr>
        <p:spPr>
          <a:xfrm>
            <a:off x="685800" y="44165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3" name="Text 20"/>
          <p:cNvSpPr txBox="1"/>
          <p:nvPr/>
        </p:nvSpPr>
        <p:spPr>
          <a:xfrm>
            <a:off x="1280160" y="4325112"/>
            <a:ext cx="137160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Order</a:t>
            </a:r>
            <a:endParaRPr lang="en-US" sz="1400" dirty="0"/>
          </a:p>
        </p:txBody>
      </p:sp>
      <p:sp>
        <p:nvSpPr>
          <p:cNvPr id="24" name="Text 21"/>
          <p:cNvSpPr txBox="1"/>
          <p:nvPr/>
        </p:nvSpPr>
        <p:spPr>
          <a:xfrm>
            <a:off x="2651760" y="4325112"/>
            <a:ext cx="3520440" cy="54864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morning places first, evening places last</a:t>
            </a:r>
            <a:endParaRPr lang="en-US" sz="1250" dirty="0"/>
          </a:p>
        </p:txBody>
      </p:sp>
      <p:sp>
        <p:nvSpPr>
          <p:cNvPr id="25" name="Shape 22"/>
          <p:cNvSpPr/>
          <p:nvPr/>
        </p:nvSpPr>
        <p:spPr>
          <a:xfrm>
            <a:off x="685800" y="5111496"/>
            <a:ext cx="365760" cy="365760"/>
          </a:xfrm>
          <a:prstGeom prst="ellipse">
            <a:avLst/>
          </a:prstGeom>
          <a:solidFill>
            <a:srgbClr val="B4532A"/>
          </a:solidFill>
          <a:ln/>
        </p:spPr>
      </p:sp>
      <p:sp>
        <p:nvSpPr>
          <p:cNvPr id="26" name="Text 23"/>
          <p:cNvSpPr txBox="1"/>
          <p:nvPr/>
        </p:nvSpPr>
        <p:spPr>
          <a:xfrm>
            <a:off x="685800" y="51114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27" name="Text 24"/>
          <p:cNvSpPr txBox="1"/>
          <p:nvPr/>
        </p:nvSpPr>
        <p:spPr>
          <a:xfrm>
            <a:off x="1280160" y="5020056"/>
            <a:ext cx="137160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Schedule</a:t>
            </a:r>
            <a:endParaRPr lang="en-US" sz="1400" dirty="0"/>
          </a:p>
        </p:txBody>
      </p:sp>
      <p:sp>
        <p:nvSpPr>
          <p:cNvPr id="28" name="Text 25"/>
          <p:cNvSpPr txBox="1"/>
          <p:nvPr/>
        </p:nvSpPr>
        <p:spPr>
          <a:xfrm>
            <a:off x="2651760" y="5020056"/>
            <a:ext cx="3520440" cy="54864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from 09:00, travel time between stops, 60-minute lunch after 13:00</a:t>
            </a:r>
            <a:endParaRPr lang="en-US" sz="1250" dirty="0"/>
          </a:p>
        </p:txBody>
      </p:sp>
      <p:sp>
        <p:nvSpPr>
          <p:cNvPr id="29" name="Shape 26"/>
          <p:cNvSpPr/>
          <p:nvPr/>
        </p:nvSpPr>
        <p:spPr>
          <a:xfrm>
            <a:off x="6583680" y="1737360"/>
            <a:ext cx="4922215" cy="4206240"/>
          </a:xfrm>
          <a:prstGeom prst="roundRect">
            <a:avLst>
              <a:gd name="adj" fmla="val 1304"/>
            </a:avLst>
          </a:prstGeom>
          <a:solidFill>
            <a:srgbClr val="FFFFFF"/>
          </a:solidFill>
          <a:ln w="9525">
            <a:solidFill>
              <a:srgbClr val="D8CDB9"/>
            </a:solidFill>
            <a:prstDash val="solid"/>
          </a:ln>
        </p:spPr>
      </p:sp>
      <p:sp>
        <p:nvSpPr>
          <p:cNvPr id="30" name="Text 27"/>
          <p:cNvSpPr txBox="1"/>
          <p:nvPr/>
        </p:nvSpPr>
        <p:spPr>
          <a:xfrm>
            <a:off x="6858000" y="1874520"/>
            <a:ext cx="2743200" cy="411480"/>
          </a:xfrm>
          <a:prstGeom prst="rect">
            <a:avLst/>
          </a:prstGeom>
          <a:noFill/>
          <a:ln/>
        </p:spPr>
        <p:txBody>
          <a:bodyPr wrap="square" lIns="0" tIns="0" rIns="0" bIns="0" rtlCol="0" anchor="t"/>
          <a:lstStyle/>
          <a:p>
            <a:pPr indent="0" marL="0">
              <a:buNone/>
            </a:pPr>
            <a:r>
              <a:rPr lang="en-US" sz="2200" dirty="0">
                <a:solidFill>
                  <a:srgbClr val="1F2A33"/>
                </a:solidFill>
                <a:latin typeface="Georgia" pitchFamily="34" charset="0"/>
                <a:ea typeface="Georgia" pitchFamily="34" charset="-122"/>
                <a:cs typeface="Georgia" pitchFamily="34" charset="-120"/>
              </a:rPr>
              <a:t>Budget</a:t>
            </a:r>
            <a:endParaRPr lang="en-US" sz="2200" dirty="0"/>
          </a:p>
        </p:txBody>
      </p:sp>
      <p:sp>
        <p:nvSpPr>
          <p:cNvPr id="31" name="Text 28"/>
          <p:cNvSpPr txBox="1"/>
          <p:nvPr/>
        </p:nvSpPr>
        <p:spPr>
          <a:xfrm>
            <a:off x="6858000" y="2423160"/>
            <a:ext cx="4465015" cy="2468880"/>
          </a:xfrm>
          <a:prstGeom prst="rect">
            <a:avLst/>
          </a:prstGeom>
          <a:noFill/>
          <a:ln/>
        </p:spPr>
        <p:txBody>
          <a:bodyPr wrap="square" lIns="0" tIns="0" rIns="0" bIns="0" rtlCol="0" anchor="t"/>
          <a:lstStyle/>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nights     = max(days − 1, 1)</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rooms      = ceil(travellers ÷ 2)</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stay       = rate.stay × rooms × nights</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food       = rate.food × travellers × days</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transport  = rate.transport × travellers × days</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activities = entry fees × travellers</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total      = sum of the four</a:t>
            </a:r>
            <a:endParaRPr lang="en-US" sz="1200" dirty="0"/>
          </a:p>
          <a:p>
            <a:pPr indent="0" marL="0">
              <a:lnSpc>
                <a:spcPct val="145000"/>
              </a:lnSpc>
              <a:buNone/>
            </a:pPr>
            <a:r>
              <a:rPr lang="en-US" sz="1200" b="1" dirty="0">
                <a:solidFill>
                  <a:srgbClr val="3D4852"/>
                </a:solidFill>
                <a:latin typeface="Courier New" pitchFamily="34" charset="0"/>
                <a:ea typeface="Courier New" pitchFamily="34" charset="-122"/>
                <a:cs typeface="Courier New" pitchFamily="34" charset="-120"/>
              </a:rPr>
              <a:t>perPerson  = round(total ÷ travellers)</a:t>
            </a:r>
            <a:endParaRPr lang="en-US" sz="1200" dirty="0"/>
          </a:p>
        </p:txBody>
      </p:sp>
      <p:sp>
        <p:nvSpPr>
          <p:cNvPr id="32" name="Shape 29"/>
          <p:cNvSpPr/>
          <p:nvPr/>
        </p:nvSpPr>
        <p:spPr>
          <a:xfrm>
            <a:off x="6858000" y="4983480"/>
            <a:ext cx="4373575" cy="731520"/>
          </a:xfrm>
          <a:prstGeom prst="roundRect">
            <a:avLst>
              <a:gd name="adj" fmla="val 7500"/>
            </a:avLst>
          </a:prstGeom>
          <a:solidFill>
            <a:srgbClr val="F1DDD0"/>
          </a:solidFill>
          <a:ln/>
        </p:spPr>
      </p:sp>
      <p:sp>
        <p:nvSpPr>
          <p:cNvPr id="33" name="Text 30"/>
          <p:cNvSpPr txBox="1"/>
          <p:nvPr/>
        </p:nvSpPr>
        <p:spPr>
          <a:xfrm>
            <a:off x="6995160" y="4983480"/>
            <a:ext cx="4099255" cy="731520"/>
          </a:xfrm>
          <a:prstGeom prst="rect">
            <a:avLst/>
          </a:prstGeom>
          <a:noFill/>
          <a:ln/>
        </p:spPr>
        <p:txBody>
          <a:bodyPr wrap="square" lIns="0" tIns="0" rIns="0" bIns="0" rtlCol="0" anchor="ctr"/>
          <a:lstStyle/>
          <a:p>
            <a:pPr indent="0" marL="0">
              <a:buNone/>
            </a:pPr>
            <a:r>
              <a:rPr lang="en-US" sz="1150" b="1" dirty="0">
                <a:solidFill>
                  <a:srgbClr val="1F2A33"/>
                </a:solidFill>
                <a:latin typeface="Arial" pitchFamily="34" charset="0"/>
                <a:ea typeface="Arial" pitchFamily="34" charset="-122"/>
                <a:cs typeface="Arial" pitchFamily="34" charset="-120"/>
              </a:rPr>
              <a:t>4 days, 2 travellers  →  3 nights, 1 room. </a:t>
            </a:r>
            <a:pPr indent="0" marL="0">
              <a:buNone/>
            </a:pPr>
            <a:r>
              <a:rPr lang="en-US" sz="1150" dirty="0">
                <a:solidFill>
                  <a:srgbClr val="1F2A33"/>
                </a:solidFill>
                <a:latin typeface="Arial" pitchFamily="34" charset="0"/>
                <a:ea typeface="Arial" pitchFamily="34" charset="-122"/>
                <a:cs typeface="Arial" pitchFamily="34" charset="-120"/>
              </a:rPr>
              <a:t>rate = the destination's daily cost for the chosen tier.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2 · PROPOSED SYSTEM</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Development Tools &amp; Technologies</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11</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1737360"/>
                <a:gridCol w="4114800"/>
                <a:gridCol w="4967935"/>
              </a:tblGrid>
              <a:tr h="457200">
                <a:tc>
                  <a:txBody>
                    <a:bodyPr/>
                    <a:lstStyle/>
                    <a:p>
                      <a:pPr indent="0" marL="0">
                        <a:buNone/>
                      </a:pPr>
                      <a:r>
                        <a:rPr lang="en-US" sz="1250" b="1" dirty="0">
                          <a:solidFill>
                            <a:srgbClr val="FFFFFF"/>
                          </a:solidFill>
                          <a:latin typeface="Arial" pitchFamily="34" charset="0"/>
                          <a:ea typeface="Arial" pitchFamily="34" charset="-122"/>
                          <a:cs typeface="Arial" pitchFamily="34" charset="-120"/>
                        </a:rPr>
                        <a:t>Layer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Technology</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Role in the project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Frontend</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React 18, Vite, React Router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Single-page client, routing, protected pages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Styling</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HTML5, hand-written CSS3, design tokens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Responsive from 360 px, accessible forms, no UI kit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Backend</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Node.js 20+, Express.js (ES modules)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REST API under /api/v1 with a uniform response envelope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Security</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JWT, bcrypt, Zod, helmet, cors, rate limit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Login tokens, password hashing, input validation, hardening</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Database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MongoDB 7, Mongoose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Four collections; itinerary and budget embedded in a trip</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External APIs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Overpass (OpenStreetMap), OSRM; optional Google Places, Distance Matrix</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Place discovery and road distance; local fallback</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Testing</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Vitest, Supertest, mongodb-memory-server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Unit tests for services, API tests on an in-memory database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33"/>
                          </a:solidFill>
                          <a:latin typeface="Arial" pitchFamily="34" charset="0"/>
                          <a:ea typeface="Arial" pitchFamily="34" charset="-122"/>
                          <a:cs typeface="Arial" pitchFamily="34" charset="-120"/>
                        </a:rPr>
                        <a:t>Tooling</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Git, Docker Compose, npm</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Version control, one-command database, scripts and seed</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2 · PROPOSED SYSTEM</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Assumptions and Constraints</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12</a:t>
            </a:r>
            <a:endParaRPr lang="en-US" sz="1100" dirty="0"/>
          </a:p>
        </p:txBody>
      </p:sp>
      <p:sp>
        <p:nvSpPr>
          <p:cNvPr id="7" name="Text 4"/>
          <p:cNvSpPr txBox="1"/>
          <p:nvPr/>
        </p:nvSpPr>
        <p:spPr>
          <a:xfrm>
            <a:off x="685800" y="1737360"/>
            <a:ext cx="3657600" cy="411480"/>
          </a:xfrm>
          <a:prstGeom prst="rect">
            <a:avLst/>
          </a:prstGeom>
          <a:noFill/>
          <a:ln/>
        </p:spPr>
        <p:txBody>
          <a:bodyPr wrap="square" lIns="0" tIns="0" rIns="0" bIns="0" rtlCol="0" anchor="t"/>
          <a:lstStyle/>
          <a:p>
            <a:pPr indent="0" marL="0">
              <a:buNone/>
            </a:pPr>
            <a:r>
              <a:rPr lang="en-US" sz="2200" dirty="0">
                <a:solidFill>
                  <a:srgbClr val="1F2A33"/>
                </a:solidFill>
                <a:latin typeface="Georgia" pitchFamily="34" charset="0"/>
                <a:ea typeface="Georgia" pitchFamily="34" charset="-122"/>
                <a:cs typeface="Georgia" pitchFamily="34" charset="-120"/>
              </a:rPr>
              <a:t>Assumptions</a:t>
            </a:r>
            <a:endParaRPr lang="en-US" sz="2200" dirty="0"/>
          </a:p>
        </p:txBody>
      </p:sp>
      <p:sp>
        <p:nvSpPr>
          <p:cNvPr id="8" name="Shape 5"/>
          <p:cNvSpPr/>
          <p:nvPr/>
        </p:nvSpPr>
        <p:spPr>
          <a:xfrm>
            <a:off x="699516" y="2446020"/>
            <a:ext cx="100584" cy="100584"/>
          </a:xfrm>
          <a:prstGeom prst="ellipse">
            <a:avLst/>
          </a:prstGeom>
          <a:solidFill>
            <a:srgbClr val="B4532A"/>
          </a:solidFill>
          <a:ln/>
        </p:spPr>
      </p:sp>
      <p:sp>
        <p:nvSpPr>
          <p:cNvPr id="9" name="Text 6"/>
          <p:cNvSpPr txBox="1"/>
          <p:nvPr/>
        </p:nvSpPr>
        <p:spPr>
          <a:xfrm>
            <a:off x="978408" y="2377440"/>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Two travellers share one room</a:t>
            </a:r>
            <a:endParaRPr lang="en-US" sz="1400" dirty="0"/>
          </a:p>
        </p:txBody>
      </p:sp>
      <p:sp>
        <p:nvSpPr>
          <p:cNvPr id="10" name="Shape 7"/>
          <p:cNvSpPr/>
          <p:nvPr/>
        </p:nvSpPr>
        <p:spPr>
          <a:xfrm>
            <a:off x="699516" y="3012948"/>
            <a:ext cx="100584" cy="100584"/>
          </a:xfrm>
          <a:prstGeom prst="ellipse">
            <a:avLst/>
          </a:prstGeom>
          <a:solidFill>
            <a:srgbClr val="B4532A"/>
          </a:solidFill>
          <a:ln/>
        </p:spPr>
      </p:sp>
      <p:sp>
        <p:nvSpPr>
          <p:cNvPr id="11" name="Text 8"/>
          <p:cNvSpPr txBox="1"/>
          <p:nvPr/>
        </p:nvSpPr>
        <p:spPr>
          <a:xfrm>
            <a:off x="978408" y="2944368"/>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Nights = days − 1, never less than one</a:t>
            </a:r>
            <a:endParaRPr lang="en-US" sz="1400" dirty="0"/>
          </a:p>
        </p:txBody>
      </p:sp>
      <p:sp>
        <p:nvSpPr>
          <p:cNvPr id="12" name="Shape 9"/>
          <p:cNvSpPr/>
          <p:nvPr/>
        </p:nvSpPr>
        <p:spPr>
          <a:xfrm>
            <a:off x="699516" y="3579876"/>
            <a:ext cx="100584" cy="100584"/>
          </a:xfrm>
          <a:prstGeom prst="ellipse">
            <a:avLst/>
          </a:prstGeom>
          <a:solidFill>
            <a:srgbClr val="B4532A"/>
          </a:solidFill>
          <a:ln/>
        </p:spPr>
      </p:sp>
      <p:sp>
        <p:nvSpPr>
          <p:cNvPr id="13" name="Text 10"/>
          <p:cNvSpPr txBox="1"/>
          <p:nvPr/>
        </p:nvSpPr>
        <p:spPr>
          <a:xfrm>
            <a:off x="978408" y="3511296"/>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Costs are daily averages per tier, in whole INR</a:t>
            </a:r>
            <a:endParaRPr lang="en-US" sz="1400" dirty="0"/>
          </a:p>
        </p:txBody>
      </p:sp>
      <p:sp>
        <p:nvSpPr>
          <p:cNvPr id="14" name="Shape 11"/>
          <p:cNvSpPr/>
          <p:nvPr/>
        </p:nvSpPr>
        <p:spPr>
          <a:xfrm>
            <a:off x="699516" y="4146804"/>
            <a:ext cx="100584" cy="100584"/>
          </a:xfrm>
          <a:prstGeom prst="ellipse">
            <a:avLst/>
          </a:prstGeom>
          <a:solidFill>
            <a:srgbClr val="B4532A"/>
          </a:solidFill>
          <a:ln/>
        </p:spPr>
      </p:sp>
      <p:sp>
        <p:nvSpPr>
          <p:cNvPr id="15" name="Text 12"/>
          <p:cNvSpPr txBox="1"/>
          <p:nvPr/>
        </p:nvSpPr>
        <p:spPr>
          <a:xfrm>
            <a:off x="978408" y="4078224"/>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Local road distance = straight line × 1.3 at 25 km/h</a:t>
            </a:r>
            <a:endParaRPr lang="en-US" sz="1400" dirty="0"/>
          </a:p>
        </p:txBody>
      </p:sp>
      <p:sp>
        <p:nvSpPr>
          <p:cNvPr id="16" name="Shape 13"/>
          <p:cNvSpPr/>
          <p:nvPr/>
        </p:nvSpPr>
        <p:spPr>
          <a:xfrm>
            <a:off x="699516" y="4713732"/>
            <a:ext cx="100584" cy="100584"/>
          </a:xfrm>
          <a:prstGeom prst="ellipse">
            <a:avLst/>
          </a:prstGeom>
          <a:solidFill>
            <a:srgbClr val="B4532A"/>
          </a:solidFill>
          <a:ln/>
        </p:spPr>
      </p:sp>
      <p:sp>
        <p:nvSpPr>
          <p:cNvPr id="17" name="Text 14"/>
          <p:cNvSpPr txBox="1"/>
          <p:nvPr/>
        </p:nvSpPr>
        <p:spPr>
          <a:xfrm>
            <a:off x="978408" y="4645152"/>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Sightseeing starts at 09:00 with a one-hour lunch</a:t>
            </a:r>
            <a:endParaRPr lang="en-US" sz="1400" dirty="0"/>
          </a:p>
        </p:txBody>
      </p:sp>
      <p:sp>
        <p:nvSpPr>
          <p:cNvPr id="18" name="Shape 15"/>
          <p:cNvSpPr/>
          <p:nvPr/>
        </p:nvSpPr>
        <p:spPr>
          <a:xfrm>
            <a:off x="699516" y="5280660"/>
            <a:ext cx="100584" cy="100584"/>
          </a:xfrm>
          <a:prstGeom prst="ellipse">
            <a:avLst/>
          </a:prstGeom>
          <a:solidFill>
            <a:srgbClr val="B4532A"/>
          </a:solidFill>
          <a:ln/>
        </p:spPr>
      </p:sp>
      <p:sp>
        <p:nvSpPr>
          <p:cNvPr id="19" name="Text 16"/>
          <p:cNvSpPr txBox="1"/>
          <p:nvPr/>
        </p:nvSpPr>
        <p:spPr>
          <a:xfrm>
            <a:off x="978408" y="5212080"/>
            <a:ext cx="4828032" cy="566928"/>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Figures are estimates, not quotations</a:t>
            </a:r>
            <a:endParaRPr lang="en-US" sz="1400" dirty="0"/>
          </a:p>
        </p:txBody>
      </p:sp>
      <p:sp>
        <p:nvSpPr>
          <p:cNvPr id="20" name="Text 17"/>
          <p:cNvSpPr txBox="1"/>
          <p:nvPr/>
        </p:nvSpPr>
        <p:spPr>
          <a:xfrm>
            <a:off x="6263640" y="1737360"/>
            <a:ext cx="3657600" cy="411480"/>
          </a:xfrm>
          <a:prstGeom prst="rect">
            <a:avLst/>
          </a:prstGeom>
          <a:noFill/>
          <a:ln/>
        </p:spPr>
        <p:txBody>
          <a:bodyPr wrap="square" lIns="0" tIns="0" rIns="0" bIns="0" rtlCol="0" anchor="t"/>
          <a:lstStyle/>
          <a:p>
            <a:pPr indent="0" marL="0">
              <a:buNone/>
            </a:pPr>
            <a:r>
              <a:rPr lang="en-US" sz="2200" dirty="0">
                <a:solidFill>
                  <a:srgbClr val="1F2A33"/>
                </a:solidFill>
                <a:latin typeface="Georgia" pitchFamily="34" charset="0"/>
                <a:ea typeface="Georgia" pitchFamily="34" charset="-122"/>
                <a:cs typeface="Georgia" pitchFamily="34" charset="-120"/>
              </a:rPr>
              <a:t>Constraints</a:t>
            </a:r>
            <a:endParaRPr lang="en-US" sz="2200" dirty="0"/>
          </a:p>
        </p:txBody>
      </p:sp>
      <p:sp>
        <p:nvSpPr>
          <p:cNvPr id="21" name="Shape 18"/>
          <p:cNvSpPr/>
          <p:nvPr/>
        </p:nvSpPr>
        <p:spPr>
          <a:xfrm>
            <a:off x="6263640" y="2331720"/>
            <a:ext cx="2529688" cy="1143000"/>
          </a:xfrm>
          <a:prstGeom prst="roundRect">
            <a:avLst>
              <a:gd name="adj" fmla="val 4800"/>
            </a:avLst>
          </a:prstGeom>
          <a:solidFill>
            <a:srgbClr val="FFFFFF"/>
          </a:solidFill>
          <a:ln w="9525">
            <a:solidFill>
              <a:srgbClr val="D8CDB9"/>
            </a:solidFill>
            <a:prstDash val="solid"/>
          </a:ln>
        </p:spPr>
      </p:sp>
      <p:sp>
        <p:nvSpPr>
          <p:cNvPr id="22" name="Text 19"/>
          <p:cNvSpPr txBox="1"/>
          <p:nvPr/>
        </p:nvSpPr>
        <p:spPr>
          <a:xfrm>
            <a:off x="6464808" y="240487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12</a:t>
            </a:r>
            <a:endParaRPr lang="en-US" sz="2400" dirty="0"/>
          </a:p>
        </p:txBody>
      </p:sp>
      <p:sp>
        <p:nvSpPr>
          <p:cNvPr id="23" name="Text 20"/>
          <p:cNvSpPr txBox="1"/>
          <p:nvPr/>
        </p:nvSpPr>
        <p:spPr>
          <a:xfrm>
            <a:off x="6464808" y="291693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seeded Indian destinations</a:t>
            </a:r>
            <a:endParaRPr lang="en-US" sz="1150" dirty="0"/>
          </a:p>
        </p:txBody>
      </p:sp>
      <p:sp>
        <p:nvSpPr>
          <p:cNvPr id="24" name="Shape 21"/>
          <p:cNvSpPr/>
          <p:nvPr/>
        </p:nvSpPr>
        <p:spPr>
          <a:xfrm>
            <a:off x="8976208" y="2331720"/>
            <a:ext cx="2529688" cy="1143000"/>
          </a:xfrm>
          <a:prstGeom prst="roundRect">
            <a:avLst>
              <a:gd name="adj" fmla="val 4800"/>
            </a:avLst>
          </a:prstGeom>
          <a:solidFill>
            <a:srgbClr val="FFFFFF"/>
          </a:solidFill>
          <a:ln w="9525">
            <a:solidFill>
              <a:srgbClr val="D8CDB9"/>
            </a:solidFill>
            <a:prstDash val="solid"/>
          </a:ln>
        </p:spPr>
      </p:sp>
      <p:sp>
        <p:nvSpPr>
          <p:cNvPr id="25" name="Text 22"/>
          <p:cNvSpPr txBox="1"/>
          <p:nvPr/>
        </p:nvSpPr>
        <p:spPr>
          <a:xfrm>
            <a:off x="9177376" y="240487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1–14</a:t>
            </a:r>
            <a:endParaRPr lang="en-US" sz="2400" dirty="0"/>
          </a:p>
        </p:txBody>
      </p:sp>
      <p:sp>
        <p:nvSpPr>
          <p:cNvPr id="26" name="Text 23"/>
          <p:cNvSpPr txBox="1"/>
          <p:nvPr/>
        </p:nvSpPr>
        <p:spPr>
          <a:xfrm>
            <a:off x="9177376" y="291693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days per trip</a:t>
            </a:r>
            <a:endParaRPr lang="en-US" sz="1150" dirty="0"/>
          </a:p>
        </p:txBody>
      </p:sp>
      <p:sp>
        <p:nvSpPr>
          <p:cNvPr id="27" name="Shape 24"/>
          <p:cNvSpPr/>
          <p:nvPr/>
        </p:nvSpPr>
        <p:spPr>
          <a:xfrm>
            <a:off x="6263640" y="3657600"/>
            <a:ext cx="2529688" cy="1143000"/>
          </a:xfrm>
          <a:prstGeom prst="roundRect">
            <a:avLst>
              <a:gd name="adj" fmla="val 4800"/>
            </a:avLst>
          </a:prstGeom>
          <a:solidFill>
            <a:srgbClr val="FFFFFF"/>
          </a:solidFill>
          <a:ln w="9525">
            <a:solidFill>
              <a:srgbClr val="D8CDB9"/>
            </a:solidFill>
            <a:prstDash val="solid"/>
          </a:ln>
        </p:spPr>
      </p:sp>
      <p:sp>
        <p:nvSpPr>
          <p:cNvPr id="28" name="Text 25"/>
          <p:cNvSpPr txBox="1"/>
          <p:nvPr/>
        </p:nvSpPr>
        <p:spPr>
          <a:xfrm>
            <a:off x="6464808" y="373075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1–12</a:t>
            </a:r>
            <a:endParaRPr lang="en-US" sz="2400" dirty="0"/>
          </a:p>
        </p:txBody>
      </p:sp>
      <p:sp>
        <p:nvSpPr>
          <p:cNvPr id="29" name="Text 26"/>
          <p:cNvSpPr txBox="1"/>
          <p:nvPr/>
        </p:nvSpPr>
        <p:spPr>
          <a:xfrm>
            <a:off x="6464808" y="424281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travellers per trip</a:t>
            </a:r>
            <a:endParaRPr lang="en-US" sz="1150" dirty="0"/>
          </a:p>
        </p:txBody>
      </p:sp>
      <p:sp>
        <p:nvSpPr>
          <p:cNvPr id="30" name="Shape 27"/>
          <p:cNvSpPr/>
          <p:nvPr/>
        </p:nvSpPr>
        <p:spPr>
          <a:xfrm>
            <a:off x="8976208" y="3657600"/>
            <a:ext cx="2529688" cy="1143000"/>
          </a:xfrm>
          <a:prstGeom prst="roundRect">
            <a:avLst>
              <a:gd name="adj" fmla="val 4800"/>
            </a:avLst>
          </a:prstGeom>
          <a:solidFill>
            <a:srgbClr val="FFFFFF"/>
          </a:solidFill>
          <a:ln w="9525">
            <a:solidFill>
              <a:srgbClr val="D8CDB9"/>
            </a:solidFill>
            <a:prstDash val="solid"/>
          </a:ln>
        </p:spPr>
      </p:sp>
      <p:sp>
        <p:nvSpPr>
          <p:cNvPr id="31" name="Text 28"/>
          <p:cNvSpPr txBox="1"/>
          <p:nvPr/>
        </p:nvSpPr>
        <p:spPr>
          <a:xfrm>
            <a:off x="9177376" y="373075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4 s</a:t>
            </a:r>
            <a:endParaRPr lang="en-US" sz="2400" dirty="0"/>
          </a:p>
        </p:txBody>
      </p:sp>
      <p:sp>
        <p:nvSpPr>
          <p:cNvPr id="32" name="Text 29"/>
          <p:cNvSpPr txBox="1"/>
          <p:nvPr/>
        </p:nvSpPr>
        <p:spPr>
          <a:xfrm>
            <a:off x="9177376" y="424281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External API timeout, then local fallback</a:t>
            </a:r>
            <a:endParaRPr lang="en-US" sz="1150" dirty="0"/>
          </a:p>
        </p:txBody>
      </p:sp>
      <p:sp>
        <p:nvSpPr>
          <p:cNvPr id="33" name="Shape 30"/>
          <p:cNvSpPr/>
          <p:nvPr/>
        </p:nvSpPr>
        <p:spPr>
          <a:xfrm>
            <a:off x="6263640" y="4983480"/>
            <a:ext cx="2529688" cy="1143000"/>
          </a:xfrm>
          <a:prstGeom prst="roundRect">
            <a:avLst>
              <a:gd name="adj" fmla="val 4800"/>
            </a:avLst>
          </a:prstGeom>
          <a:solidFill>
            <a:srgbClr val="FFFFFF"/>
          </a:solidFill>
          <a:ln w="9525">
            <a:solidFill>
              <a:srgbClr val="D8CDB9"/>
            </a:solidFill>
            <a:prstDash val="solid"/>
          </a:ln>
        </p:spPr>
      </p:sp>
      <p:sp>
        <p:nvSpPr>
          <p:cNvPr id="34" name="Text 31"/>
          <p:cNvSpPr txBox="1"/>
          <p:nvPr/>
        </p:nvSpPr>
        <p:spPr>
          <a:xfrm>
            <a:off x="6464808" y="505663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20 / 15 min</a:t>
            </a:r>
            <a:endParaRPr lang="en-US" sz="2400" dirty="0"/>
          </a:p>
        </p:txBody>
      </p:sp>
      <p:sp>
        <p:nvSpPr>
          <p:cNvPr id="35" name="Text 32"/>
          <p:cNvSpPr txBox="1"/>
          <p:nvPr/>
        </p:nvSpPr>
        <p:spPr>
          <a:xfrm>
            <a:off x="6464808" y="556869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auth requests allowed per IP</a:t>
            </a:r>
            <a:endParaRPr lang="en-US" sz="1150" dirty="0"/>
          </a:p>
        </p:txBody>
      </p:sp>
      <p:sp>
        <p:nvSpPr>
          <p:cNvPr id="36" name="Shape 33"/>
          <p:cNvSpPr/>
          <p:nvPr/>
        </p:nvSpPr>
        <p:spPr>
          <a:xfrm>
            <a:off x="8976208" y="4983480"/>
            <a:ext cx="2529688" cy="1143000"/>
          </a:xfrm>
          <a:prstGeom prst="roundRect">
            <a:avLst>
              <a:gd name="adj" fmla="val 4800"/>
            </a:avLst>
          </a:prstGeom>
          <a:solidFill>
            <a:srgbClr val="FFFFFF"/>
          </a:solidFill>
          <a:ln w="9525">
            <a:solidFill>
              <a:srgbClr val="D8CDB9"/>
            </a:solidFill>
            <a:prstDash val="solid"/>
          </a:ln>
        </p:spPr>
      </p:sp>
      <p:sp>
        <p:nvSpPr>
          <p:cNvPr id="37" name="Text 34"/>
          <p:cNvSpPr txBox="1"/>
          <p:nvPr/>
        </p:nvSpPr>
        <p:spPr>
          <a:xfrm>
            <a:off x="9177376" y="5056632"/>
            <a:ext cx="2127352" cy="502920"/>
          </a:xfrm>
          <a:prstGeom prst="rect">
            <a:avLst/>
          </a:prstGeom>
          <a:noFill/>
          <a:ln/>
        </p:spPr>
        <p:txBody>
          <a:bodyPr wrap="square" lIns="0" tIns="0" rIns="0" bIns="0" rtlCol="0" anchor="ctr"/>
          <a:lstStyle/>
          <a:p>
            <a:pPr indent="0" marL="0">
              <a:buNone/>
            </a:pPr>
            <a:r>
              <a:rPr lang="en-US" sz="2400" dirty="0">
                <a:solidFill>
                  <a:srgbClr val="B4532A"/>
                </a:solidFill>
                <a:latin typeface="Georgia" pitchFamily="34" charset="0"/>
                <a:ea typeface="Georgia" pitchFamily="34" charset="-122"/>
                <a:cs typeface="Georgia" pitchFamily="34" charset="-120"/>
              </a:rPr>
              <a:t>Node 20+</a:t>
            </a:r>
            <a:endParaRPr lang="en-US" sz="2400" dirty="0"/>
          </a:p>
        </p:txBody>
      </p:sp>
      <p:sp>
        <p:nvSpPr>
          <p:cNvPr id="38" name="Text 35"/>
          <p:cNvSpPr txBox="1"/>
          <p:nvPr/>
        </p:nvSpPr>
        <p:spPr>
          <a:xfrm>
            <a:off x="9177376" y="5568696"/>
            <a:ext cx="2127352" cy="45720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and MongoDB 7 to run the system</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3 · REQUIREMENTS</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Functional Requirements (1 of 2)</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13</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914400"/>
                <a:gridCol w="7711135"/>
                <a:gridCol w="2194560"/>
              </a:tblGrid>
              <a:tr h="457200">
                <a:tc>
                  <a:txBody>
                    <a:bodyPr/>
                    <a:lstStyle/>
                    <a:p>
                      <a:pPr indent="0" marL="0">
                        <a:buNone/>
                      </a:pPr>
                      <a:r>
                        <a:rPr lang="en-US" sz="1250" b="1" dirty="0">
                          <a:solidFill>
                            <a:srgbClr val="FFFFFF"/>
                          </a:solidFill>
                          <a:latin typeface="Arial" pitchFamily="34" charset="0"/>
                          <a:ea typeface="Arial" pitchFamily="34" charset="-122"/>
                          <a:cs typeface="Arial" pitchFamily="34" charset="-120"/>
                        </a:rPr>
                        <a:t>ID</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The system shall…</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Module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FR-01</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register a user with name, email and password (min. 8 characters); reject a duplicate email</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Auth</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FR-02</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log a user in with email and password and issue a JWT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Auth</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FR-03</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restore the session on reload; send a protected page to login and return afterwards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Auth</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FR-04</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list destinations with keyword search, category filter and pagination</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Destinations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FR-05</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show destination details: overview, best season, daily cost table, activities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Destinations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FR-06</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discover nearby places for a destination, optionally by type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Destinations · Providers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FR-07</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accept a plan: destination, dates, travellers, budget tier, interests, pace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Planner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FR-08</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validate a plan: end ≥ start, at most 14 days, start not in the past, 1–12 travellers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Planner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3 · REQUIREMENTS</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Functional Requirements (2 of 2)</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914400"/>
                <a:gridCol w="7711135"/>
                <a:gridCol w="2194560"/>
              </a:tblGrid>
              <a:tr h="457200">
                <a:tc>
                  <a:txBody>
                    <a:bodyPr/>
                    <a:lstStyle/>
                    <a:p>
                      <a:pPr indent="0" marL="0">
                        <a:buNone/>
                      </a:pPr>
                      <a:r>
                        <a:rPr lang="en-US" sz="1250" b="1" dirty="0">
                          <a:solidFill>
                            <a:srgbClr val="FFFFFF"/>
                          </a:solidFill>
                          <a:latin typeface="Arial" pitchFamily="34" charset="0"/>
                          <a:ea typeface="Arial" pitchFamily="34" charset="-122"/>
                          <a:cs typeface="Arial" pitchFamily="34" charset="-120"/>
                        </a:rPr>
                        <a:t>ID</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The system shall…</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Module</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FR-09</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generate a day-wise itinerary with timings, ordered to reduce travel between stops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Itinerary</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FR-10</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estimate the budget: stay, food, transport, activities, total and per person</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Budget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FR-11</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let a guest preview the generated plan without an account</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Planner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FR-12</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save a plan to My Trips after login; keep the pending plan across the login step</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Trips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FR-13</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recompute itinerary and budget on the server when saving; never trust client totals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Trips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FR-14</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list the user's saved trips, newest first, with a status filter</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Trips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FR-15</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show trip details and allow editing of title, notes and status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Trips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4532A"/>
                          </a:solidFill>
                          <a:latin typeface="Arial" pitchFamily="34" charset="0"/>
                          <a:ea typeface="Arial" pitchFamily="34" charset="-122"/>
                          <a:cs typeface="Arial" pitchFamily="34" charset="-120"/>
                        </a:rPr>
                        <a:t>FR-16</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3D4852"/>
                          </a:solidFill>
                          <a:latin typeface="Arial" pitchFamily="34" charset="0"/>
                          <a:ea typeface="Arial" pitchFamily="34" charset="-122"/>
                          <a:cs typeface="Arial" pitchFamily="34" charset="-120"/>
                        </a:rPr>
                        <a:t>delete a trip; one user can never read or change another user's trip</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50" dirty="0">
                          <a:solidFill>
                            <a:srgbClr val="6A6F73"/>
                          </a:solidFill>
                          <a:latin typeface="Arial" pitchFamily="34" charset="0"/>
                          <a:ea typeface="Arial" pitchFamily="34" charset="-122"/>
                          <a:cs typeface="Arial" pitchFamily="34" charset="-120"/>
                        </a:rPr>
                        <a:t>Trips</a:t>
                      </a:r>
                      <a:endParaRPr lang="en-US" sz="125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3 · REQUIREMENTS</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Targeted Users</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15</a:t>
            </a:r>
            <a:endParaRPr lang="en-US" sz="1100" dirty="0"/>
          </a:p>
        </p:txBody>
      </p:sp>
      <p:sp>
        <p:nvSpPr>
          <p:cNvPr id="7" name="Shape 4"/>
          <p:cNvSpPr/>
          <p:nvPr/>
        </p:nvSpPr>
        <p:spPr>
          <a:xfrm>
            <a:off x="685800" y="1783080"/>
            <a:ext cx="3423818" cy="2743200"/>
          </a:xfrm>
          <a:prstGeom prst="roundRect">
            <a:avLst>
              <a:gd name="adj" fmla="val 2000"/>
            </a:avLst>
          </a:prstGeom>
          <a:solidFill>
            <a:srgbClr val="FFFFFF"/>
          </a:solidFill>
          <a:ln w="9525">
            <a:solidFill>
              <a:srgbClr val="D8CDB9"/>
            </a:solidFill>
            <a:prstDash val="solid"/>
          </a:ln>
        </p:spPr>
      </p:sp>
      <p:sp>
        <p:nvSpPr>
          <p:cNvPr id="8" name="Text 5"/>
          <p:cNvSpPr txBox="1"/>
          <p:nvPr/>
        </p:nvSpPr>
        <p:spPr>
          <a:xfrm>
            <a:off x="941832" y="1984248"/>
            <a:ext cx="2911754" cy="384048"/>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Student group</a:t>
            </a:r>
            <a:endParaRPr lang="en-US" sz="2000" dirty="0"/>
          </a:p>
        </p:txBody>
      </p:sp>
      <p:sp>
        <p:nvSpPr>
          <p:cNvPr id="9" name="Text 6"/>
          <p:cNvSpPr txBox="1"/>
          <p:nvPr/>
        </p:nvSpPr>
        <p:spPr>
          <a:xfrm>
            <a:off x="941832" y="2423160"/>
            <a:ext cx="291175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ECONOMY TIER · PACKED PACE</a:t>
            </a:r>
            <a:endParaRPr lang="en-US" sz="950" dirty="0"/>
          </a:p>
        </p:txBody>
      </p:sp>
      <p:sp>
        <p:nvSpPr>
          <p:cNvPr id="10" name="Text 7"/>
          <p:cNvSpPr txBox="1"/>
          <p:nvPr/>
        </p:nvSpPr>
        <p:spPr>
          <a:xfrm>
            <a:off x="941832" y="283464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NEED</a:t>
            </a:r>
            <a:endParaRPr lang="en-US" sz="950" dirty="0"/>
          </a:p>
        </p:txBody>
      </p:sp>
      <p:sp>
        <p:nvSpPr>
          <p:cNvPr id="11" name="Text 8"/>
          <p:cNvSpPr txBox="1"/>
          <p:nvPr/>
        </p:nvSpPr>
        <p:spPr>
          <a:xfrm>
            <a:off x="1691640" y="2807208"/>
            <a:ext cx="2161946" cy="6400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Needs the per-person cost before committing.</a:t>
            </a:r>
            <a:endParaRPr lang="en-US" sz="1250" dirty="0"/>
          </a:p>
        </p:txBody>
      </p:sp>
      <p:sp>
        <p:nvSpPr>
          <p:cNvPr id="12" name="Text 9"/>
          <p:cNvSpPr txBox="1"/>
          <p:nvPr/>
        </p:nvSpPr>
        <p:spPr>
          <a:xfrm>
            <a:off x="941832" y="361188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GETS</a:t>
            </a:r>
            <a:endParaRPr lang="en-US" sz="950" dirty="0"/>
          </a:p>
        </p:txBody>
      </p:sp>
      <p:sp>
        <p:nvSpPr>
          <p:cNvPr id="13" name="Text 10"/>
          <p:cNvSpPr txBox="1"/>
          <p:nvPr/>
        </p:nvSpPr>
        <p:spPr>
          <a:xfrm>
            <a:off x="1691640" y="3584448"/>
            <a:ext cx="2161946" cy="73152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Budget split per person; up to 12 travellers.</a:t>
            </a:r>
            <a:endParaRPr lang="en-US" sz="1250" dirty="0"/>
          </a:p>
        </p:txBody>
      </p:sp>
      <p:sp>
        <p:nvSpPr>
          <p:cNvPr id="14" name="Shape 11"/>
          <p:cNvSpPr/>
          <p:nvPr/>
        </p:nvSpPr>
        <p:spPr>
          <a:xfrm>
            <a:off x="4383938" y="1783080"/>
            <a:ext cx="3423818" cy="2743200"/>
          </a:xfrm>
          <a:prstGeom prst="roundRect">
            <a:avLst>
              <a:gd name="adj" fmla="val 2000"/>
            </a:avLst>
          </a:prstGeom>
          <a:solidFill>
            <a:srgbClr val="FFFFFF"/>
          </a:solidFill>
          <a:ln w="9525">
            <a:solidFill>
              <a:srgbClr val="D8CDB9"/>
            </a:solidFill>
            <a:prstDash val="solid"/>
          </a:ln>
        </p:spPr>
      </p:sp>
      <p:sp>
        <p:nvSpPr>
          <p:cNvPr id="15" name="Text 12"/>
          <p:cNvSpPr txBox="1"/>
          <p:nvPr/>
        </p:nvSpPr>
        <p:spPr>
          <a:xfrm>
            <a:off x="4639970" y="1984248"/>
            <a:ext cx="2911754" cy="384048"/>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Family on holiday</a:t>
            </a:r>
            <a:endParaRPr lang="en-US" sz="2000" dirty="0"/>
          </a:p>
        </p:txBody>
      </p:sp>
      <p:sp>
        <p:nvSpPr>
          <p:cNvPr id="16" name="Text 13"/>
          <p:cNvSpPr txBox="1"/>
          <p:nvPr/>
        </p:nvSpPr>
        <p:spPr>
          <a:xfrm>
            <a:off x="4639970" y="2423160"/>
            <a:ext cx="291175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STANDARD TIER · RELAXED PACE</a:t>
            </a:r>
            <a:endParaRPr lang="en-US" sz="950" dirty="0"/>
          </a:p>
        </p:txBody>
      </p:sp>
      <p:sp>
        <p:nvSpPr>
          <p:cNvPr id="17" name="Text 14"/>
          <p:cNvSpPr txBox="1"/>
          <p:nvPr/>
        </p:nvSpPr>
        <p:spPr>
          <a:xfrm>
            <a:off x="4639970" y="283464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NEED</a:t>
            </a:r>
            <a:endParaRPr lang="en-US" sz="950" dirty="0"/>
          </a:p>
        </p:txBody>
      </p:sp>
      <p:sp>
        <p:nvSpPr>
          <p:cNvPr id="18" name="Text 15"/>
          <p:cNvSpPr txBox="1"/>
          <p:nvPr/>
        </p:nvSpPr>
        <p:spPr>
          <a:xfrm>
            <a:off x="5389778" y="2807208"/>
            <a:ext cx="2161946" cy="6400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Wants short days and little road time.</a:t>
            </a:r>
            <a:endParaRPr lang="en-US" sz="1250" dirty="0"/>
          </a:p>
        </p:txBody>
      </p:sp>
      <p:sp>
        <p:nvSpPr>
          <p:cNvPr id="19" name="Text 16"/>
          <p:cNvSpPr txBox="1"/>
          <p:nvPr/>
        </p:nvSpPr>
        <p:spPr>
          <a:xfrm>
            <a:off x="4639970" y="361188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GETS</a:t>
            </a:r>
            <a:endParaRPr lang="en-US" sz="950" dirty="0"/>
          </a:p>
        </p:txBody>
      </p:sp>
      <p:sp>
        <p:nvSpPr>
          <p:cNvPr id="20" name="Text 17"/>
          <p:cNvSpPr txBox="1"/>
          <p:nvPr/>
        </p:nvSpPr>
        <p:spPr>
          <a:xfrm>
            <a:off x="5389778" y="3584448"/>
            <a:ext cx="2161946" cy="73152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6-hour days, nearby stops grouped together.</a:t>
            </a:r>
            <a:endParaRPr lang="en-US" sz="1250" dirty="0"/>
          </a:p>
        </p:txBody>
      </p:sp>
      <p:sp>
        <p:nvSpPr>
          <p:cNvPr id="21" name="Shape 18"/>
          <p:cNvSpPr/>
          <p:nvPr/>
        </p:nvSpPr>
        <p:spPr>
          <a:xfrm>
            <a:off x="8082077" y="1783080"/>
            <a:ext cx="3423818" cy="2743200"/>
          </a:xfrm>
          <a:prstGeom prst="roundRect">
            <a:avLst>
              <a:gd name="adj" fmla="val 2000"/>
            </a:avLst>
          </a:prstGeom>
          <a:solidFill>
            <a:srgbClr val="FFFFFF"/>
          </a:solidFill>
          <a:ln w="9525">
            <a:solidFill>
              <a:srgbClr val="D8CDB9"/>
            </a:solidFill>
            <a:prstDash val="solid"/>
          </a:ln>
        </p:spPr>
      </p:sp>
      <p:sp>
        <p:nvSpPr>
          <p:cNvPr id="22" name="Text 19"/>
          <p:cNvSpPr txBox="1"/>
          <p:nvPr/>
        </p:nvSpPr>
        <p:spPr>
          <a:xfrm>
            <a:off x="8338109" y="1984248"/>
            <a:ext cx="2911754" cy="384048"/>
          </a:xfrm>
          <a:prstGeom prst="rect">
            <a:avLst/>
          </a:prstGeom>
          <a:noFill/>
          <a:ln/>
        </p:spPr>
        <p:txBody>
          <a:bodyPr wrap="square" lIns="0" tIns="0" rIns="0" bIns="0" rtlCol="0" anchor="t"/>
          <a:lstStyle/>
          <a:p>
            <a:pPr indent="0" marL="0">
              <a:buNone/>
            </a:pPr>
            <a:r>
              <a:rPr lang="en-US" sz="2000" dirty="0">
                <a:solidFill>
                  <a:srgbClr val="1F2A33"/>
                </a:solidFill>
                <a:latin typeface="Georgia" pitchFamily="34" charset="0"/>
                <a:ea typeface="Georgia" pitchFamily="34" charset="-122"/>
                <a:cs typeface="Georgia" pitchFamily="34" charset="-120"/>
              </a:rPr>
              <a:t>First-time visitor</a:t>
            </a:r>
            <a:endParaRPr lang="en-US" sz="2000" dirty="0"/>
          </a:p>
        </p:txBody>
      </p:sp>
      <p:sp>
        <p:nvSpPr>
          <p:cNvPr id="23" name="Text 20"/>
          <p:cNvSpPr txBox="1"/>
          <p:nvPr/>
        </p:nvSpPr>
        <p:spPr>
          <a:xfrm>
            <a:off x="8338109" y="2423160"/>
            <a:ext cx="2911754" cy="228600"/>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ANY TIER · BALANCED PACE</a:t>
            </a:r>
            <a:endParaRPr lang="en-US" sz="950" dirty="0"/>
          </a:p>
        </p:txBody>
      </p:sp>
      <p:sp>
        <p:nvSpPr>
          <p:cNvPr id="24" name="Text 21"/>
          <p:cNvSpPr txBox="1"/>
          <p:nvPr/>
        </p:nvSpPr>
        <p:spPr>
          <a:xfrm>
            <a:off x="8338109" y="283464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NEED</a:t>
            </a:r>
            <a:endParaRPr lang="en-US" sz="950" dirty="0"/>
          </a:p>
        </p:txBody>
      </p:sp>
      <p:sp>
        <p:nvSpPr>
          <p:cNvPr id="25" name="Text 22"/>
          <p:cNvSpPr txBox="1"/>
          <p:nvPr/>
        </p:nvSpPr>
        <p:spPr>
          <a:xfrm>
            <a:off x="9087917" y="2807208"/>
            <a:ext cx="2161946" cy="6400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Does not know what to see or how long it takes.</a:t>
            </a:r>
            <a:endParaRPr lang="en-US" sz="1250" dirty="0"/>
          </a:p>
        </p:txBody>
      </p:sp>
      <p:sp>
        <p:nvSpPr>
          <p:cNvPr id="26" name="Text 23"/>
          <p:cNvSpPr txBox="1"/>
          <p:nvPr/>
        </p:nvSpPr>
        <p:spPr>
          <a:xfrm>
            <a:off x="8338109" y="3611880"/>
            <a:ext cx="822960" cy="228600"/>
          </a:xfrm>
          <a:prstGeom prst="rect">
            <a:avLst/>
          </a:prstGeom>
          <a:noFill/>
          <a:ln/>
        </p:spPr>
        <p:txBody>
          <a:bodyPr wrap="square" lIns="0" tIns="0" rIns="0" bIns="0" rtlCol="0" anchor="t"/>
          <a:lstStyle/>
          <a:p>
            <a:pPr indent="0" marL="0">
              <a:buNone/>
            </a:pPr>
            <a:r>
              <a:rPr lang="en-US" sz="950" b="1" spc="200" kern="0" dirty="0">
                <a:solidFill>
                  <a:srgbClr val="6A6F73"/>
                </a:solidFill>
                <a:latin typeface="Arial" pitchFamily="34" charset="0"/>
                <a:ea typeface="Arial" pitchFamily="34" charset="-122"/>
                <a:cs typeface="Arial" pitchFamily="34" charset="-120"/>
              </a:rPr>
              <a:t>GETS</a:t>
            </a:r>
            <a:endParaRPr lang="en-US" sz="950" dirty="0"/>
          </a:p>
        </p:txBody>
      </p:sp>
      <p:sp>
        <p:nvSpPr>
          <p:cNvPr id="27" name="Text 24"/>
          <p:cNvSpPr txBox="1"/>
          <p:nvPr/>
        </p:nvSpPr>
        <p:spPr>
          <a:xfrm>
            <a:off x="9087917" y="3584448"/>
            <a:ext cx="2161946" cy="73152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Curated activities with duration, fee and best time.</a:t>
            </a:r>
            <a:endParaRPr lang="en-US" sz="1250" dirty="0"/>
          </a:p>
        </p:txBody>
      </p:sp>
      <p:sp>
        <p:nvSpPr>
          <p:cNvPr id="28" name="Shape 25"/>
          <p:cNvSpPr/>
          <p:nvPr/>
        </p:nvSpPr>
        <p:spPr>
          <a:xfrm>
            <a:off x="685800" y="4800600"/>
            <a:ext cx="5272888" cy="1143000"/>
          </a:xfrm>
          <a:prstGeom prst="roundRect">
            <a:avLst>
              <a:gd name="adj" fmla="val 4800"/>
            </a:avLst>
          </a:prstGeom>
          <a:solidFill>
            <a:srgbClr val="ECE4D4"/>
          </a:solidFill>
          <a:ln/>
        </p:spPr>
      </p:sp>
      <p:sp>
        <p:nvSpPr>
          <p:cNvPr id="29" name="Text 26"/>
          <p:cNvSpPr txBox="1"/>
          <p:nvPr/>
        </p:nvSpPr>
        <p:spPr>
          <a:xfrm>
            <a:off x="941832" y="4956048"/>
            <a:ext cx="1097280" cy="201168"/>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ROLE 1</a:t>
            </a:r>
            <a:endParaRPr lang="en-US" sz="950" dirty="0"/>
          </a:p>
        </p:txBody>
      </p:sp>
      <p:sp>
        <p:nvSpPr>
          <p:cNvPr id="30" name="Text 27"/>
          <p:cNvSpPr txBox="1"/>
          <p:nvPr/>
        </p:nvSpPr>
        <p:spPr>
          <a:xfrm>
            <a:off x="941832" y="5184648"/>
            <a:ext cx="2011680" cy="640080"/>
          </a:xfrm>
          <a:prstGeom prst="rect">
            <a:avLst/>
          </a:prstGeom>
          <a:noFill/>
          <a:ln/>
        </p:spPr>
        <p:txBody>
          <a:bodyPr wrap="square" lIns="0" tIns="0" rIns="0" bIns="0" rtlCol="0" anchor="t"/>
          <a:lstStyle/>
          <a:p>
            <a:pPr indent="0" marL="0">
              <a:buNone/>
            </a:pPr>
            <a:r>
              <a:rPr lang="en-US" sz="1700" dirty="0">
                <a:solidFill>
                  <a:srgbClr val="1F2A33"/>
                </a:solidFill>
                <a:latin typeface="Georgia" pitchFamily="34" charset="0"/>
                <a:ea typeface="Georgia" pitchFamily="34" charset="-122"/>
                <a:cs typeface="Georgia" pitchFamily="34" charset="-120"/>
              </a:rPr>
              <a:t>Guest</a:t>
            </a:r>
            <a:endParaRPr lang="en-US" sz="1700" dirty="0"/>
          </a:p>
        </p:txBody>
      </p:sp>
      <p:sp>
        <p:nvSpPr>
          <p:cNvPr id="31" name="Text 28"/>
          <p:cNvSpPr txBox="1"/>
          <p:nvPr/>
        </p:nvSpPr>
        <p:spPr>
          <a:xfrm>
            <a:off x="2971800" y="4800600"/>
            <a:ext cx="2712568" cy="114300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No account. Browses destinations, opens details, generates and previews a plan.</a:t>
            </a:r>
            <a:endParaRPr lang="en-US" sz="1250" dirty="0"/>
          </a:p>
        </p:txBody>
      </p:sp>
      <p:sp>
        <p:nvSpPr>
          <p:cNvPr id="32" name="Shape 29"/>
          <p:cNvSpPr/>
          <p:nvPr/>
        </p:nvSpPr>
        <p:spPr>
          <a:xfrm>
            <a:off x="6233008" y="4800600"/>
            <a:ext cx="5272888" cy="1143000"/>
          </a:xfrm>
          <a:prstGeom prst="roundRect">
            <a:avLst>
              <a:gd name="adj" fmla="val 4800"/>
            </a:avLst>
          </a:prstGeom>
          <a:solidFill>
            <a:srgbClr val="ECE4D4"/>
          </a:solidFill>
          <a:ln/>
        </p:spPr>
      </p:sp>
      <p:sp>
        <p:nvSpPr>
          <p:cNvPr id="33" name="Text 30"/>
          <p:cNvSpPr txBox="1"/>
          <p:nvPr/>
        </p:nvSpPr>
        <p:spPr>
          <a:xfrm>
            <a:off x="6489040" y="4956048"/>
            <a:ext cx="1097280" cy="201168"/>
          </a:xfrm>
          <a:prstGeom prst="rect">
            <a:avLst/>
          </a:prstGeom>
          <a:noFill/>
          <a:ln/>
        </p:spPr>
        <p:txBody>
          <a:bodyPr wrap="square" lIns="0" tIns="0" rIns="0" bIns="0" rtlCol="0" anchor="t"/>
          <a:lstStyle/>
          <a:p>
            <a:pPr indent="0" marL="0">
              <a:buNone/>
            </a:pPr>
            <a:r>
              <a:rPr lang="en-US" sz="950" b="1" spc="200" kern="0" dirty="0">
                <a:solidFill>
                  <a:srgbClr val="B4532A"/>
                </a:solidFill>
                <a:latin typeface="Arial" pitchFamily="34" charset="0"/>
                <a:ea typeface="Arial" pitchFamily="34" charset="-122"/>
                <a:cs typeface="Arial" pitchFamily="34" charset="-120"/>
              </a:rPr>
              <a:t>ROLE 2</a:t>
            </a:r>
            <a:endParaRPr lang="en-US" sz="950" dirty="0"/>
          </a:p>
        </p:txBody>
      </p:sp>
      <p:sp>
        <p:nvSpPr>
          <p:cNvPr id="34" name="Text 31"/>
          <p:cNvSpPr txBox="1"/>
          <p:nvPr/>
        </p:nvSpPr>
        <p:spPr>
          <a:xfrm>
            <a:off x="6489040" y="5184648"/>
            <a:ext cx="2011680" cy="640080"/>
          </a:xfrm>
          <a:prstGeom prst="rect">
            <a:avLst/>
          </a:prstGeom>
          <a:noFill/>
          <a:ln/>
        </p:spPr>
        <p:txBody>
          <a:bodyPr wrap="square" lIns="0" tIns="0" rIns="0" bIns="0" rtlCol="0" anchor="t"/>
          <a:lstStyle/>
          <a:p>
            <a:pPr indent="0" marL="0">
              <a:buNone/>
            </a:pPr>
            <a:r>
              <a:rPr lang="en-US" sz="1700" dirty="0">
                <a:solidFill>
                  <a:srgbClr val="1F2A33"/>
                </a:solidFill>
                <a:latin typeface="Georgia" pitchFamily="34" charset="0"/>
                <a:ea typeface="Georgia" pitchFamily="34" charset="-122"/>
                <a:cs typeface="Georgia" pitchFamily="34" charset="-120"/>
              </a:rPr>
              <a:t>Registered traveller</a:t>
            </a:r>
            <a:endParaRPr lang="en-US" sz="1700" dirty="0"/>
          </a:p>
        </p:txBody>
      </p:sp>
      <p:sp>
        <p:nvSpPr>
          <p:cNvPr id="35" name="Text 32"/>
          <p:cNvSpPr txBox="1"/>
          <p:nvPr/>
        </p:nvSpPr>
        <p:spPr>
          <a:xfrm>
            <a:off x="8519008" y="4800600"/>
            <a:ext cx="2712568" cy="1143000"/>
          </a:xfrm>
          <a:prstGeom prst="rect">
            <a:avLst/>
          </a:prstGeom>
          <a:noFill/>
          <a:ln/>
        </p:spPr>
        <p:txBody>
          <a:bodyPr wrap="square" lIns="0" tIns="0" rIns="0" bIns="0" rtlCol="0" anchor="ctr"/>
          <a:lstStyle/>
          <a:p>
            <a:pPr indent="0" marL="0">
              <a:buNone/>
            </a:pPr>
            <a:r>
              <a:rPr lang="en-US" sz="1250" dirty="0">
                <a:solidFill>
                  <a:srgbClr val="3D4852"/>
                </a:solidFill>
                <a:latin typeface="Arial" pitchFamily="34" charset="0"/>
                <a:ea typeface="Arial" pitchFamily="34" charset="-122"/>
                <a:cs typeface="Arial" pitchFamily="34" charset="-120"/>
              </a:rPr>
              <a:t>Logged in. Everything a guest can do, plus save to My Trips, add notes, change status, delete.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Use Case Diagram</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16</a:t>
            </a:r>
            <a:endParaRPr lang="en-US" sz="1100" dirty="0"/>
          </a:p>
        </p:txBody>
      </p:sp>
      <p:sp>
        <p:nvSpPr>
          <p:cNvPr id="7" name="Shape 4"/>
          <p:cNvSpPr/>
          <p:nvPr/>
        </p:nvSpPr>
        <p:spPr>
          <a:xfrm>
            <a:off x="685800" y="1325880"/>
            <a:ext cx="3900836" cy="4846320"/>
          </a:xfrm>
          <a:prstGeom prst="roundRect">
            <a:avLst>
              <a:gd name="adj" fmla="val 1406"/>
            </a:avLst>
          </a:prstGeom>
          <a:solidFill>
            <a:srgbClr val="FFFFFF"/>
          </a:solidFill>
          <a:ln w="9525">
            <a:solidFill>
              <a:srgbClr val="D8CDB9"/>
            </a:solidFill>
            <a:prstDash val="solid"/>
          </a:ln>
        </p:spPr>
      </p:sp>
      <p:pic>
        <p:nvPicPr>
          <p:cNvPr id="8" name="Image 0" descr="Use Case Diagram (use-case.png)">    </p:cNvPr>
          <p:cNvPicPr>
            <a:picLocks noChangeAspect="1"/>
          </p:cNvPicPr>
          <p:nvPr/>
        </p:nvPicPr>
        <p:blipFill>
          <a:blip r:embed="rId1"/>
          <a:stretch>
            <a:fillRect/>
          </a:stretch>
        </p:blipFill>
        <p:spPr>
          <a:xfrm>
            <a:off x="813816" y="1453896"/>
            <a:ext cx="3644804" cy="4590288"/>
          </a:xfrm>
          <a:prstGeom prst="rect">
            <a:avLst/>
          </a:prstGeom>
        </p:spPr>
      </p:pic>
      <p:sp>
        <p:nvSpPr>
          <p:cNvPr id="9" name="Text 5"/>
          <p:cNvSpPr txBox="1"/>
          <p:nvPr/>
        </p:nvSpPr>
        <p:spPr>
          <a:xfrm>
            <a:off x="5043836" y="1417320"/>
            <a:ext cx="6462059" cy="228600"/>
          </a:xfrm>
          <a:prstGeom prst="rect">
            <a:avLst/>
          </a:prstGeom>
          <a:noFill/>
          <a:ln/>
        </p:spPr>
        <p:txBody>
          <a:bodyPr wrap="square" lIns="0" tIns="0" rIns="0" bIns="0" rtlCol="0" anchor="t"/>
          <a:lstStyle/>
          <a:p>
            <a:pPr indent="0" marL="0">
              <a:buNone/>
            </a:pPr>
            <a:r>
              <a:rPr lang="en-US" sz="1000" b="1" spc="300" kern="0" dirty="0">
                <a:solidFill>
                  <a:srgbClr val="B4532A"/>
                </a:solidFill>
                <a:latin typeface="Arial" pitchFamily="34" charset="0"/>
                <a:ea typeface="Arial" pitchFamily="34" charset="-122"/>
                <a:cs typeface="Arial" pitchFamily="34" charset="-120"/>
              </a:rPr>
              <a:t>WHAT TO NOTICE</a:t>
            </a:r>
            <a:endParaRPr lang="en-US" sz="1000" dirty="0"/>
          </a:p>
        </p:txBody>
      </p:sp>
      <p:sp>
        <p:nvSpPr>
          <p:cNvPr id="10" name="Text 6"/>
          <p:cNvSpPr txBox="1"/>
          <p:nvPr/>
        </p:nvSpPr>
        <p:spPr>
          <a:xfrm>
            <a:off x="5043836" y="1783080"/>
            <a:ext cx="6462059" cy="1371600"/>
          </a:xfrm>
          <a:prstGeom prst="rect">
            <a:avLst/>
          </a:prstGeom>
          <a:noFill/>
          <a:ln/>
        </p:spPr>
        <p:txBody>
          <a:bodyPr wrap="square" lIns="0" tIns="0" rIns="0" bIns="0" rtlCol="0" anchor="t"/>
          <a:lstStyle/>
          <a:p>
            <a:pPr indent="0" marL="0">
              <a:buNone/>
            </a:pPr>
            <a:r>
              <a:rPr lang="en-US" sz="1900" dirty="0">
                <a:solidFill>
                  <a:srgbClr val="1F2A33"/>
                </a:solidFill>
                <a:latin typeface="Georgia" pitchFamily="34" charset="0"/>
                <a:ea typeface="Georgia" pitchFamily="34" charset="-122"/>
                <a:cs typeface="Georgia" pitchFamily="34" charset="-120"/>
              </a:rPr>
              <a:t>A guest can browse and preview a plan; saving and managing trips require a registered traveller.</a:t>
            </a:r>
            <a:endParaRPr lang="en-US" sz="1900" dirty="0"/>
          </a:p>
        </p:txBody>
      </p:sp>
      <p:sp>
        <p:nvSpPr>
          <p:cNvPr id="11" name="Shape 7"/>
          <p:cNvSpPr/>
          <p:nvPr/>
        </p:nvSpPr>
        <p:spPr>
          <a:xfrm>
            <a:off x="5043836" y="3246120"/>
            <a:ext cx="310896" cy="310896"/>
          </a:xfrm>
          <a:prstGeom prst="ellipse">
            <a:avLst/>
          </a:prstGeom>
          <a:solidFill>
            <a:srgbClr val="B4532A"/>
          </a:solidFill>
          <a:ln/>
        </p:spPr>
      </p:sp>
      <p:sp>
        <p:nvSpPr>
          <p:cNvPr id="12" name="Text 8"/>
          <p:cNvSpPr txBox="1"/>
          <p:nvPr/>
        </p:nvSpPr>
        <p:spPr>
          <a:xfrm>
            <a:off x="5043836" y="32461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13" name="Text 9"/>
          <p:cNvSpPr txBox="1"/>
          <p:nvPr/>
        </p:nvSpPr>
        <p:spPr>
          <a:xfrm>
            <a:off x="5546756" y="3246120"/>
            <a:ext cx="5959139"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Registered Traveller inherits every use case of the Guest.</a:t>
            </a:r>
            <a:endParaRPr lang="en-US" sz="1400" dirty="0"/>
          </a:p>
        </p:txBody>
      </p:sp>
      <p:sp>
        <p:nvSpPr>
          <p:cNvPr id="14" name="Shape 10"/>
          <p:cNvSpPr/>
          <p:nvPr/>
        </p:nvSpPr>
        <p:spPr>
          <a:xfrm>
            <a:off x="5043836" y="4114800"/>
            <a:ext cx="310896" cy="310896"/>
          </a:xfrm>
          <a:prstGeom prst="ellipse">
            <a:avLst/>
          </a:prstGeom>
          <a:solidFill>
            <a:srgbClr val="B4532A"/>
          </a:solidFill>
          <a:ln/>
        </p:spPr>
      </p:sp>
      <p:sp>
        <p:nvSpPr>
          <p:cNvPr id="15" name="Text 11"/>
          <p:cNvSpPr txBox="1"/>
          <p:nvPr/>
        </p:nvSpPr>
        <p:spPr>
          <a:xfrm>
            <a:off x="5043836"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a:t>
            </a:r>
            <a:endParaRPr lang="en-US" sz="1100" dirty="0"/>
          </a:p>
        </p:txBody>
      </p:sp>
      <p:sp>
        <p:nvSpPr>
          <p:cNvPr id="16" name="Text 12"/>
          <p:cNvSpPr txBox="1"/>
          <p:nvPr/>
        </p:nvSpPr>
        <p:spPr>
          <a:xfrm>
            <a:off x="5546756" y="4114800"/>
            <a:ext cx="5959139"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Plan trip includes Generate itinerary and Estimate budget.</a:t>
            </a:r>
            <a:endParaRPr lang="en-US" sz="1400" dirty="0"/>
          </a:p>
        </p:txBody>
      </p:sp>
      <p:sp>
        <p:nvSpPr>
          <p:cNvPr id="17" name="Shape 13"/>
          <p:cNvSpPr/>
          <p:nvPr/>
        </p:nvSpPr>
        <p:spPr>
          <a:xfrm>
            <a:off x="5043836" y="4983480"/>
            <a:ext cx="310896" cy="310896"/>
          </a:xfrm>
          <a:prstGeom prst="ellipse">
            <a:avLst/>
          </a:prstGeom>
          <a:solidFill>
            <a:srgbClr val="B4532A"/>
          </a:solidFill>
          <a:ln/>
        </p:spPr>
      </p:sp>
      <p:sp>
        <p:nvSpPr>
          <p:cNvPr id="18" name="Text 14"/>
          <p:cNvSpPr txBox="1"/>
          <p:nvPr/>
        </p:nvSpPr>
        <p:spPr>
          <a:xfrm>
            <a:off x="5043836" y="4983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3</a:t>
            </a:r>
            <a:endParaRPr lang="en-US" sz="1100" dirty="0"/>
          </a:p>
        </p:txBody>
      </p:sp>
      <p:sp>
        <p:nvSpPr>
          <p:cNvPr id="19" name="Text 15"/>
          <p:cNvSpPr txBox="1"/>
          <p:nvPr/>
        </p:nvSpPr>
        <p:spPr>
          <a:xfrm>
            <a:off x="5546756" y="4983480"/>
            <a:ext cx="5959139"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Save trip extends Plan trip only when logged in. The Places and Route APIs are external actors.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Activity Diagram — Plan a Trip</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17</a:t>
            </a:r>
            <a:endParaRPr lang="en-US" sz="1100" dirty="0"/>
          </a:p>
        </p:txBody>
      </p:sp>
      <p:sp>
        <p:nvSpPr>
          <p:cNvPr id="7" name="Shape 4"/>
          <p:cNvSpPr/>
          <p:nvPr/>
        </p:nvSpPr>
        <p:spPr>
          <a:xfrm>
            <a:off x="685800" y="1325880"/>
            <a:ext cx="10820095" cy="4462272"/>
          </a:xfrm>
          <a:prstGeom prst="roundRect">
            <a:avLst>
              <a:gd name="adj" fmla="val 1230"/>
            </a:avLst>
          </a:prstGeom>
          <a:solidFill>
            <a:srgbClr val="FFFFFF"/>
          </a:solidFill>
          <a:ln w="9525">
            <a:solidFill>
              <a:srgbClr val="D8CDB9"/>
            </a:solidFill>
            <a:prstDash val="solid"/>
          </a:ln>
        </p:spPr>
      </p:sp>
      <p:pic>
        <p:nvPicPr>
          <p:cNvPr id="8" name="Image 0" descr="Activity Diagram — Plan a Trip (activity-plan-trip-part1-preview.png)">    </p:cNvPr>
          <p:cNvPicPr>
            <a:picLocks noChangeAspect="1"/>
          </p:cNvPicPr>
          <p:nvPr/>
        </p:nvPicPr>
        <p:blipFill>
          <a:blip r:embed="rId1"/>
          <a:stretch>
            <a:fillRect/>
          </a:stretch>
        </p:blipFill>
        <p:spPr>
          <a:xfrm>
            <a:off x="2297680" y="1453896"/>
            <a:ext cx="3159931" cy="4206240"/>
          </a:xfrm>
          <a:prstGeom prst="rect">
            <a:avLst/>
          </a:prstGeom>
        </p:spPr>
      </p:pic>
      <p:sp>
        <p:nvSpPr>
          <p:cNvPr id="9" name="Shape 5"/>
          <p:cNvSpPr/>
          <p:nvPr/>
        </p:nvSpPr>
        <p:spPr>
          <a:xfrm>
            <a:off x="5617632" y="1600200"/>
            <a:ext cx="0" cy="3913632"/>
          </a:xfrm>
          <a:prstGeom prst="line">
            <a:avLst/>
          </a:prstGeom>
          <a:noFill/>
          <a:ln w="9525">
            <a:solidFill>
              <a:srgbClr val="D8CDB9"/>
            </a:solidFill>
            <a:prstDash val="dash"/>
          </a:ln>
        </p:spPr>
      </p:sp>
      <p:pic>
        <p:nvPicPr>
          <p:cNvPr id="10" name="Image 1" descr="Activity Diagram — Plan a Trip (activity-plan-trip-part2-save.png)">    </p:cNvPr>
          <p:cNvPicPr>
            <a:picLocks noChangeAspect="1"/>
          </p:cNvPicPr>
          <p:nvPr/>
        </p:nvPicPr>
        <p:blipFill>
          <a:blip r:embed="rId2"/>
          <a:stretch>
            <a:fillRect/>
          </a:stretch>
        </p:blipFill>
        <p:spPr>
          <a:xfrm>
            <a:off x="5777652" y="1453896"/>
            <a:ext cx="4116363" cy="4206240"/>
          </a:xfrm>
          <a:prstGeom prst="rect">
            <a:avLst/>
          </a:prstGeom>
        </p:spPr>
      </p:pic>
      <p:sp>
        <p:nvSpPr>
          <p:cNvPr id="11" name="Text 6"/>
          <p:cNvSpPr txBox="1"/>
          <p:nvPr/>
        </p:nvSpPr>
        <p:spPr>
          <a:xfrm>
            <a:off x="685800" y="5879592"/>
            <a:ext cx="10820095" cy="274320"/>
          </a:xfrm>
          <a:prstGeom prst="rect">
            <a:avLst/>
          </a:prstGeom>
          <a:noFill/>
          <a:ln/>
        </p:spPr>
        <p:txBody>
          <a:bodyPr wrap="square" lIns="0" tIns="0" rIns="0" bIns="0" rtlCol="0" anchor="t"/>
          <a:lstStyle/>
          <a:p>
            <a:pPr indent="0" marL="0">
              <a:buNone/>
            </a:pPr>
            <a:r>
              <a:rPr lang="en-US" sz="1250" i="1" dirty="0">
                <a:solidFill>
                  <a:srgbClr val="3D4852"/>
                </a:solidFill>
                <a:latin typeface="Arial" pitchFamily="34" charset="0"/>
                <a:ea typeface="Arial" pitchFamily="34" charset="-122"/>
                <a:cs typeface="Arial" pitchFamily="34" charset="-120"/>
              </a:rPr>
              <a:t>From choosing a destination to a saved trip, including validation and the login detour on Save.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Activity Diagram — Register and Login</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18</a:t>
            </a:r>
            <a:endParaRPr lang="en-US" sz="1100" dirty="0"/>
          </a:p>
        </p:txBody>
      </p:sp>
      <p:sp>
        <p:nvSpPr>
          <p:cNvPr id="7" name="Shape 4"/>
          <p:cNvSpPr/>
          <p:nvPr/>
        </p:nvSpPr>
        <p:spPr>
          <a:xfrm>
            <a:off x="685800" y="1325880"/>
            <a:ext cx="5014439" cy="4846320"/>
          </a:xfrm>
          <a:prstGeom prst="roundRect">
            <a:avLst>
              <a:gd name="adj" fmla="val 1132"/>
            </a:avLst>
          </a:prstGeom>
          <a:solidFill>
            <a:srgbClr val="FFFFFF"/>
          </a:solidFill>
          <a:ln w="9525">
            <a:solidFill>
              <a:srgbClr val="D8CDB9"/>
            </a:solidFill>
            <a:prstDash val="solid"/>
          </a:ln>
        </p:spPr>
      </p:sp>
      <p:pic>
        <p:nvPicPr>
          <p:cNvPr id="8" name="Image 0" descr="Activity Diagram — Register and Login (activity-auth.png)">    </p:cNvPr>
          <p:cNvPicPr>
            <a:picLocks noChangeAspect="1"/>
          </p:cNvPicPr>
          <p:nvPr/>
        </p:nvPicPr>
        <p:blipFill>
          <a:blip r:embed="rId1"/>
          <a:stretch>
            <a:fillRect/>
          </a:stretch>
        </p:blipFill>
        <p:spPr>
          <a:xfrm>
            <a:off x="813816" y="1453896"/>
            <a:ext cx="4758407" cy="4590288"/>
          </a:xfrm>
          <a:prstGeom prst="rect">
            <a:avLst/>
          </a:prstGeom>
        </p:spPr>
      </p:pic>
      <p:sp>
        <p:nvSpPr>
          <p:cNvPr id="9" name="Text 5"/>
          <p:cNvSpPr txBox="1"/>
          <p:nvPr/>
        </p:nvSpPr>
        <p:spPr>
          <a:xfrm>
            <a:off x="6157439" y="1417320"/>
            <a:ext cx="5348456" cy="228600"/>
          </a:xfrm>
          <a:prstGeom prst="rect">
            <a:avLst/>
          </a:prstGeom>
          <a:noFill/>
          <a:ln/>
        </p:spPr>
        <p:txBody>
          <a:bodyPr wrap="square" lIns="0" tIns="0" rIns="0" bIns="0" rtlCol="0" anchor="t"/>
          <a:lstStyle/>
          <a:p>
            <a:pPr indent="0" marL="0">
              <a:buNone/>
            </a:pPr>
            <a:r>
              <a:rPr lang="en-US" sz="1000" b="1" spc="300" kern="0" dirty="0">
                <a:solidFill>
                  <a:srgbClr val="B4532A"/>
                </a:solidFill>
                <a:latin typeface="Arial" pitchFamily="34" charset="0"/>
                <a:ea typeface="Arial" pitchFamily="34" charset="-122"/>
                <a:cs typeface="Arial" pitchFamily="34" charset="-120"/>
              </a:rPr>
              <a:t>WHAT TO NOTICE</a:t>
            </a:r>
            <a:endParaRPr lang="en-US" sz="1000" dirty="0"/>
          </a:p>
        </p:txBody>
      </p:sp>
      <p:sp>
        <p:nvSpPr>
          <p:cNvPr id="10" name="Text 6"/>
          <p:cNvSpPr txBox="1"/>
          <p:nvPr/>
        </p:nvSpPr>
        <p:spPr>
          <a:xfrm>
            <a:off x="6157439" y="1783080"/>
            <a:ext cx="5348456" cy="1371600"/>
          </a:xfrm>
          <a:prstGeom prst="rect">
            <a:avLst/>
          </a:prstGeom>
          <a:noFill/>
          <a:ln/>
        </p:spPr>
        <p:txBody>
          <a:bodyPr wrap="square" lIns="0" tIns="0" rIns="0" bIns="0" rtlCol="0" anchor="t"/>
          <a:lstStyle/>
          <a:p>
            <a:pPr indent="0" marL="0">
              <a:buNone/>
            </a:pPr>
            <a:r>
              <a:rPr lang="en-US" sz="1900" dirty="0">
                <a:solidFill>
                  <a:srgbClr val="1F2A33"/>
                </a:solidFill>
                <a:latin typeface="Georgia" pitchFamily="34" charset="0"/>
                <a:ea typeface="Georgia" pitchFamily="34" charset="-122"/>
                <a:cs typeface="Georgia" pitchFamily="34" charset="-120"/>
              </a:rPr>
              <a:t>Registration and login share one outcome: a JWT stored on the client and a return to the page the user came from.</a:t>
            </a:r>
            <a:endParaRPr lang="en-US" sz="1900" dirty="0"/>
          </a:p>
        </p:txBody>
      </p:sp>
      <p:sp>
        <p:nvSpPr>
          <p:cNvPr id="11" name="Shape 7"/>
          <p:cNvSpPr/>
          <p:nvPr/>
        </p:nvSpPr>
        <p:spPr>
          <a:xfrm>
            <a:off x="6157439" y="3246120"/>
            <a:ext cx="310896" cy="310896"/>
          </a:xfrm>
          <a:prstGeom prst="ellipse">
            <a:avLst/>
          </a:prstGeom>
          <a:solidFill>
            <a:srgbClr val="B4532A"/>
          </a:solidFill>
          <a:ln/>
        </p:spPr>
      </p:sp>
      <p:sp>
        <p:nvSpPr>
          <p:cNvPr id="12" name="Text 8"/>
          <p:cNvSpPr txBox="1"/>
          <p:nvPr/>
        </p:nvSpPr>
        <p:spPr>
          <a:xfrm>
            <a:off x="6157439" y="32461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13" name="Text 9"/>
          <p:cNvSpPr txBox="1"/>
          <p:nvPr/>
        </p:nvSpPr>
        <p:spPr>
          <a:xfrm>
            <a:off x="6660359" y="3246120"/>
            <a:ext cx="4845536"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Duplicate email ends in a conflict message, not a crash.</a:t>
            </a:r>
            <a:endParaRPr lang="en-US" sz="1400" dirty="0"/>
          </a:p>
        </p:txBody>
      </p:sp>
      <p:sp>
        <p:nvSpPr>
          <p:cNvPr id="14" name="Shape 10"/>
          <p:cNvSpPr/>
          <p:nvPr/>
        </p:nvSpPr>
        <p:spPr>
          <a:xfrm>
            <a:off x="6157439" y="4114800"/>
            <a:ext cx="310896" cy="310896"/>
          </a:xfrm>
          <a:prstGeom prst="ellipse">
            <a:avLst/>
          </a:prstGeom>
          <a:solidFill>
            <a:srgbClr val="B4532A"/>
          </a:solidFill>
          <a:ln/>
        </p:spPr>
      </p:sp>
      <p:sp>
        <p:nvSpPr>
          <p:cNvPr id="15" name="Text 11"/>
          <p:cNvSpPr txBox="1"/>
          <p:nvPr/>
        </p:nvSpPr>
        <p:spPr>
          <a:xfrm>
            <a:off x="6157439"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a:t>
            </a:r>
            <a:endParaRPr lang="en-US" sz="1100" dirty="0"/>
          </a:p>
        </p:txBody>
      </p:sp>
      <p:sp>
        <p:nvSpPr>
          <p:cNvPr id="16" name="Text 12"/>
          <p:cNvSpPr txBox="1"/>
          <p:nvPr/>
        </p:nvSpPr>
        <p:spPr>
          <a:xfrm>
            <a:off x="6660359" y="4114800"/>
            <a:ext cx="4845536"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Wrong credentials give one generic error.</a:t>
            </a:r>
            <a:endParaRPr lang="en-US" sz="1400" dirty="0"/>
          </a:p>
        </p:txBody>
      </p:sp>
      <p:sp>
        <p:nvSpPr>
          <p:cNvPr id="17" name="Shape 13"/>
          <p:cNvSpPr/>
          <p:nvPr/>
        </p:nvSpPr>
        <p:spPr>
          <a:xfrm>
            <a:off x="6157439" y="4983480"/>
            <a:ext cx="310896" cy="310896"/>
          </a:xfrm>
          <a:prstGeom prst="ellipse">
            <a:avLst/>
          </a:prstGeom>
          <a:solidFill>
            <a:srgbClr val="B4532A"/>
          </a:solidFill>
          <a:ln/>
        </p:spPr>
      </p:sp>
      <p:sp>
        <p:nvSpPr>
          <p:cNvPr id="18" name="Text 14"/>
          <p:cNvSpPr txBox="1"/>
          <p:nvPr/>
        </p:nvSpPr>
        <p:spPr>
          <a:xfrm>
            <a:off x="6157439" y="4983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3</a:t>
            </a:r>
            <a:endParaRPr lang="en-US" sz="1100" dirty="0"/>
          </a:p>
        </p:txBody>
      </p:sp>
      <p:sp>
        <p:nvSpPr>
          <p:cNvPr id="19" name="Text 15"/>
          <p:cNvSpPr txBox="1"/>
          <p:nvPr/>
        </p:nvSpPr>
        <p:spPr>
          <a:xfrm>
            <a:off x="6660359" y="4983480"/>
            <a:ext cx="4845536"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After success the user returns to the page that asked for login.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Interaction Diagram — Plan and Save (Sequence)</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19</a:t>
            </a:r>
            <a:endParaRPr lang="en-US" sz="1100" dirty="0"/>
          </a:p>
        </p:txBody>
      </p:sp>
      <p:sp>
        <p:nvSpPr>
          <p:cNvPr id="7" name="Shape 4"/>
          <p:cNvSpPr/>
          <p:nvPr/>
        </p:nvSpPr>
        <p:spPr>
          <a:xfrm>
            <a:off x="685800" y="1325880"/>
            <a:ext cx="10820095" cy="4462272"/>
          </a:xfrm>
          <a:prstGeom prst="roundRect">
            <a:avLst>
              <a:gd name="adj" fmla="val 1230"/>
            </a:avLst>
          </a:prstGeom>
          <a:solidFill>
            <a:srgbClr val="FFFFFF"/>
          </a:solidFill>
          <a:ln w="9525">
            <a:solidFill>
              <a:srgbClr val="D8CDB9"/>
            </a:solidFill>
            <a:prstDash val="solid"/>
          </a:ln>
        </p:spPr>
      </p:sp>
      <p:pic>
        <p:nvPicPr>
          <p:cNvPr id="8" name="Image 0" descr="Interaction Diagram — Plan and Save (Sequence) (sequence-plan-preview.png)">    </p:cNvPr>
          <p:cNvPicPr>
            <a:picLocks noChangeAspect="1"/>
          </p:cNvPicPr>
          <p:nvPr/>
        </p:nvPicPr>
        <p:blipFill>
          <a:blip r:embed="rId1"/>
          <a:stretch>
            <a:fillRect/>
          </a:stretch>
        </p:blipFill>
        <p:spPr>
          <a:xfrm>
            <a:off x="813816" y="1568416"/>
            <a:ext cx="4866435" cy="3977199"/>
          </a:xfrm>
          <a:prstGeom prst="rect">
            <a:avLst/>
          </a:prstGeom>
        </p:spPr>
      </p:pic>
      <p:sp>
        <p:nvSpPr>
          <p:cNvPr id="9" name="Shape 5"/>
          <p:cNvSpPr/>
          <p:nvPr/>
        </p:nvSpPr>
        <p:spPr>
          <a:xfrm>
            <a:off x="5840271" y="1600200"/>
            <a:ext cx="0" cy="3913632"/>
          </a:xfrm>
          <a:prstGeom prst="line">
            <a:avLst/>
          </a:prstGeom>
          <a:noFill/>
          <a:ln w="9525">
            <a:solidFill>
              <a:srgbClr val="D8CDB9"/>
            </a:solidFill>
            <a:prstDash val="dash"/>
          </a:ln>
        </p:spPr>
      </p:sp>
      <p:pic>
        <p:nvPicPr>
          <p:cNvPr id="10" name="Image 1" descr="Interaction Diagram — Plan and Save (Sequence) (sequence-save-trip.png)">    </p:cNvPr>
          <p:cNvPicPr>
            <a:picLocks noChangeAspect="1"/>
          </p:cNvPicPr>
          <p:nvPr/>
        </p:nvPicPr>
        <p:blipFill>
          <a:blip r:embed="rId2"/>
          <a:stretch>
            <a:fillRect/>
          </a:stretch>
        </p:blipFill>
        <p:spPr>
          <a:xfrm>
            <a:off x="6000291" y="1568416"/>
            <a:ext cx="5377588" cy="3977199"/>
          </a:xfrm>
          <a:prstGeom prst="rect">
            <a:avLst/>
          </a:prstGeom>
        </p:spPr>
      </p:pic>
      <p:sp>
        <p:nvSpPr>
          <p:cNvPr id="11" name="Text 6"/>
          <p:cNvSpPr txBox="1"/>
          <p:nvPr/>
        </p:nvSpPr>
        <p:spPr>
          <a:xfrm>
            <a:off x="685800" y="5879592"/>
            <a:ext cx="10820095" cy="274320"/>
          </a:xfrm>
          <a:prstGeom prst="rect">
            <a:avLst/>
          </a:prstGeom>
          <a:noFill/>
          <a:ln/>
        </p:spPr>
        <p:txBody>
          <a:bodyPr wrap="square" lIns="0" tIns="0" rIns="0" bIns="0" rtlCol="0" anchor="t"/>
          <a:lstStyle/>
          <a:p>
            <a:pPr indent="0" marL="0">
              <a:buNone/>
            </a:pPr>
            <a:r>
              <a:rPr lang="en-US" sz="1250" i="1" dirty="0">
                <a:solidFill>
                  <a:srgbClr val="3D4852"/>
                </a:solidFill>
                <a:latin typeface="Arial" pitchFamily="34" charset="0"/>
                <a:ea typeface="Arial" pitchFamily="34" charset="-122"/>
                <a:cs typeface="Arial" pitchFamily="34" charset="-120"/>
              </a:rPr>
              <a:t>Preview is public; on Save the server recomputes the itinerary and budget before writing the trip.</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Interaction Diagram — Login (Sequence)</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20</a:t>
            </a:r>
            <a:endParaRPr lang="en-US" sz="1100" dirty="0"/>
          </a:p>
        </p:txBody>
      </p:sp>
      <p:sp>
        <p:nvSpPr>
          <p:cNvPr id="7" name="Shape 4"/>
          <p:cNvSpPr/>
          <p:nvPr/>
        </p:nvSpPr>
        <p:spPr>
          <a:xfrm>
            <a:off x="685800" y="1325880"/>
            <a:ext cx="3840480" cy="4846320"/>
          </a:xfrm>
          <a:prstGeom prst="roundRect">
            <a:avLst>
              <a:gd name="adj" fmla="val 1429"/>
            </a:avLst>
          </a:prstGeom>
          <a:solidFill>
            <a:srgbClr val="FFFFFF"/>
          </a:solidFill>
          <a:ln w="9525">
            <a:solidFill>
              <a:srgbClr val="D8CDB9"/>
            </a:solidFill>
            <a:prstDash val="solid"/>
          </a:ln>
        </p:spPr>
      </p:sp>
      <p:pic>
        <p:nvPicPr>
          <p:cNvPr id="8" name="Image 0" descr="Interaction Diagram — Login (Sequence) (sequence-login.png)">    </p:cNvPr>
          <p:cNvPicPr>
            <a:picLocks noChangeAspect="1"/>
          </p:cNvPicPr>
          <p:nvPr/>
        </p:nvPicPr>
        <p:blipFill>
          <a:blip r:embed="rId1"/>
          <a:stretch>
            <a:fillRect/>
          </a:stretch>
        </p:blipFill>
        <p:spPr>
          <a:xfrm>
            <a:off x="867404" y="1453896"/>
            <a:ext cx="3477273" cy="4590288"/>
          </a:xfrm>
          <a:prstGeom prst="rect">
            <a:avLst/>
          </a:prstGeom>
        </p:spPr>
      </p:pic>
      <p:sp>
        <p:nvSpPr>
          <p:cNvPr id="9" name="Text 5"/>
          <p:cNvSpPr txBox="1"/>
          <p:nvPr/>
        </p:nvSpPr>
        <p:spPr>
          <a:xfrm>
            <a:off x="4983480" y="1417320"/>
            <a:ext cx="6522415" cy="228600"/>
          </a:xfrm>
          <a:prstGeom prst="rect">
            <a:avLst/>
          </a:prstGeom>
          <a:noFill/>
          <a:ln/>
        </p:spPr>
        <p:txBody>
          <a:bodyPr wrap="square" lIns="0" tIns="0" rIns="0" bIns="0" rtlCol="0" anchor="t"/>
          <a:lstStyle/>
          <a:p>
            <a:pPr indent="0" marL="0">
              <a:buNone/>
            </a:pPr>
            <a:r>
              <a:rPr lang="en-US" sz="1000" b="1" spc="300" kern="0" dirty="0">
                <a:solidFill>
                  <a:srgbClr val="B4532A"/>
                </a:solidFill>
                <a:latin typeface="Arial" pitchFamily="34" charset="0"/>
                <a:ea typeface="Arial" pitchFamily="34" charset="-122"/>
                <a:cs typeface="Arial" pitchFamily="34" charset="-120"/>
              </a:rPr>
              <a:t>WHAT TO NOTICE</a:t>
            </a:r>
            <a:endParaRPr lang="en-US" sz="1000" dirty="0"/>
          </a:p>
        </p:txBody>
      </p:sp>
      <p:sp>
        <p:nvSpPr>
          <p:cNvPr id="10" name="Text 6"/>
          <p:cNvSpPr txBox="1"/>
          <p:nvPr/>
        </p:nvSpPr>
        <p:spPr>
          <a:xfrm>
            <a:off x="4983480" y="1783080"/>
            <a:ext cx="6522415" cy="1371600"/>
          </a:xfrm>
          <a:prstGeom prst="rect">
            <a:avLst/>
          </a:prstGeom>
          <a:noFill/>
          <a:ln/>
        </p:spPr>
        <p:txBody>
          <a:bodyPr wrap="square" lIns="0" tIns="0" rIns="0" bIns="0" rtlCol="0" anchor="t"/>
          <a:lstStyle/>
          <a:p>
            <a:pPr indent="0" marL="0">
              <a:buNone/>
            </a:pPr>
            <a:r>
              <a:rPr lang="en-US" sz="1900" dirty="0">
                <a:solidFill>
                  <a:srgbClr val="1F2A33"/>
                </a:solidFill>
                <a:latin typeface="Georgia" pitchFamily="34" charset="0"/>
                <a:ea typeface="Georgia" pitchFamily="34" charset="-122"/>
                <a:cs typeface="Georgia" pitchFamily="34" charset="-120"/>
              </a:rPr>
              <a:t>Credentials go in once; every later request carries the JWT in the Authorization header.</a:t>
            </a:r>
            <a:endParaRPr lang="en-US" sz="1900" dirty="0"/>
          </a:p>
        </p:txBody>
      </p:sp>
      <p:sp>
        <p:nvSpPr>
          <p:cNvPr id="11" name="Shape 7"/>
          <p:cNvSpPr/>
          <p:nvPr/>
        </p:nvSpPr>
        <p:spPr>
          <a:xfrm>
            <a:off x="4983480" y="3246120"/>
            <a:ext cx="310896" cy="310896"/>
          </a:xfrm>
          <a:prstGeom prst="ellipse">
            <a:avLst/>
          </a:prstGeom>
          <a:solidFill>
            <a:srgbClr val="B4532A"/>
          </a:solidFill>
          <a:ln/>
        </p:spPr>
      </p:sp>
      <p:sp>
        <p:nvSpPr>
          <p:cNvPr id="12" name="Text 8"/>
          <p:cNvSpPr txBox="1"/>
          <p:nvPr/>
        </p:nvSpPr>
        <p:spPr>
          <a:xfrm>
            <a:off x="4983480" y="32461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13" name="Text 9"/>
          <p:cNvSpPr txBox="1"/>
          <p:nvPr/>
        </p:nvSpPr>
        <p:spPr>
          <a:xfrm>
            <a:off x="5486400" y="3246120"/>
            <a:ext cx="6019495"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The password hash is read only for comparison and never returned.</a:t>
            </a:r>
            <a:endParaRPr lang="en-US" sz="1400" dirty="0"/>
          </a:p>
        </p:txBody>
      </p:sp>
      <p:sp>
        <p:nvSpPr>
          <p:cNvPr id="14" name="Shape 10"/>
          <p:cNvSpPr/>
          <p:nvPr/>
        </p:nvSpPr>
        <p:spPr>
          <a:xfrm>
            <a:off x="4983480" y="4114800"/>
            <a:ext cx="310896" cy="310896"/>
          </a:xfrm>
          <a:prstGeom prst="ellipse">
            <a:avLst/>
          </a:prstGeom>
          <a:solidFill>
            <a:srgbClr val="B4532A"/>
          </a:solidFill>
          <a:ln/>
        </p:spPr>
      </p:sp>
      <p:sp>
        <p:nvSpPr>
          <p:cNvPr id="15" name="Text 11"/>
          <p:cNvSpPr txBox="1"/>
          <p:nvPr/>
        </p:nvSpPr>
        <p:spPr>
          <a:xfrm>
            <a:off x="4983480"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a:t>
            </a:r>
            <a:endParaRPr lang="en-US" sz="1100" dirty="0"/>
          </a:p>
        </p:txBody>
      </p:sp>
      <p:sp>
        <p:nvSpPr>
          <p:cNvPr id="16" name="Text 12"/>
          <p:cNvSpPr txBox="1"/>
          <p:nvPr/>
        </p:nvSpPr>
        <p:spPr>
          <a:xfrm>
            <a:off x="5486400" y="4114800"/>
            <a:ext cx="6019495"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The token is kept in localStorage; /auth/me restores the session.</a:t>
            </a:r>
            <a:endParaRPr lang="en-US" sz="1400" dirty="0"/>
          </a:p>
        </p:txBody>
      </p:sp>
      <p:sp>
        <p:nvSpPr>
          <p:cNvPr id="17" name="Shape 13"/>
          <p:cNvSpPr/>
          <p:nvPr/>
        </p:nvSpPr>
        <p:spPr>
          <a:xfrm>
            <a:off x="4983480" y="4983480"/>
            <a:ext cx="310896" cy="310896"/>
          </a:xfrm>
          <a:prstGeom prst="ellipse">
            <a:avLst/>
          </a:prstGeom>
          <a:solidFill>
            <a:srgbClr val="B4532A"/>
          </a:solidFill>
          <a:ln/>
        </p:spPr>
      </p:sp>
      <p:sp>
        <p:nvSpPr>
          <p:cNvPr id="18" name="Text 14"/>
          <p:cNvSpPr txBox="1"/>
          <p:nvPr/>
        </p:nvSpPr>
        <p:spPr>
          <a:xfrm>
            <a:off x="4983480" y="4983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3</a:t>
            </a:r>
            <a:endParaRPr lang="en-US" sz="1100" dirty="0"/>
          </a:p>
        </p:txBody>
      </p:sp>
      <p:sp>
        <p:nvSpPr>
          <p:cNvPr id="19" name="Text 15"/>
          <p:cNvSpPr txBox="1"/>
          <p:nvPr/>
        </p:nvSpPr>
        <p:spPr>
          <a:xfrm>
            <a:off x="5486400" y="4983480"/>
            <a:ext cx="6019495" cy="777240"/>
          </a:xfrm>
          <a:prstGeom prst="rect">
            <a:avLst/>
          </a:prstGeom>
          <a:noFill/>
          <a:ln/>
        </p:spPr>
        <p:txBody>
          <a:bodyPr wrap="square" lIns="0" tIns="0" rIns="0" bIns="0" rtlCol="0" anchor="t"/>
          <a:lstStyle/>
          <a:p>
            <a:pPr indent="0" marL="0">
              <a:buNone/>
            </a:pPr>
            <a:r>
              <a:rPr lang="en-US" sz="1400" dirty="0">
                <a:solidFill>
                  <a:srgbClr val="3D4852"/>
                </a:solidFill>
                <a:latin typeface="Arial" pitchFamily="34" charset="0"/>
                <a:ea typeface="Arial" pitchFamily="34" charset="-122"/>
                <a:cs typeface="Arial" pitchFamily="34" charset="-120"/>
              </a:rPr>
              <a:t>A 401 on any later call logs the user out and redirects to login.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Class Diagram</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21</a:t>
            </a:r>
            <a:endParaRPr lang="en-US" sz="1100" dirty="0"/>
          </a:p>
        </p:txBody>
      </p:sp>
      <p:sp>
        <p:nvSpPr>
          <p:cNvPr id="7" name="Shape 4"/>
          <p:cNvSpPr/>
          <p:nvPr/>
        </p:nvSpPr>
        <p:spPr>
          <a:xfrm>
            <a:off x="685800" y="1325880"/>
            <a:ext cx="3840480" cy="4846320"/>
          </a:xfrm>
          <a:prstGeom prst="roundRect">
            <a:avLst>
              <a:gd name="adj" fmla="val 1429"/>
            </a:avLst>
          </a:prstGeom>
          <a:solidFill>
            <a:srgbClr val="FFFFFF"/>
          </a:solidFill>
          <a:ln w="9525">
            <a:solidFill>
              <a:srgbClr val="D8CDB9"/>
            </a:solidFill>
            <a:prstDash val="solid"/>
          </a:ln>
        </p:spPr>
      </p:sp>
      <p:pic>
        <p:nvPicPr>
          <p:cNvPr id="8" name="Image 0" descr="Class Diagram (class-diagram.png)">    </p:cNvPr>
          <p:cNvPicPr>
            <a:picLocks noChangeAspect="1"/>
          </p:cNvPicPr>
          <p:nvPr/>
        </p:nvPicPr>
        <p:blipFill>
          <a:blip r:embed="rId1"/>
          <a:stretch>
            <a:fillRect/>
          </a:stretch>
        </p:blipFill>
        <p:spPr>
          <a:xfrm>
            <a:off x="1171575" y="1453896"/>
            <a:ext cx="2868930" cy="4590288"/>
          </a:xfrm>
          <a:prstGeom prst="rect">
            <a:avLst/>
          </a:prstGeom>
        </p:spPr>
      </p:pic>
      <p:sp>
        <p:nvSpPr>
          <p:cNvPr id="9" name="Shape 5"/>
          <p:cNvSpPr/>
          <p:nvPr/>
        </p:nvSpPr>
        <p:spPr>
          <a:xfrm>
            <a:off x="4800600" y="1325880"/>
            <a:ext cx="6705295" cy="3273552"/>
          </a:xfrm>
          <a:prstGeom prst="roundRect">
            <a:avLst>
              <a:gd name="adj" fmla="val 1676"/>
            </a:avLst>
          </a:prstGeom>
          <a:solidFill>
            <a:srgbClr val="FFFFFF"/>
          </a:solidFill>
          <a:ln w="9525">
            <a:solidFill>
              <a:srgbClr val="D8CDB9"/>
            </a:solidFill>
            <a:prstDash val="solid"/>
          </a:ln>
        </p:spPr>
      </p:sp>
      <p:pic>
        <p:nvPicPr>
          <p:cNvPr id="10" name="Image 1" descr="Class Diagram (class-diagram-services.png)">    </p:cNvPr>
          <p:cNvPicPr>
            <a:picLocks noChangeAspect="1"/>
          </p:cNvPicPr>
          <p:nvPr/>
        </p:nvPicPr>
        <p:blipFill>
          <a:blip r:embed="rId2"/>
          <a:stretch>
            <a:fillRect/>
          </a:stretch>
        </p:blipFill>
        <p:spPr>
          <a:xfrm>
            <a:off x="5309931" y="1453896"/>
            <a:ext cx="5686634" cy="3017520"/>
          </a:xfrm>
          <a:prstGeom prst="rect">
            <a:avLst/>
          </a:prstGeom>
        </p:spPr>
      </p:pic>
      <p:sp>
        <p:nvSpPr>
          <p:cNvPr id="11" name="Text 6"/>
          <p:cNvSpPr txBox="1"/>
          <p:nvPr/>
        </p:nvSpPr>
        <p:spPr>
          <a:xfrm>
            <a:off x="4800600" y="4800600"/>
            <a:ext cx="6705295" cy="548640"/>
          </a:xfrm>
          <a:prstGeom prst="rect">
            <a:avLst/>
          </a:prstGeom>
          <a:noFill/>
          <a:ln/>
        </p:spPr>
        <p:txBody>
          <a:bodyPr wrap="square" lIns="0" tIns="0" rIns="0" bIns="0" rtlCol="0" anchor="t"/>
          <a:lstStyle/>
          <a:p>
            <a:pPr indent="0" marL="0">
              <a:buNone/>
            </a:pPr>
            <a:r>
              <a:rPr lang="en-US" sz="1500" dirty="0">
                <a:solidFill>
                  <a:srgbClr val="1F2A33"/>
                </a:solidFill>
                <a:latin typeface="Georgia" pitchFamily="34" charset="0"/>
                <a:ea typeface="Georgia" pitchFamily="34" charset="-122"/>
                <a:cs typeface="Georgia" pitchFamily="34" charset="-120"/>
              </a:rPr>
              <a:t>Left: four persistent classes, with a Trip composed of days, items and a budget. Above: the service classes and provider interfaces.</a:t>
            </a:r>
            <a:endParaRPr lang="en-US" sz="1500" dirty="0"/>
          </a:p>
        </p:txBody>
      </p:sp>
      <p:sp>
        <p:nvSpPr>
          <p:cNvPr id="12" name="Shape 7"/>
          <p:cNvSpPr/>
          <p:nvPr/>
        </p:nvSpPr>
        <p:spPr>
          <a:xfrm>
            <a:off x="4800600" y="5486400"/>
            <a:ext cx="274320" cy="274320"/>
          </a:xfrm>
          <a:prstGeom prst="ellipse">
            <a:avLst/>
          </a:prstGeom>
          <a:solidFill>
            <a:srgbClr val="B4532A"/>
          </a:solidFill>
          <a:ln/>
        </p:spPr>
      </p:sp>
      <p:sp>
        <p:nvSpPr>
          <p:cNvPr id="13" name="Text 8"/>
          <p:cNvSpPr txBox="1"/>
          <p:nvPr/>
        </p:nvSpPr>
        <p:spPr>
          <a:xfrm>
            <a:off x="4800600" y="54864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1</a:t>
            </a:r>
            <a:endParaRPr lang="en-US" sz="1000" dirty="0"/>
          </a:p>
        </p:txBody>
      </p:sp>
      <p:sp>
        <p:nvSpPr>
          <p:cNvPr id="14" name="Text 9"/>
          <p:cNvSpPr txBox="1"/>
          <p:nvPr/>
        </p:nvSpPr>
        <p:spPr>
          <a:xfrm>
            <a:off x="5184648" y="5477256"/>
            <a:ext cx="1668170" cy="82296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User 1 — many Trip; Destination 1 — many Activity and Trip.</a:t>
            </a:r>
            <a:endParaRPr lang="en-US" sz="1150" dirty="0"/>
          </a:p>
        </p:txBody>
      </p:sp>
      <p:sp>
        <p:nvSpPr>
          <p:cNvPr id="15" name="Shape 10"/>
          <p:cNvSpPr/>
          <p:nvPr/>
        </p:nvSpPr>
        <p:spPr>
          <a:xfrm>
            <a:off x="7127138" y="5486400"/>
            <a:ext cx="274320" cy="274320"/>
          </a:xfrm>
          <a:prstGeom prst="ellipse">
            <a:avLst/>
          </a:prstGeom>
          <a:solidFill>
            <a:srgbClr val="B4532A"/>
          </a:solidFill>
          <a:ln/>
        </p:spPr>
      </p:sp>
      <p:sp>
        <p:nvSpPr>
          <p:cNvPr id="16" name="Text 11"/>
          <p:cNvSpPr txBox="1"/>
          <p:nvPr/>
        </p:nvSpPr>
        <p:spPr>
          <a:xfrm>
            <a:off x="7127138" y="54864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2</a:t>
            </a:r>
            <a:endParaRPr lang="en-US" sz="1000" dirty="0"/>
          </a:p>
        </p:txBody>
      </p:sp>
      <p:sp>
        <p:nvSpPr>
          <p:cNvPr id="17" name="Text 12"/>
          <p:cNvSpPr txBox="1"/>
          <p:nvPr/>
        </p:nvSpPr>
        <p:spPr>
          <a:xfrm>
            <a:off x="7511186" y="5477256"/>
            <a:ext cx="1668170" cy="82296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ItineraryItem is a snapshot of an Activity, so a saved trip never changes.</a:t>
            </a:r>
            <a:endParaRPr lang="en-US" sz="1150" dirty="0"/>
          </a:p>
        </p:txBody>
      </p:sp>
      <p:sp>
        <p:nvSpPr>
          <p:cNvPr id="18" name="Shape 13"/>
          <p:cNvSpPr/>
          <p:nvPr/>
        </p:nvSpPr>
        <p:spPr>
          <a:xfrm>
            <a:off x="9453677" y="5486400"/>
            <a:ext cx="274320" cy="274320"/>
          </a:xfrm>
          <a:prstGeom prst="ellipse">
            <a:avLst/>
          </a:prstGeom>
          <a:solidFill>
            <a:srgbClr val="B4532A"/>
          </a:solidFill>
          <a:ln/>
        </p:spPr>
      </p:sp>
      <p:sp>
        <p:nvSpPr>
          <p:cNvPr id="19" name="Text 14"/>
          <p:cNvSpPr txBox="1"/>
          <p:nvPr/>
        </p:nvSpPr>
        <p:spPr>
          <a:xfrm>
            <a:off x="9453677" y="54864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3</a:t>
            </a:r>
            <a:endParaRPr lang="en-US" sz="1000" dirty="0"/>
          </a:p>
        </p:txBody>
      </p:sp>
      <p:sp>
        <p:nvSpPr>
          <p:cNvPr id="20" name="Text 15"/>
          <p:cNvSpPr txBox="1"/>
          <p:nvPr/>
        </p:nvSpPr>
        <p:spPr>
          <a:xfrm>
            <a:off x="9837725" y="5477256"/>
            <a:ext cx="1668170" cy="822960"/>
          </a:xfrm>
          <a:prstGeom prst="rect">
            <a:avLst/>
          </a:prstGeom>
          <a:noFill/>
          <a:ln/>
        </p:spPr>
        <p:txBody>
          <a:bodyPr wrap="square" lIns="0" tIns="0" rIns="0" bIns="0" rtlCol="0" anchor="t"/>
          <a:lstStyle/>
          <a:p>
            <a:pPr indent="0" marL="0">
              <a:buNone/>
            </a:pPr>
            <a:r>
              <a:rPr lang="en-US" sz="1150" dirty="0">
                <a:solidFill>
                  <a:srgbClr val="3D4852"/>
                </a:solidFill>
                <a:latin typeface="Arial" pitchFamily="34" charset="0"/>
                <a:ea typeface="Arial" pitchFamily="34" charset="-122"/>
                <a:cs typeface="Arial" pitchFamily="34" charset="-120"/>
              </a:rPr>
              <a:t>Route and Places providers are interfaces; OpenStreetMap and Google implementations fall back to local.</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Data Dictionary — Collections and users</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22</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1645920"/>
                <a:gridCol w="2286000"/>
                <a:gridCol w="3840480"/>
                <a:gridCol w="3047695"/>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Field name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Datatype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Constrains</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Description</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r>
              <a:tr h="347472">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name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2–60 characters, trimmed</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Display name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email</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unique, lowercase, valid email</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Login identifier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47472">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passwordHash</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select: false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bcrypt hash (cost 10); never sent in JSON</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role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enum traveler | admin, default traveler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Authorisation role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
        <p:nvSpPr>
          <p:cNvPr id="8" name="Text 4"/>
          <p:cNvSpPr txBox="1"/>
          <p:nvPr/>
        </p:nvSpPr>
        <p:spPr>
          <a:xfrm>
            <a:off x="685800" y="3456432"/>
            <a:ext cx="5486400" cy="228600"/>
          </a:xfrm>
          <a:prstGeom prst="rect">
            <a:avLst/>
          </a:prstGeom>
          <a:noFill/>
          <a:ln/>
        </p:spPr>
        <p:txBody>
          <a:bodyPr wrap="square" lIns="0" tIns="0" rIns="0" bIns="0" rtlCol="0" anchor="t"/>
          <a:lstStyle/>
          <a:p>
            <a:pPr indent="0" marL="0">
              <a:buNone/>
            </a:pPr>
            <a:r>
              <a:rPr lang="en-US" sz="1000" b="1" spc="300" kern="0" dirty="0">
                <a:solidFill>
                  <a:srgbClr val="6A6F73"/>
                </a:solidFill>
                <a:latin typeface="Arial" pitchFamily="34" charset="0"/>
                <a:ea typeface="Arial" pitchFamily="34" charset="-122"/>
                <a:cs typeface="Arial" pitchFamily="34" charset="-120"/>
              </a:rPr>
              <a:t>HOW THE FOUR COLLECTIONS RELATE</a:t>
            </a:r>
            <a:endParaRPr lang="en-US" sz="1000" dirty="0"/>
          </a:p>
        </p:txBody>
      </p:sp>
      <p:sp>
        <p:nvSpPr>
          <p:cNvPr id="9" name="Shape 5"/>
          <p:cNvSpPr/>
          <p:nvPr/>
        </p:nvSpPr>
        <p:spPr>
          <a:xfrm>
            <a:off x="685800" y="3840480"/>
            <a:ext cx="2148840" cy="868680"/>
          </a:xfrm>
          <a:prstGeom prst="roundRect">
            <a:avLst>
              <a:gd name="adj" fmla="val 6316"/>
            </a:avLst>
          </a:prstGeom>
          <a:solidFill>
            <a:srgbClr val="FFFFFF"/>
          </a:solidFill>
          <a:ln w="9525">
            <a:solidFill>
              <a:srgbClr val="D8CDB9"/>
            </a:solidFill>
            <a:prstDash val="solid"/>
          </a:ln>
        </p:spPr>
      </p:sp>
      <p:sp>
        <p:nvSpPr>
          <p:cNvPr id="10" name="Text 6"/>
          <p:cNvSpPr txBox="1"/>
          <p:nvPr/>
        </p:nvSpPr>
        <p:spPr>
          <a:xfrm>
            <a:off x="685800" y="3840480"/>
            <a:ext cx="2148840" cy="868680"/>
          </a:xfrm>
          <a:prstGeom prst="rect">
            <a:avLst/>
          </a:prstGeom>
          <a:noFill/>
          <a:ln/>
        </p:spPr>
        <p:txBody>
          <a:bodyPr wrap="square" lIns="0" tIns="0" rIns="0" bIns="0" rtlCol="0" anchor="ctr"/>
          <a:lstStyle/>
          <a:p>
            <a:pPr algn="ctr" indent="0" marL="0">
              <a:buNone/>
            </a:pPr>
            <a:r>
              <a:rPr lang="en-US" sz="1500" b="1" dirty="0">
                <a:solidFill>
                  <a:srgbClr val="1F2A33"/>
                </a:solidFill>
                <a:latin typeface="Courier New" pitchFamily="34" charset="0"/>
                <a:ea typeface="Courier New" pitchFamily="34" charset="-122"/>
                <a:cs typeface="Courier New" pitchFamily="34" charset="-120"/>
              </a:rPr>
              <a:t>users</a:t>
            </a:r>
            <a:endParaRPr lang="en-US" sz="1500" dirty="0"/>
          </a:p>
        </p:txBody>
      </p:sp>
      <p:sp>
        <p:nvSpPr>
          <p:cNvPr id="11" name="Shape 7"/>
          <p:cNvSpPr/>
          <p:nvPr/>
        </p:nvSpPr>
        <p:spPr>
          <a:xfrm>
            <a:off x="3576218" y="3840480"/>
            <a:ext cx="2148840" cy="868680"/>
          </a:xfrm>
          <a:prstGeom prst="roundRect">
            <a:avLst>
              <a:gd name="adj" fmla="val 6316"/>
            </a:avLst>
          </a:prstGeom>
          <a:solidFill>
            <a:srgbClr val="1F2A33"/>
          </a:solidFill>
          <a:ln/>
        </p:spPr>
      </p:sp>
      <p:sp>
        <p:nvSpPr>
          <p:cNvPr id="12" name="Text 8"/>
          <p:cNvSpPr txBox="1"/>
          <p:nvPr/>
        </p:nvSpPr>
        <p:spPr>
          <a:xfrm>
            <a:off x="3576218" y="3950208"/>
            <a:ext cx="2148840" cy="411480"/>
          </a:xfrm>
          <a:prstGeom prst="rect">
            <a:avLst/>
          </a:prstGeom>
          <a:noFill/>
          <a:ln/>
        </p:spPr>
        <p:txBody>
          <a:bodyPr wrap="square" lIns="0" tIns="0" rIns="0" bIns="0" rtlCol="0" anchor="ctr"/>
          <a:lstStyle/>
          <a:p>
            <a:pPr algn="ctr" indent="0" marL="0">
              <a:buNone/>
            </a:pPr>
            <a:r>
              <a:rPr lang="en-US" sz="1500" b="1" dirty="0">
                <a:solidFill>
                  <a:srgbClr val="F6F1E7"/>
                </a:solidFill>
                <a:latin typeface="Courier New" pitchFamily="34" charset="0"/>
                <a:ea typeface="Courier New" pitchFamily="34" charset="-122"/>
                <a:cs typeface="Courier New" pitchFamily="34" charset="-120"/>
              </a:rPr>
              <a:t>trips</a:t>
            </a:r>
            <a:endParaRPr lang="en-US" sz="1500" dirty="0"/>
          </a:p>
        </p:txBody>
      </p:sp>
      <p:sp>
        <p:nvSpPr>
          <p:cNvPr id="13" name="Text 9"/>
          <p:cNvSpPr txBox="1"/>
          <p:nvPr/>
        </p:nvSpPr>
        <p:spPr>
          <a:xfrm>
            <a:off x="3576218" y="4315968"/>
            <a:ext cx="2148840" cy="274320"/>
          </a:xfrm>
          <a:prstGeom prst="rect">
            <a:avLst/>
          </a:prstGeom>
          <a:noFill/>
          <a:ln/>
        </p:spPr>
        <p:txBody>
          <a:bodyPr wrap="square" lIns="0" tIns="0" rIns="0" bIns="0" rtlCol="0" anchor="t"/>
          <a:lstStyle/>
          <a:p>
            <a:pPr algn="ctr" indent="0" marL="0">
              <a:buNone/>
            </a:pPr>
            <a:r>
              <a:rPr lang="en-US" sz="1050" dirty="0">
                <a:solidFill>
                  <a:srgbClr val="AEB6BC"/>
                </a:solidFill>
                <a:latin typeface="Arial" pitchFamily="34" charset="0"/>
                <a:ea typeface="Arial" pitchFamily="34" charset="-122"/>
                <a:cs typeface="Arial" pitchFamily="34" charset="-120"/>
              </a:rPr>
              <a:t>embeds itinerary[ ] + budget</a:t>
            </a:r>
            <a:endParaRPr lang="en-US" sz="1050" dirty="0"/>
          </a:p>
        </p:txBody>
      </p:sp>
      <p:sp>
        <p:nvSpPr>
          <p:cNvPr id="14" name="Shape 10"/>
          <p:cNvSpPr/>
          <p:nvPr/>
        </p:nvSpPr>
        <p:spPr>
          <a:xfrm>
            <a:off x="6466637" y="3840480"/>
            <a:ext cx="2148840" cy="868680"/>
          </a:xfrm>
          <a:prstGeom prst="roundRect">
            <a:avLst>
              <a:gd name="adj" fmla="val 6316"/>
            </a:avLst>
          </a:prstGeom>
          <a:solidFill>
            <a:srgbClr val="FFFFFF"/>
          </a:solidFill>
          <a:ln w="9525">
            <a:solidFill>
              <a:srgbClr val="D8CDB9"/>
            </a:solidFill>
            <a:prstDash val="solid"/>
          </a:ln>
        </p:spPr>
      </p:sp>
      <p:sp>
        <p:nvSpPr>
          <p:cNvPr id="15" name="Text 11"/>
          <p:cNvSpPr txBox="1"/>
          <p:nvPr/>
        </p:nvSpPr>
        <p:spPr>
          <a:xfrm>
            <a:off x="6466637" y="3840480"/>
            <a:ext cx="2148840" cy="868680"/>
          </a:xfrm>
          <a:prstGeom prst="rect">
            <a:avLst/>
          </a:prstGeom>
          <a:noFill/>
          <a:ln/>
        </p:spPr>
        <p:txBody>
          <a:bodyPr wrap="square" lIns="0" tIns="0" rIns="0" bIns="0" rtlCol="0" anchor="ctr"/>
          <a:lstStyle/>
          <a:p>
            <a:pPr algn="ctr" indent="0" marL="0">
              <a:buNone/>
            </a:pPr>
            <a:r>
              <a:rPr lang="en-US" sz="1500" b="1" dirty="0">
                <a:solidFill>
                  <a:srgbClr val="1F2A33"/>
                </a:solidFill>
                <a:latin typeface="Courier New" pitchFamily="34" charset="0"/>
                <a:ea typeface="Courier New" pitchFamily="34" charset="-122"/>
                <a:cs typeface="Courier New" pitchFamily="34" charset="-120"/>
              </a:rPr>
              <a:t>destinations</a:t>
            </a:r>
            <a:endParaRPr lang="en-US" sz="1500" dirty="0"/>
          </a:p>
        </p:txBody>
      </p:sp>
      <p:sp>
        <p:nvSpPr>
          <p:cNvPr id="16" name="Shape 12"/>
          <p:cNvSpPr/>
          <p:nvPr/>
        </p:nvSpPr>
        <p:spPr>
          <a:xfrm>
            <a:off x="9357055" y="3840480"/>
            <a:ext cx="2148840" cy="868680"/>
          </a:xfrm>
          <a:prstGeom prst="roundRect">
            <a:avLst>
              <a:gd name="adj" fmla="val 6316"/>
            </a:avLst>
          </a:prstGeom>
          <a:solidFill>
            <a:srgbClr val="FFFFFF"/>
          </a:solidFill>
          <a:ln w="9525">
            <a:solidFill>
              <a:srgbClr val="D8CDB9"/>
            </a:solidFill>
            <a:prstDash val="solid"/>
          </a:ln>
        </p:spPr>
      </p:sp>
      <p:sp>
        <p:nvSpPr>
          <p:cNvPr id="17" name="Text 13"/>
          <p:cNvSpPr txBox="1"/>
          <p:nvPr/>
        </p:nvSpPr>
        <p:spPr>
          <a:xfrm>
            <a:off x="9357055" y="3840480"/>
            <a:ext cx="2148840" cy="868680"/>
          </a:xfrm>
          <a:prstGeom prst="rect">
            <a:avLst/>
          </a:prstGeom>
          <a:noFill/>
          <a:ln/>
        </p:spPr>
        <p:txBody>
          <a:bodyPr wrap="square" lIns="0" tIns="0" rIns="0" bIns="0" rtlCol="0" anchor="ctr"/>
          <a:lstStyle/>
          <a:p>
            <a:pPr algn="ctr" indent="0" marL="0">
              <a:buNone/>
            </a:pPr>
            <a:r>
              <a:rPr lang="en-US" sz="1500" b="1" dirty="0">
                <a:solidFill>
                  <a:srgbClr val="1F2A33"/>
                </a:solidFill>
                <a:latin typeface="Courier New" pitchFamily="34" charset="0"/>
                <a:ea typeface="Courier New" pitchFamily="34" charset="-122"/>
                <a:cs typeface="Courier New" pitchFamily="34" charset="-120"/>
              </a:rPr>
              <a:t>activities</a:t>
            </a:r>
            <a:endParaRPr lang="en-US" sz="1500" dirty="0"/>
          </a:p>
        </p:txBody>
      </p:sp>
      <p:sp>
        <p:nvSpPr>
          <p:cNvPr id="18" name="Shape 14"/>
          <p:cNvSpPr/>
          <p:nvPr/>
        </p:nvSpPr>
        <p:spPr>
          <a:xfrm>
            <a:off x="2907792" y="4274820"/>
            <a:ext cx="595274" cy="0"/>
          </a:xfrm>
          <a:prstGeom prst="line">
            <a:avLst/>
          </a:prstGeom>
          <a:noFill/>
          <a:ln w="19050">
            <a:solidFill>
              <a:srgbClr val="B4532A"/>
            </a:solidFill>
            <a:prstDash val="solid"/>
          </a:ln>
        </p:spPr>
      </p:sp>
      <p:sp>
        <p:nvSpPr>
          <p:cNvPr id="19" name="Text 15"/>
          <p:cNvSpPr txBox="1"/>
          <p:nvPr/>
        </p:nvSpPr>
        <p:spPr>
          <a:xfrm>
            <a:off x="2926080" y="3982212"/>
            <a:ext cx="548640" cy="228600"/>
          </a:xfrm>
          <a:prstGeom prst="rect">
            <a:avLst/>
          </a:prstGeom>
          <a:noFill/>
          <a:ln/>
        </p:spPr>
        <p:txBody>
          <a:bodyPr wrap="square" lIns="0" tIns="0" rIns="0" bIns="0" rtlCol="0" anchor="t"/>
          <a:lstStyle/>
          <a:p>
            <a:pPr indent="0" marL="0">
              <a:buNone/>
            </a:pPr>
            <a:r>
              <a:rPr lang="en-US" sz="1100" b="1" dirty="0">
                <a:solidFill>
                  <a:srgbClr val="B4532A"/>
                </a:solidFill>
                <a:latin typeface="Arial" pitchFamily="34" charset="0"/>
                <a:ea typeface="Arial" pitchFamily="34" charset="-122"/>
                <a:cs typeface="Arial" pitchFamily="34" charset="-120"/>
              </a:rPr>
              <a:t>1</a:t>
            </a:r>
            <a:endParaRPr lang="en-US" sz="1100" dirty="0"/>
          </a:p>
        </p:txBody>
      </p:sp>
      <p:sp>
        <p:nvSpPr>
          <p:cNvPr id="20" name="Text 16"/>
          <p:cNvSpPr txBox="1"/>
          <p:nvPr/>
        </p:nvSpPr>
        <p:spPr>
          <a:xfrm>
            <a:off x="2936138" y="3982212"/>
            <a:ext cx="548640" cy="228600"/>
          </a:xfrm>
          <a:prstGeom prst="rect">
            <a:avLst/>
          </a:prstGeom>
          <a:noFill/>
          <a:ln/>
        </p:spPr>
        <p:txBody>
          <a:bodyPr wrap="square" lIns="0" tIns="0" rIns="0" bIns="0" rtlCol="0" anchor="t"/>
          <a:lstStyle/>
          <a:p>
            <a:pPr algn="r" indent="0" marL="0">
              <a:buNone/>
            </a:pPr>
            <a:r>
              <a:rPr lang="en-US" sz="1100" b="1" dirty="0">
                <a:solidFill>
                  <a:srgbClr val="B4532A"/>
                </a:solidFill>
                <a:latin typeface="Arial" pitchFamily="34" charset="0"/>
                <a:ea typeface="Arial" pitchFamily="34" charset="-122"/>
                <a:cs typeface="Arial" pitchFamily="34" charset="-120"/>
              </a:rPr>
              <a:t>many</a:t>
            </a:r>
            <a:endParaRPr lang="en-US" sz="1100" dirty="0"/>
          </a:p>
        </p:txBody>
      </p:sp>
      <p:sp>
        <p:nvSpPr>
          <p:cNvPr id="21" name="Shape 17"/>
          <p:cNvSpPr/>
          <p:nvPr/>
        </p:nvSpPr>
        <p:spPr>
          <a:xfrm>
            <a:off x="5798210" y="4274820"/>
            <a:ext cx="595274" cy="0"/>
          </a:xfrm>
          <a:prstGeom prst="line">
            <a:avLst/>
          </a:prstGeom>
          <a:noFill/>
          <a:ln w="19050">
            <a:solidFill>
              <a:srgbClr val="B4532A"/>
            </a:solidFill>
            <a:prstDash val="solid"/>
          </a:ln>
        </p:spPr>
      </p:sp>
      <p:sp>
        <p:nvSpPr>
          <p:cNvPr id="22" name="Text 18"/>
          <p:cNvSpPr txBox="1"/>
          <p:nvPr/>
        </p:nvSpPr>
        <p:spPr>
          <a:xfrm>
            <a:off x="5816498" y="3982212"/>
            <a:ext cx="548640" cy="228600"/>
          </a:xfrm>
          <a:prstGeom prst="rect">
            <a:avLst/>
          </a:prstGeom>
          <a:noFill/>
          <a:ln/>
        </p:spPr>
        <p:txBody>
          <a:bodyPr wrap="square" lIns="0" tIns="0" rIns="0" bIns="0" rtlCol="0" anchor="t"/>
          <a:lstStyle/>
          <a:p>
            <a:pPr indent="0" marL="0">
              <a:buNone/>
            </a:pPr>
            <a:r>
              <a:rPr lang="en-US" sz="1100" b="1" dirty="0">
                <a:solidFill>
                  <a:srgbClr val="B4532A"/>
                </a:solidFill>
                <a:latin typeface="Arial" pitchFamily="34" charset="0"/>
                <a:ea typeface="Arial" pitchFamily="34" charset="-122"/>
                <a:cs typeface="Arial" pitchFamily="34" charset="-120"/>
              </a:rPr>
              <a:t>many</a:t>
            </a:r>
            <a:endParaRPr lang="en-US" sz="1100" dirty="0"/>
          </a:p>
        </p:txBody>
      </p:sp>
      <p:sp>
        <p:nvSpPr>
          <p:cNvPr id="23" name="Text 19"/>
          <p:cNvSpPr txBox="1"/>
          <p:nvPr/>
        </p:nvSpPr>
        <p:spPr>
          <a:xfrm>
            <a:off x="5826557" y="3982212"/>
            <a:ext cx="548640" cy="228600"/>
          </a:xfrm>
          <a:prstGeom prst="rect">
            <a:avLst/>
          </a:prstGeom>
          <a:noFill/>
          <a:ln/>
        </p:spPr>
        <p:txBody>
          <a:bodyPr wrap="square" lIns="0" tIns="0" rIns="0" bIns="0" rtlCol="0" anchor="t"/>
          <a:lstStyle/>
          <a:p>
            <a:pPr algn="r" indent="0" marL="0">
              <a:buNone/>
            </a:pPr>
            <a:r>
              <a:rPr lang="en-US" sz="1100" b="1" dirty="0">
                <a:solidFill>
                  <a:srgbClr val="B4532A"/>
                </a:solidFill>
                <a:latin typeface="Arial" pitchFamily="34" charset="0"/>
                <a:ea typeface="Arial" pitchFamily="34" charset="-122"/>
                <a:cs typeface="Arial" pitchFamily="34" charset="-120"/>
              </a:rPr>
              <a:t>1</a:t>
            </a:r>
            <a:endParaRPr lang="en-US" sz="1100" dirty="0"/>
          </a:p>
        </p:txBody>
      </p:sp>
      <p:sp>
        <p:nvSpPr>
          <p:cNvPr id="24" name="Shape 20"/>
          <p:cNvSpPr/>
          <p:nvPr/>
        </p:nvSpPr>
        <p:spPr>
          <a:xfrm>
            <a:off x="8688629" y="4274820"/>
            <a:ext cx="595274" cy="0"/>
          </a:xfrm>
          <a:prstGeom prst="line">
            <a:avLst/>
          </a:prstGeom>
          <a:noFill/>
          <a:ln w="19050">
            <a:solidFill>
              <a:srgbClr val="B4532A"/>
            </a:solidFill>
            <a:prstDash val="solid"/>
          </a:ln>
        </p:spPr>
      </p:sp>
      <p:sp>
        <p:nvSpPr>
          <p:cNvPr id="25" name="Text 21"/>
          <p:cNvSpPr txBox="1"/>
          <p:nvPr/>
        </p:nvSpPr>
        <p:spPr>
          <a:xfrm>
            <a:off x="8706917" y="3982212"/>
            <a:ext cx="548640" cy="228600"/>
          </a:xfrm>
          <a:prstGeom prst="rect">
            <a:avLst/>
          </a:prstGeom>
          <a:noFill/>
          <a:ln/>
        </p:spPr>
        <p:txBody>
          <a:bodyPr wrap="square" lIns="0" tIns="0" rIns="0" bIns="0" rtlCol="0" anchor="t"/>
          <a:lstStyle/>
          <a:p>
            <a:pPr indent="0" marL="0">
              <a:buNone/>
            </a:pPr>
            <a:r>
              <a:rPr lang="en-US" sz="1100" b="1" dirty="0">
                <a:solidFill>
                  <a:srgbClr val="B4532A"/>
                </a:solidFill>
                <a:latin typeface="Arial" pitchFamily="34" charset="0"/>
                <a:ea typeface="Arial" pitchFamily="34" charset="-122"/>
                <a:cs typeface="Arial" pitchFamily="34" charset="-120"/>
              </a:rPr>
              <a:t>1</a:t>
            </a:r>
            <a:endParaRPr lang="en-US" sz="1100" dirty="0"/>
          </a:p>
        </p:txBody>
      </p:sp>
      <p:sp>
        <p:nvSpPr>
          <p:cNvPr id="26" name="Text 22"/>
          <p:cNvSpPr txBox="1"/>
          <p:nvPr/>
        </p:nvSpPr>
        <p:spPr>
          <a:xfrm>
            <a:off x="8716975" y="3982212"/>
            <a:ext cx="548640" cy="228600"/>
          </a:xfrm>
          <a:prstGeom prst="rect">
            <a:avLst/>
          </a:prstGeom>
          <a:noFill/>
          <a:ln/>
        </p:spPr>
        <p:txBody>
          <a:bodyPr wrap="square" lIns="0" tIns="0" rIns="0" bIns="0" rtlCol="0" anchor="t"/>
          <a:lstStyle/>
          <a:p>
            <a:pPr algn="r" indent="0" marL="0">
              <a:buNone/>
            </a:pPr>
            <a:r>
              <a:rPr lang="en-US" sz="1100" b="1" dirty="0">
                <a:solidFill>
                  <a:srgbClr val="B4532A"/>
                </a:solidFill>
                <a:latin typeface="Arial" pitchFamily="34" charset="0"/>
                <a:ea typeface="Arial" pitchFamily="34" charset="-122"/>
                <a:cs typeface="Arial" pitchFamily="34" charset="-120"/>
              </a:rPr>
              <a:t>many</a:t>
            </a:r>
            <a:endParaRPr lang="en-US" sz="1100" dirty="0"/>
          </a:p>
        </p:txBody>
      </p:sp>
      <p:sp>
        <p:nvSpPr>
          <p:cNvPr id="27" name="Text 23"/>
          <p:cNvSpPr txBox="1"/>
          <p:nvPr/>
        </p:nvSpPr>
        <p:spPr>
          <a:xfrm>
            <a:off x="685800" y="5120640"/>
            <a:ext cx="3423818" cy="274320"/>
          </a:xfrm>
          <a:prstGeom prst="rect">
            <a:avLst/>
          </a:prstGeom>
          <a:noFill/>
          <a:ln/>
        </p:spPr>
        <p:txBody>
          <a:bodyPr wrap="square" lIns="0" tIns="0" rIns="0" bIns="0" rtlCol="0" anchor="t"/>
          <a:lstStyle/>
          <a:p>
            <a:pPr indent="0" marL="0">
              <a:buNone/>
            </a:pPr>
            <a:r>
              <a:rPr lang="en-US" sz="1300" b="1" dirty="0">
                <a:solidFill>
                  <a:srgbClr val="1F2A33"/>
                </a:solidFill>
                <a:latin typeface="Arial" pitchFamily="34" charset="0"/>
                <a:ea typeface="Arial" pitchFamily="34" charset="-122"/>
                <a:cs typeface="Arial" pitchFamily="34" charset="-120"/>
              </a:rPr>
              <a:t>Common fields</a:t>
            </a:r>
            <a:endParaRPr lang="en-US" sz="1300" dirty="0"/>
          </a:p>
        </p:txBody>
      </p:sp>
      <p:sp>
        <p:nvSpPr>
          <p:cNvPr id="28" name="Text 24"/>
          <p:cNvSpPr txBox="1"/>
          <p:nvPr/>
        </p:nvSpPr>
        <p:spPr>
          <a:xfrm>
            <a:off x="685800" y="5440680"/>
            <a:ext cx="3423818" cy="640080"/>
          </a:xfrm>
          <a:prstGeom prst="rect">
            <a:avLst/>
          </a:prstGeom>
          <a:noFill/>
          <a:ln/>
        </p:spPr>
        <p:txBody>
          <a:bodyPr wrap="square" lIns="0" tIns="0" rIns="0" bIns="0" rtlCol="0" anchor="t"/>
          <a:lstStyle/>
          <a:p>
            <a:pPr indent="0" marL="0">
              <a:buNone/>
            </a:pPr>
            <a:r>
              <a:rPr lang="en-US" sz="1200" dirty="0">
                <a:solidFill>
                  <a:srgbClr val="3D4852"/>
                </a:solidFill>
                <a:latin typeface="Arial" pitchFamily="34" charset="0"/>
                <a:ea typeface="Arial" pitchFamily="34" charset="-122"/>
                <a:cs typeface="Arial" pitchFamily="34" charset="-120"/>
              </a:rPr>
              <a:t>_id: ObjectId, createdAt, updatedAt on every collection.</a:t>
            </a:r>
            <a:endParaRPr lang="en-US" sz="1200" dirty="0"/>
          </a:p>
        </p:txBody>
      </p:sp>
      <p:sp>
        <p:nvSpPr>
          <p:cNvPr id="29" name="Text 25"/>
          <p:cNvSpPr txBox="1"/>
          <p:nvPr/>
        </p:nvSpPr>
        <p:spPr>
          <a:xfrm>
            <a:off x="4383938" y="5120640"/>
            <a:ext cx="3423818" cy="274320"/>
          </a:xfrm>
          <a:prstGeom prst="rect">
            <a:avLst/>
          </a:prstGeom>
          <a:noFill/>
          <a:ln/>
        </p:spPr>
        <p:txBody>
          <a:bodyPr wrap="square" lIns="0" tIns="0" rIns="0" bIns="0" rtlCol="0" anchor="t"/>
          <a:lstStyle/>
          <a:p>
            <a:pPr indent="0" marL="0">
              <a:buNone/>
            </a:pPr>
            <a:r>
              <a:rPr lang="en-US" sz="1300" b="1" dirty="0">
                <a:solidFill>
                  <a:srgbClr val="1F2A33"/>
                </a:solidFill>
                <a:latin typeface="Arial" pitchFamily="34" charset="0"/>
                <a:ea typeface="Arial" pitchFamily="34" charset="-122"/>
                <a:cs typeface="Arial" pitchFamily="34" charset="-120"/>
              </a:rPr>
              <a:t>Money</a:t>
            </a:r>
            <a:endParaRPr lang="en-US" sz="1300" dirty="0"/>
          </a:p>
        </p:txBody>
      </p:sp>
      <p:sp>
        <p:nvSpPr>
          <p:cNvPr id="30" name="Text 26"/>
          <p:cNvSpPr txBox="1"/>
          <p:nvPr/>
        </p:nvSpPr>
        <p:spPr>
          <a:xfrm>
            <a:off x="4383938" y="5440680"/>
            <a:ext cx="3423818" cy="640080"/>
          </a:xfrm>
          <a:prstGeom prst="rect">
            <a:avLst/>
          </a:prstGeom>
          <a:noFill/>
          <a:ln/>
        </p:spPr>
        <p:txBody>
          <a:bodyPr wrap="square" lIns="0" tIns="0" rIns="0" bIns="0" rtlCol="0" anchor="t"/>
          <a:lstStyle/>
          <a:p>
            <a:pPr indent="0" marL="0">
              <a:buNone/>
            </a:pPr>
            <a:r>
              <a:rPr lang="en-US" sz="1200" dirty="0">
                <a:solidFill>
                  <a:srgbClr val="3D4852"/>
                </a:solidFill>
                <a:latin typeface="Arial" pitchFamily="34" charset="0"/>
                <a:ea typeface="Arial" pitchFamily="34" charset="-122"/>
                <a:cs typeface="Arial" pitchFamily="34" charset="-120"/>
              </a:rPr>
              <a:t>INR, stored as integer rupees. No decimals anywhere.</a:t>
            </a:r>
            <a:endParaRPr lang="en-US" sz="1200" dirty="0"/>
          </a:p>
        </p:txBody>
      </p:sp>
      <p:sp>
        <p:nvSpPr>
          <p:cNvPr id="31" name="Text 27"/>
          <p:cNvSpPr txBox="1"/>
          <p:nvPr/>
        </p:nvSpPr>
        <p:spPr>
          <a:xfrm>
            <a:off x="8082077" y="5120640"/>
            <a:ext cx="3423818" cy="274320"/>
          </a:xfrm>
          <a:prstGeom prst="rect">
            <a:avLst/>
          </a:prstGeom>
          <a:noFill/>
          <a:ln/>
        </p:spPr>
        <p:txBody>
          <a:bodyPr wrap="square" lIns="0" tIns="0" rIns="0" bIns="0" rtlCol="0" anchor="t"/>
          <a:lstStyle/>
          <a:p>
            <a:pPr indent="0" marL="0">
              <a:buNone/>
            </a:pPr>
            <a:r>
              <a:rPr lang="en-US" sz="1300" b="1" dirty="0">
                <a:solidFill>
                  <a:srgbClr val="1F2A33"/>
                </a:solidFill>
                <a:latin typeface="Arial" pitchFamily="34" charset="0"/>
                <a:ea typeface="Arial" pitchFamily="34" charset="-122"/>
                <a:cs typeface="Arial" pitchFamily="34" charset="-120"/>
              </a:rPr>
              <a:t>Indexes</a:t>
            </a:r>
            <a:endParaRPr lang="en-US" sz="1300" dirty="0"/>
          </a:p>
        </p:txBody>
      </p:sp>
      <p:sp>
        <p:nvSpPr>
          <p:cNvPr id="32" name="Text 28"/>
          <p:cNvSpPr txBox="1"/>
          <p:nvPr/>
        </p:nvSpPr>
        <p:spPr>
          <a:xfrm>
            <a:off x="8082077" y="5440680"/>
            <a:ext cx="3423818" cy="640080"/>
          </a:xfrm>
          <a:prstGeom prst="rect">
            <a:avLst/>
          </a:prstGeom>
          <a:noFill/>
          <a:ln/>
        </p:spPr>
        <p:txBody>
          <a:bodyPr wrap="square" lIns="0" tIns="0" rIns="0" bIns="0" rtlCol="0" anchor="t"/>
          <a:lstStyle/>
          <a:p>
            <a:pPr indent="0" marL="0">
              <a:buNone/>
            </a:pPr>
            <a:r>
              <a:rPr lang="en-US" sz="1200" dirty="0">
                <a:solidFill>
                  <a:srgbClr val="3D4852"/>
                </a:solidFill>
                <a:latin typeface="Arial" pitchFamily="34" charset="0"/>
                <a:ea typeface="Arial" pitchFamily="34" charset="-122"/>
                <a:cs typeface="Arial" pitchFamily="34" charset="-120"/>
              </a:rPr>
              <a:t>email unique · slug unique · { destination, name } unique · trips.user indexed.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Data Dictionary — destinations</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23</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1645920"/>
                <a:gridCol w="2286000"/>
                <a:gridCol w="3840480"/>
                <a:gridCol w="3047695"/>
              </a:tblGrid>
              <a:tr h="283464">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Field name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Datatype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Constrains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Description</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name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Destination name, e.g. Manali</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slug</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unique, lowercase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URL identifier, e.g. manali</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state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Indian state or union territory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country</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default India</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Country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category</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enum: hill-station, beach, heritage, spiritual, nature, desert, adventure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Primary category, used by the filter</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tagline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 90 characters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One-line hook shown on cards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description</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Overview of 2–4 sentences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heroImage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/images/destinations/&lt;slug&gt;.jpg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location</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 lat, lng }</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Numbers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City-centre coordinates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bestSeason</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e.g. October – February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idealDays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 min, max }</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Numbers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Suggested trip length</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dailyCost</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 economy, standard, luxury } → { stay, food, transport }</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integers ≥ 0</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stay per room per night; food, transport per person per day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rating</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0–5</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Editorial rating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tags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optional</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Search keywords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Data Dictionary — activities</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24</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1645920"/>
                <a:gridCol w="2286000"/>
                <a:gridCol w="3840480"/>
                <a:gridCol w="3047695"/>
              </a:tblGrid>
              <a:tr h="3383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Field name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Datatype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Constrains</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Description</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0" cap="flat" cmpd="sng" algn="ctr">
                      <a:noFill/>
                    </a:lnB>
                    <a:solidFill>
                      <a:srgbClr val="1F2A33"/>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destination</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ObjectId → destinations</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indexed</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Parent destination</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name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unique with destination</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e.g. Solang Valley</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type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enum: sightseeing, adventure, culture, nature, spiritual, food, shopping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Used for interest matching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description</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1–2 sentences</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location</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 lat, lng }</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Real-world coordinates</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durationHours</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Number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required, 0.5–8</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Typical visit time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entryFee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Number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integer ≥ 0, default 0</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Per person, INR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rating</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Number</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Feeds the activity score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bestTime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enum: morning, afternoon, evening, any; default any</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Scheduling hint</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source</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enum: seed, google; default seed</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Where the record came from</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338328">
                <a:tc>
                  <a:txBody>
                    <a:bodyPr/>
                    <a:lstStyle/>
                    <a:p>
                      <a:pPr indent="0" marL="0">
                        <a:buNone/>
                      </a:pPr>
                      <a:r>
                        <a:rPr lang="en-US" sz="1200" b="1" dirty="0">
                          <a:solidFill>
                            <a:srgbClr val="1F2A33"/>
                          </a:solidFill>
                          <a:latin typeface="Courier New" pitchFamily="34" charset="0"/>
                          <a:ea typeface="Courier New" pitchFamily="34" charset="-122"/>
                          <a:cs typeface="Courier New" pitchFamily="34" charset="-120"/>
                        </a:rPr>
                        <a:t>externalId</a:t>
                      </a:r>
                      <a:endParaRPr lang="en-US" sz="1200" dirty="0">
                        <a:latin typeface="Courier New" charset="0"/>
                        <a:ea typeface="Courier New" charset="0"/>
                        <a:cs typeface="Courier New"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String</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optional</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200" dirty="0">
                          <a:solidFill>
                            <a:srgbClr val="3D4852"/>
                          </a:solidFill>
                          <a:latin typeface="Arial" pitchFamily="34" charset="0"/>
                          <a:ea typeface="Arial" pitchFamily="34" charset="-122"/>
                          <a:cs typeface="Arial" pitchFamily="34" charset="-120"/>
                        </a:rPr>
                        <a:t>Google place id when source = google</a:t>
                      </a:r>
                      <a:endParaRPr lang="en-US" sz="12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Data Dictionary — trips</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25</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20095" cy="914400"/>
        </p:xfrm>
        <a:graphic>
          <a:graphicData uri="http://schemas.openxmlformats.org/drawingml/2006/table">
            <a:tbl>
              <a:tblPr/>
              <a:tblGrid>
                <a:gridCol w="1645920"/>
                <a:gridCol w="2286000"/>
                <a:gridCol w="3840480"/>
                <a:gridCol w="3047695"/>
              </a:tblGrid>
              <a:tr h="283464">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Field name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Datatype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Constrains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Description</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F2A33"/>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user</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ObjectId → users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indexed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Owner of the trip</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destination</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ObjectId → destinations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Planned destination</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title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 80 characters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Default: "&lt;days&gt; days in &lt;destination&gt;"</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startDate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First day of the trip</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endDate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required, ≥ startDate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Last day of the trip</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days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1–14</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Inclusive day count</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travelers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1–12</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Group size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budgetTier</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enum: economy, standard, luxury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Cost tier used for the estimate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interests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subset of activity type enum</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Boosts matching activities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pace</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enum: relaxed, balanced, packed; default balanced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Hours of sightseeing per day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itinerary</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[ItineraryDay]</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embedded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Generated day-wise plan</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budget</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Budget</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embedded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Generated cost estimate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status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enum: planned, completed, cancelled; default planned</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Trip state</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notes</a:t>
                      </a:r>
                      <a:endParaRPr lang="en-US" sz="115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 1000 characters, default ""</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Traveller's own notes</a:t>
                      </a:r>
                      <a:endParaRPr lang="en-US" sz="1150" dirty="0">
                        <a:latin typeface="Arial" charset="0"/>
                        <a:ea typeface="Arial" charset="0"/>
                        <a:cs typeface="Arial"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4 · DESIGN</a:t>
            </a:r>
            <a:endParaRPr lang="en-US" sz="1050" dirty="0"/>
          </a:p>
        </p:txBody>
      </p:sp>
      <p:sp>
        <p:nvSpPr>
          <p:cNvPr id="3" name="Text 1"/>
          <p:cNvSpPr txBox="1"/>
          <p:nvPr/>
        </p:nvSpPr>
        <p:spPr>
          <a:xfrm>
            <a:off x="685800" y="640080"/>
            <a:ext cx="10820095" cy="548640"/>
          </a:xfrm>
          <a:prstGeom prst="rect">
            <a:avLst/>
          </a:prstGeom>
          <a:noFill/>
          <a:ln/>
        </p:spPr>
        <p:txBody>
          <a:bodyPr wrap="square" lIns="0" tIns="0" rIns="0" bIns="0" rtlCol="0" anchor="ctr"/>
          <a:lstStyle/>
          <a:p>
            <a:pPr indent="0" marL="0">
              <a:buNone/>
            </a:pPr>
            <a:r>
              <a:rPr lang="en-US" sz="2800" dirty="0">
                <a:solidFill>
                  <a:srgbClr val="1F2A33"/>
                </a:solidFill>
                <a:latin typeface="Georgia" pitchFamily="34" charset="0"/>
                <a:ea typeface="Georgia" pitchFamily="34" charset="-122"/>
                <a:cs typeface="Georgia" pitchFamily="34" charset="-120"/>
              </a:rPr>
              <a:t>Data Dictionary — Structures Embedded in a Trip</a:t>
            </a:r>
            <a:endParaRPr lang="en-US" sz="28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26</a:t>
            </a:r>
            <a:endParaRPr lang="en-US" sz="1100" dirty="0"/>
          </a:p>
        </p:txBody>
      </p:sp>
      <p:sp>
        <p:nvSpPr>
          <p:cNvPr id="7" name="Text 4"/>
          <p:cNvSpPr txBox="1"/>
          <p:nvPr/>
        </p:nvSpPr>
        <p:spPr>
          <a:xfrm>
            <a:off x="685800" y="1325880"/>
            <a:ext cx="5250028" cy="274320"/>
          </a:xfrm>
          <a:prstGeom prst="rect">
            <a:avLst/>
          </a:prstGeom>
          <a:noFill/>
          <a:ln/>
        </p:spPr>
        <p:txBody>
          <a:bodyPr wrap="square" lIns="0" tIns="0" rIns="0" bIns="0" rtlCol="0" anchor="t"/>
          <a:lstStyle/>
          <a:p>
            <a:pPr indent="0" marL="0">
              <a:buNone/>
            </a:pPr>
            <a:r>
              <a:rPr lang="en-US" sz="1600" dirty="0">
                <a:solidFill>
                  <a:srgbClr val="1F2A33"/>
                </a:solidFill>
                <a:latin typeface="Georgia" pitchFamily="34" charset="0"/>
                <a:ea typeface="Georgia" pitchFamily="34" charset="-122"/>
                <a:cs typeface="Georgia" pitchFamily="34" charset="-120"/>
              </a:rPr>
              <a:t>ItineraryDay</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5250028" cy="914400"/>
        </p:xfrm>
        <a:graphic>
          <a:graphicData uri="http://schemas.openxmlformats.org/drawingml/2006/table">
            <a:tbl>
              <a:tblPr/>
              <a:tblGrid>
                <a:gridCol w="1600200"/>
                <a:gridCol w="1325880"/>
                <a:gridCol w="2323948"/>
              </a:tblGrid>
              <a:tr h="274320">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Field</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Type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Description</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day</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Day number, from 1</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date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Date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Calendar date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items</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[ItineraryItem]</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Ordered stops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totalVisitHours</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Sum of visit durations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totalTravelKm</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Sum of leg distances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note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e.g. free-day message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
        <p:nvSpPr>
          <p:cNvPr id="9" name="Text 5"/>
          <p:cNvSpPr txBox="1"/>
          <p:nvPr/>
        </p:nvSpPr>
        <p:spPr>
          <a:xfrm>
            <a:off x="685800" y="3703320"/>
            <a:ext cx="5250028" cy="274320"/>
          </a:xfrm>
          <a:prstGeom prst="rect">
            <a:avLst/>
          </a:prstGeom>
          <a:noFill/>
          <a:ln/>
        </p:spPr>
        <p:txBody>
          <a:bodyPr wrap="square" lIns="0" tIns="0" rIns="0" bIns="0" rtlCol="0" anchor="t"/>
          <a:lstStyle/>
          <a:p>
            <a:pPr indent="0" marL="0">
              <a:buNone/>
            </a:pPr>
            <a:r>
              <a:rPr lang="en-US" sz="1600" dirty="0">
                <a:solidFill>
                  <a:srgbClr val="1F2A33"/>
                </a:solidFill>
                <a:latin typeface="Georgia" pitchFamily="34" charset="0"/>
                <a:ea typeface="Georgia" pitchFamily="34" charset="-122"/>
                <a:cs typeface="Georgia" pitchFamily="34" charset="-120"/>
              </a:rPr>
              <a:t>Budget</a:t>
            </a:r>
            <a:endParaRPr lang="en-US" sz="16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85800" y="4023360"/>
          <a:ext cx="5250028" cy="914400"/>
        </p:xfrm>
        <a:graphic>
          <a:graphicData uri="http://schemas.openxmlformats.org/drawingml/2006/table">
            <a:tbl>
              <a:tblPr/>
              <a:tblGrid>
                <a:gridCol w="1600200"/>
                <a:gridCol w="1325880"/>
                <a:gridCol w="2323948"/>
              </a:tblGrid>
              <a:tr h="274320">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Field</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Type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Description</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tier</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economy | standard | luxury</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currency</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Always "INR"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rooms, nights</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Rooms and nights used for stay</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breakdown</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Object</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stay, food, transport, activities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total</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Sum of the breakdown</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perPerson</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round(total / travelers)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
        <p:nvSpPr>
          <p:cNvPr id="11" name="Text 6"/>
          <p:cNvSpPr txBox="1"/>
          <p:nvPr/>
        </p:nvSpPr>
        <p:spPr>
          <a:xfrm>
            <a:off x="6255868" y="1325880"/>
            <a:ext cx="5250028" cy="274320"/>
          </a:xfrm>
          <a:prstGeom prst="rect">
            <a:avLst/>
          </a:prstGeom>
          <a:noFill/>
          <a:ln/>
        </p:spPr>
        <p:txBody>
          <a:bodyPr wrap="square" lIns="0" tIns="0" rIns="0" bIns="0" rtlCol="0" anchor="t"/>
          <a:lstStyle/>
          <a:p>
            <a:pPr indent="0" marL="0">
              <a:buNone/>
            </a:pPr>
            <a:r>
              <a:rPr lang="en-US" sz="1600" dirty="0">
                <a:solidFill>
                  <a:srgbClr val="1F2A33"/>
                </a:solidFill>
                <a:latin typeface="Georgia" pitchFamily="34" charset="0"/>
                <a:ea typeface="Georgia" pitchFamily="34" charset="-122"/>
                <a:cs typeface="Georgia" pitchFamily="34" charset="-120"/>
              </a:rPr>
              <a:t>ItineraryItem  (snapshot of an activity)</a:t>
            </a:r>
            <a:endParaRPr lang="en-US" sz="1600" dirty="0"/>
          </a:p>
        </p:txBody>
      </p:sp>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6255868" y="1645920"/>
          <a:ext cx="5250028" cy="914400"/>
        </p:xfrm>
        <a:graphic>
          <a:graphicData uri="http://schemas.openxmlformats.org/drawingml/2006/table">
            <a:tbl>
              <a:tblPr/>
              <a:tblGrid>
                <a:gridCol w="2103120"/>
                <a:gridCol w="1234440"/>
                <a:gridCol w="1912468"/>
              </a:tblGrid>
              <a:tr h="274320">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Field</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Type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Description</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1F2A33"/>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activity</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ObjectId</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Source activity</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name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Copied activity name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type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Copied activity type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location</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 lat, lng }</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Copied coordinates</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startTime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 HH:mm</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Scheduled start</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endTime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String HH:mm</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Scheduled end</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durationHours</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Visit time</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entryFee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Per person, INR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travelKmFromPrev</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Km from previous stop</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F2A33"/>
                          </a:solidFill>
                          <a:latin typeface="Courier New" pitchFamily="34" charset="0"/>
                          <a:ea typeface="Courier New" pitchFamily="34" charset="-122"/>
                          <a:cs typeface="Courier New" pitchFamily="34" charset="-120"/>
                        </a:rPr>
                        <a:t>travelMinutesFromPrev</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Number</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c>
                  <a:txBody>
                    <a:bodyPr/>
                    <a:lstStyle/>
                    <a:p>
                      <a:pPr indent="0" marL="0">
                        <a:buNone/>
                      </a:pPr>
                      <a:r>
                        <a:rPr lang="en-US" sz="1150" dirty="0">
                          <a:solidFill>
                            <a:srgbClr val="3D4852"/>
                          </a:solidFill>
                          <a:latin typeface="Arial" pitchFamily="34" charset="0"/>
                          <a:ea typeface="Arial" pitchFamily="34" charset="-122"/>
                          <a:cs typeface="Arial" pitchFamily="34" charset="-120"/>
                        </a:rPr>
                        <a:t>Minutes from previous stop</a:t>
                      </a:r>
                      <a:endParaRPr lang="en-US" sz="11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8CDB9"/>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5 · PROGRESS</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Implementation Status</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27</a:t>
            </a:r>
            <a:endParaRPr lang="en-US" sz="1100" dirty="0"/>
          </a:p>
        </p:txBody>
      </p:sp>
      <p:sp>
        <p:nvSpPr>
          <p:cNvPr id="7" name="Shape 4"/>
          <p:cNvSpPr/>
          <p:nvPr/>
        </p:nvSpPr>
        <p:spPr>
          <a:xfrm>
            <a:off x="685800" y="1783080"/>
            <a:ext cx="2331720" cy="4160520"/>
          </a:xfrm>
          <a:prstGeom prst="roundRect">
            <a:avLst>
              <a:gd name="adj" fmla="val 2353"/>
            </a:avLst>
          </a:prstGeom>
          <a:solidFill>
            <a:srgbClr val="1F2A33"/>
          </a:solidFill>
          <a:ln/>
        </p:spPr>
      </p:sp>
      <p:sp>
        <p:nvSpPr>
          <p:cNvPr id="8" name="Text 5"/>
          <p:cNvSpPr txBox="1"/>
          <p:nvPr/>
        </p:nvSpPr>
        <p:spPr>
          <a:xfrm>
            <a:off x="960120" y="2057400"/>
            <a:ext cx="1783080" cy="868680"/>
          </a:xfrm>
          <a:prstGeom prst="rect">
            <a:avLst/>
          </a:prstGeom>
          <a:noFill/>
          <a:ln/>
        </p:spPr>
        <p:txBody>
          <a:bodyPr wrap="square" lIns="0" tIns="0" rIns="0" bIns="0" rtlCol="0" anchor="ctr"/>
          <a:lstStyle/>
          <a:p>
            <a:pPr indent="0" marL="0">
              <a:buNone/>
            </a:pPr>
            <a:r>
              <a:rPr lang="en-US" sz="5400" dirty="0">
                <a:solidFill>
                  <a:srgbClr val="F6F1E7"/>
                </a:solidFill>
                <a:latin typeface="Georgia" pitchFamily="34" charset="0"/>
                <a:ea typeface="Georgia" pitchFamily="34" charset="-122"/>
                <a:cs typeface="Georgia" pitchFamily="34" charset="-120"/>
              </a:rPr>
              <a:t>87%</a:t>
            </a:r>
            <a:endParaRPr lang="en-US" sz="5400" dirty="0"/>
          </a:p>
        </p:txBody>
      </p:sp>
      <p:sp>
        <p:nvSpPr>
          <p:cNvPr id="9" name="Text 6"/>
          <p:cNvSpPr txBox="1"/>
          <p:nvPr/>
        </p:nvSpPr>
        <p:spPr>
          <a:xfrm>
            <a:off x="960120" y="3017520"/>
            <a:ext cx="1783080" cy="548640"/>
          </a:xfrm>
          <a:prstGeom prst="rect">
            <a:avLst/>
          </a:prstGeom>
          <a:noFill/>
          <a:ln/>
        </p:spPr>
        <p:txBody>
          <a:bodyPr wrap="square" lIns="0" tIns="0" rIns="0" bIns="0" rtlCol="0" anchor="t"/>
          <a:lstStyle/>
          <a:p>
            <a:pPr indent="0" marL="0">
              <a:buNone/>
            </a:pPr>
            <a:r>
              <a:rPr lang="en-US" sz="1350" dirty="0">
                <a:solidFill>
                  <a:srgbClr val="F6F1E7"/>
                </a:solidFill>
                <a:latin typeface="Arial" pitchFamily="34" charset="0"/>
                <a:ea typeface="Arial" pitchFamily="34" charset="-122"/>
                <a:cs typeface="Arial" pitchFamily="34" charset="-120"/>
              </a:rPr>
              <a:t>13 of 15 modules complete</a:t>
            </a:r>
            <a:endParaRPr lang="en-US" sz="1350" dirty="0"/>
          </a:p>
        </p:txBody>
      </p:sp>
      <p:sp>
        <p:nvSpPr>
          <p:cNvPr id="10" name="Text 7"/>
          <p:cNvSpPr txBox="1"/>
          <p:nvPr/>
        </p:nvSpPr>
        <p:spPr>
          <a:xfrm>
            <a:off x="960120" y="3977640"/>
            <a:ext cx="1783080" cy="1737360"/>
          </a:xfrm>
          <a:prstGeom prst="rect">
            <a:avLst/>
          </a:prstGeom>
          <a:noFill/>
          <a:ln/>
        </p:spPr>
        <p:txBody>
          <a:bodyPr wrap="square" lIns="0" tIns="0" rIns="0" bIns="0" rtlCol="0" anchor="t"/>
          <a:lstStyle/>
          <a:p>
            <a:pPr indent="0" marL="0">
              <a:buNone/>
            </a:pPr>
            <a:r>
              <a:rPr lang="en-US" sz="1200" dirty="0">
                <a:solidFill>
                  <a:srgbClr val="AEB6BC"/>
                </a:solidFill>
                <a:latin typeface="Arial" pitchFamily="34" charset="0"/>
                <a:ea typeface="Arial" pitchFamily="34" charset="-122"/>
                <a:cs typeface="Arial" pitchFamily="34" charset="-120"/>
              </a:rPr>
              <a:t>Main flow works end to end: browse → plan → preview → login → save → manage.</a:t>
            </a:r>
            <a:endParaRPr lang="en-US" sz="1200" dirty="0"/>
          </a:p>
        </p:txBody>
      </p:sp>
      <p:sp>
        <p:nvSpPr>
          <p:cNvPr id="11" name="Text 8"/>
          <p:cNvSpPr txBox="1"/>
          <p:nvPr/>
        </p:nvSpPr>
        <p:spPr>
          <a:xfrm>
            <a:off x="3383280" y="1737360"/>
            <a:ext cx="3878428" cy="365760"/>
          </a:xfrm>
          <a:prstGeom prst="rect">
            <a:avLst/>
          </a:prstGeom>
          <a:noFill/>
          <a:ln/>
        </p:spPr>
        <p:txBody>
          <a:bodyPr wrap="square" lIns="0" tIns="0" rIns="0" bIns="0" rtlCol="0" anchor="t"/>
          <a:lstStyle/>
          <a:p>
            <a:pPr indent="0" marL="0">
              <a:buNone/>
            </a:pPr>
            <a:r>
              <a:rPr lang="en-US" sz="1700" dirty="0">
                <a:solidFill>
                  <a:srgbClr val="1F2A33"/>
                </a:solidFill>
                <a:latin typeface="Georgia" pitchFamily="34" charset="0"/>
                <a:ea typeface="Georgia" pitchFamily="34" charset="-122"/>
                <a:cs typeface="Georgia" pitchFamily="34" charset="-120"/>
              </a:rPr>
              <a:t>Backend — Express API</a:t>
            </a:r>
            <a:endParaRPr lang="en-US" sz="1700" dirty="0"/>
          </a:p>
        </p:txBody>
      </p:sp>
      <p:sp>
        <p:nvSpPr>
          <p:cNvPr id="12" name="Shape 9"/>
          <p:cNvSpPr/>
          <p:nvPr/>
        </p:nvSpPr>
        <p:spPr>
          <a:xfrm>
            <a:off x="3383280" y="2734056"/>
            <a:ext cx="3878428" cy="0"/>
          </a:xfrm>
          <a:prstGeom prst="line">
            <a:avLst/>
          </a:prstGeom>
          <a:noFill/>
          <a:ln w="9525">
            <a:solidFill>
              <a:srgbClr val="D8CDB9"/>
            </a:solidFill>
            <a:prstDash val="solid"/>
          </a:ln>
        </p:spPr>
      </p:sp>
      <p:sp>
        <p:nvSpPr>
          <p:cNvPr id="13" name="Text 10"/>
          <p:cNvSpPr txBox="1"/>
          <p:nvPr/>
        </p:nvSpPr>
        <p:spPr>
          <a:xfrm>
            <a:off x="3383280" y="2286000"/>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Data models + seed (12 destinations, activities)</a:t>
            </a:r>
            <a:endParaRPr lang="en-US" sz="1150" dirty="0"/>
          </a:p>
        </p:txBody>
      </p:sp>
      <p:sp>
        <p:nvSpPr>
          <p:cNvPr id="14" name="Shape 11"/>
          <p:cNvSpPr/>
          <p:nvPr/>
        </p:nvSpPr>
        <p:spPr>
          <a:xfrm>
            <a:off x="6274156" y="2386584"/>
            <a:ext cx="987552" cy="246888"/>
          </a:xfrm>
          <a:prstGeom prst="roundRect">
            <a:avLst>
              <a:gd name="adj" fmla="val 48148"/>
            </a:avLst>
          </a:prstGeom>
          <a:solidFill>
            <a:srgbClr val="1F2A33"/>
          </a:solidFill>
          <a:ln/>
        </p:spPr>
      </p:sp>
      <p:sp>
        <p:nvSpPr>
          <p:cNvPr id="15" name="Text 12"/>
          <p:cNvSpPr txBox="1"/>
          <p:nvPr/>
        </p:nvSpPr>
        <p:spPr>
          <a:xfrm>
            <a:off x="6274156" y="2386584"/>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16" name="Shape 13"/>
          <p:cNvSpPr/>
          <p:nvPr/>
        </p:nvSpPr>
        <p:spPr>
          <a:xfrm>
            <a:off x="3383280" y="3182112"/>
            <a:ext cx="3878428" cy="0"/>
          </a:xfrm>
          <a:prstGeom prst="line">
            <a:avLst/>
          </a:prstGeom>
          <a:noFill/>
          <a:ln w="9525">
            <a:solidFill>
              <a:srgbClr val="D8CDB9"/>
            </a:solidFill>
            <a:prstDash val="solid"/>
          </a:ln>
        </p:spPr>
      </p:sp>
      <p:sp>
        <p:nvSpPr>
          <p:cNvPr id="17" name="Text 14"/>
          <p:cNvSpPr txBox="1"/>
          <p:nvPr/>
        </p:nvSpPr>
        <p:spPr>
          <a:xfrm>
            <a:off x="3383280" y="2734056"/>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Auth API — register, login, me (JWT, bcrypt)</a:t>
            </a:r>
            <a:endParaRPr lang="en-US" sz="1150" dirty="0"/>
          </a:p>
        </p:txBody>
      </p:sp>
      <p:sp>
        <p:nvSpPr>
          <p:cNvPr id="18" name="Shape 15"/>
          <p:cNvSpPr/>
          <p:nvPr/>
        </p:nvSpPr>
        <p:spPr>
          <a:xfrm>
            <a:off x="6274156" y="2834640"/>
            <a:ext cx="987552" cy="246888"/>
          </a:xfrm>
          <a:prstGeom prst="roundRect">
            <a:avLst>
              <a:gd name="adj" fmla="val 48148"/>
            </a:avLst>
          </a:prstGeom>
          <a:solidFill>
            <a:srgbClr val="1F2A33"/>
          </a:solidFill>
          <a:ln/>
        </p:spPr>
      </p:sp>
      <p:sp>
        <p:nvSpPr>
          <p:cNvPr id="19" name="Text 16"/>
          <p:cNvSpPr txBox="1"/>
          <p:nvPr/>
        </p:nvSpPr>
        <p:spPr>
          <a:xfrm>
            <a:off x="6274156" y="2834640"/>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20" name="Shape 17"/>
          <p:cNvSpPr/>
          <p:nvPr/>
        </p:nvSpPr>
        <p:spPr>
          <a:xfrm>
            <a:off x="3383280" y="3630168"/>
            <a:ext cx="3878428" cy="0"/>
          </a:xfrm>
          <a:prstGeom prst="line">
            <a:avLst/>
          </a:prstGeom>
          <a:noFill/>
          <a:ln w="9525">
            <a:solidFill>
              <a:srgbClr val="D8CDB9"/>
            </a:solidFill>
            <a:prstDash val="solid"/>
          </a:ln>
        </p:spPr>
      </p:sp>
      <p:sp>
        <p:nvSpPr>
          <p:cNvPr id="21" name="Text 18"/>
          <p:cNvSpPr txBox="1"/>
          <p:nvPr/>
        </p:nvSpPr>
        <p:spPr>
          <a:xfrm>
            <a:off x="3383280" y="3182112"/>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Destinations API — list, filter, details</a:t>
            </a:r>
            <a:endParaRPr lang="en-US" sz="1150" dirty="0"/>
          </a:p>
        </p:txBody>
      </p:sp>
      <p:sp>
        <p:nvSpPr>
          <p:cNvPr id="22" name="Shape 19"/>
          <p:cNvSpPr/>
          <p:nvPr/>
        </p:nvSpPr>
        <p:spPr>
          <a:xfrm>
            <a:off x="6274156" y="3282696"/>
            <a:ext cx="987552" cy="246888"/>
          </a:xfrm>
          <a:prstGeom prst="roundRect">
            <a:avLst>
              <a:gd name="adj" fmla="val 48148"/>
            </a:avLst>
          </a:prstGeom>
          <a:solidFill>
            <a:srgbClr val="1F2A33"/>
          </a:solidFill>
          <a:ln/>
        </p:spPr>
      </p:sp>
      <p:sp>
        <p:nvSpPr>
          <p:cNvPr id="23" name="Text 20"/>
          <p:cNvSpPr txBox="1"/>
          <p:nvPr/>
        </p:nvSpPr>
        <p:spPr>
          <a:xfrm>
            <a:off x="6274156" y="3282696"/>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24" name="Shape 21"/>
          <p:cNvSpPr/>
          <p:nvPr/>
        </p:nvSpPr>
        <p:spPr>
          <a:xfrm>
            <a:off x="3383280" y="4078224"/>
            <a:ext cx="3878428" cy="0"/>
          </a:xfrm>
          <a:prstGeom prst="line">
            <a:avLst/>
          </a:prstGeom>
          <a:noFill/>
          <a:ln w="9525">
            <a:solidFill>
              <a:srgbClr val="D8CDB9"/>
            </a:solidFill>
            <a:prstDash val="solid"/>
          </a:ln>
        </p:spPr>
      </p:sp>
      <p:sp>
        <p:nvSpPr>
          <p:cNvPr id="25" name="Text 22"/>
          <p:cNvSpPr txBox="1"/>
          <p:nvPr/>
        </p:nvSpPr>
        <p:spPr>
          <a:xfrm>
            <a:off x="3383280" y="3630168"/>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Itinerary service — scoring, routing, scheduling</a:t>
            </a:r>
            <a:endParaRPr lang="en-US" sz="1150" dirty="0"/>
          </a:p>
        </p:txBody>
      </p:sp>
      <p:sp>
        <p:nvSpPr>
          <p:cNvPr id="26" name="Shape 23"/>
          <p:cNvSpPr/>
          <p:nvPr/>
        </p:nvSpPr>
        <p:spPr>
          <a:xfrm>
            <a:off x="6274156" y="3730752"/>
            <a:ext cx="987552" cy="246888"/>
          </a:xfrm>
          <a:prstGeom prst="roundRect">
            <a:avLst>
              <a:gd name="adj" fmla="val 48148"/>
            </a:avLst>
          </a:prstGeom>
          <a:solidFill>
            <a:srgbClr val="1F2A33"/>
          </a:solidFill>
          <a:ln/>
        </p:spPr>
      </p:sp>
      <p:sp>
        <p:nvSpPr>
          <p:cNvPr id="27" name="Text 24"/>
          <p:cNvSpPr txBox="1"/>
          <p:nvPr/>
        </p:nvSpPr>
        <p:spPr>
          <a:xfrm>
            <a:off x="6274156" y="3730752"/>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28" name="Shape 25"/>
          <p:cNvSpPr/>
          <p:nvPr/>
        </p:nvSpPr>
        <p:spPr>
          <a:xfrm>
            <a:off x="3383280" y="4526280"/>
            <a:ext cx="3878428" cy="0"/>
          </a:xfrm>
          <a:prstGeom prst="line">
            <a:avLst/>
          </a:prstGeom>
          <a:noFill/>
          <a:ln w="9525">
            <a:solidFill>
              <a:srgbClr val="D8CDB9"/>
            </a:solidFill>
            <a:prstDash val="solid"/>
          </a:ln>
        </p:spPr>
      </p:sp>
      <p:sp>
        <p:nvSpPr>
          <p:cNvPr id="29" name="Text 26"/>
          <p:cNvSpPr txBox="1"/>
          <p:nvPr/>
        </p:nvSpPr>
        <p:spPr>
          <a:xfrm>
            <a:off x="3383280" y="4078224"/>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Budget service — tier-based estimate</a:t>
            </a:r>
            <a:endParaRPr lang="en-US" sz="1150" dirty="0"/>
          </a:p>
        </p:txBody>
      </p:sp>
      <p:sp>
        <p:nvSpPr>
          <p:cNvPr id="30" name="Shape 27"/>
          <p:cNvSpPr/>
          <p:nvPr/>
        </p:nvSpPr>
        <p:spPr>
          <a:xfrm>
            <a:off x="6274156" y="4178808"/>
            <a:ext cx="987552" cy="246888"/>
          </a:xfrm>
          <a:prstGeom prst="roundRect">
            <a:avLst>
              <a:gd name="adj" fmla="val 48148"/>
            </a:avLst>
          </a:prstGeom>
          <a:solidFill>
            <a:srgbClr val="1F2A33"/>
          </a:solidFill>
          <a:ln/>
        </p:spPr>
      </p:sp>
      <p:sp>
        <p:nvSpPr>
          <p:cNvPr id="31" name="Text 28"/>
          <p:cNvSpPr txBox="1"/>
          <p:nvPr/>
        </p:nvSpPr>
        <p:spPr>
          <a:xfrm>
            <a:off x="6274156" y="4178808"/>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32" name="Shape 29"/>
          <p:cNvSpPr/>
          <p:nvPr/>
        </p:nvSpPr>
        <p:spPr>
          <a:xfrm>
            <a:off x="3383280" y="4974336"/>
            <a:ext cx="3878428" cy="0"/>
          </a:xfrm>
          <a:prstGeom prst="line">
            <a:avLst/>
          </a:prstGeom>
          <a:noFill/>
          <a:ln w="9525">
            <a:solidFill>
              <a:srgbClr val="D8CDB9"/>
            </a:solidFill>
            <a:prstDash val="solid"/>
          </a:ln>
        </p:spPr>
      </p:sp>
      <p:sp>
        <p:nvSpPr>
          <p:cNvPr id="33" name="Text 30"/>
          <p:cNvSpPr txBox="1"/>
          <p:nvPr/>
        </p:nvSpPr>
        <p:spPr>
          <a:xfrm>
            <a:off x="3383280" y="4526280"/>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Trips API — save, list, update, delete, ownership</a:t>
            </a:r>
            <a:endParaRPr lang="en-US" sz="1150" dirty="0"/>
          </a:p>
        </p:txBody>
      </p:sp>
      <p:sp>
        <p:nvSpPr>
          <p:cNvPr id="34" name="Shape 31"/>
          <p:cNvSpPr/>
          <p:nvPr/>
        </p:nvSpPr>
        <p:spPr>
          <a:xfrm>
            <a:off x="6274156" y="4626864"/>
            <a:ext cx="987552" cy="246888"/>
          </a:xfrm>
          <a:prstGeom prst="roundRect">
            <a:avLst>
              <a:gd name="adj" fmla="val 48148"/>
            </a:avLst>
          </a:prstGeom>
          <a:solidFill>
            <a:srgbClr val="1F2A33"/>
          </a:solidFill>
          <a:ln/>
        </p:spPr>
      </p:sp>
      <p:sp>
        <p:nvSpPr>
          <p:cNvPr id="35" name="Text 32"/>
          <p:cNvSpPr txBox="1"/>
          <p:nvPr/>
        </p:nvSpPr>
        <p:spPr>
          <a:xfrm>
            <a:off x="6274156" y="4626864"/>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36" name="Shape 33"/>
          <p:cNvSpPr/>
          <p:nvPr/>
        </p:nvSpPr>
        <p:spPr>
          <a:xfrm>
            <a:off x="3383280" y="5422392"/>
            <a:ext cx="3878428" cy="0"/>
          </a:xfrm>
          <a:prstGeom prst="line">
            <a:avLst/>
          </a:prstGeom>
          <a:noFill/>
          <a:ln w="9525">
            <a:solidFill>
              <a:srgbClr val="D8CDB9"/>
            </a:solidFill>
            <a:prstDash val="solid"/>
          </a:ln>
        </p:spPr>
      </p:sp>
      <p:sp>
        <p:nvSpPr>
          <p:cNvPr id="37" name="Text 34"/>
          <p:cNvSpPr txBox="1"/>
          <p:nvPr/>
        </p:nvSpPr>
        <p:spPr>
          <a:xfrm>
            <a:off x="3383280" y="4974336"/>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OpenStreetMap places + OSRM road distances (live)</a:t>
            </a:r>
            <a:endParaRPr lang="en-US" sz="1150" dirty="0"/>
          </a:p>
        </p:txBody>
      </p:sp>
      <p:sp>
        <p:nvSpPr>
          <p:cNvPr id="38" name="Shape 35"/>
          <p:cNvSpPr/>
          <p:nvPr/>
        </p:nvSpPr>
        <p:spPr>
          <a:xfrm>
            <a:off x="6274156" y="5074920"/>
            <a:ext cx="987552" cy="246888"/>
          </a:xfrm>
          <a:prstGeom prst="roundRect">
            <a:avLst>
              <a:gd name="adj" fmla="val 48148"/>
            </a:avLst>
          </a:prstGeom>
          <a:solidFill>
            <a:srgbClr val="1F2A33"/>
          </a:solidFill>
          <a:ln/>
        </p:spPr>
      </p:sp>
      <p:sp>
        <p:nvSpPr>
          <p:cNvPr id="39" name="Text 36"/>
          <p:cNvSpPr txBox="1"/>
          <p:nvPr/>
        </p:nvSpPr>
        <p:spPr>
          <a:xfrm>
            <a:off x="6274156" y="5074920"/>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40" name="Shape 37"/>
          <p:cNvSpPr/>
          <p:nvPr/>
        </p:nvSpPr>
        <p:spPr>
          <a:xfrm>
            <a:off x="3383280" y="5870448"/>
            <a:ext cx="3878428" cy="0"/>
          </a:xfrm>
          <a:prstGeom prst="line">
            <a:avLst/>
          </a:prstGeom>
          <a:noFill/>
          <a:ln w="9525">
            <a:solidFill>
              <a:srgbClr val="D8CDB9"/>
            </a:solidFill>
            <a:prstDash val="solid"/>
          </a:ln>
        </p:spPr>
      </p:sp>
      <p:sp>
        <p:nvSpPr>
          <p:cNvPr id="41" name="Text 38"/>
          <p:cNvSpPr txBox="1"/>
          <p:nvPr/>
        </p:nvSpPr>
        <p:spPr>
          <a:xfrm>
            <a:off x="3383280" y="5422392"/>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Google Places / Distance providers — live-key testing</a:t>
            </a:r>
            <a:endParaRPr lang="en-US" sz="1150" dirty="0"/>
          </a:p>
        </p:txBody>
      </p:sp>
      <p:sp>
        <p:nvSpPr>
          <p:cNvPr id="42" name="Shape 39"/>
          <p:cNvSpPr/>
          <p:nvPr/>
        </p:nvSpPr>
        <p:spPr>
          <a:xfrm>
            <a:off x="6274156" y="5522976"/>
            <a:ext cx="987552" cy="246888"/>
          </a:xfrm>
          <a:prstGeom prst="roundRect">
            <a:avLst>
              <a:gd name="adj" fmla="val 48148"/>
            </a:avLst>
          </a:prstGeom>
          <a:solidFill>
            <a:srgbClr val="F6F1E7"/>
          </a:solidFill>
          <a:ln w="12700">
            <a:solidFill>
              <a:srgbClr val="B4532A"/>
            </a:solidFill>
            <a:prstDash val="solid"/>
          </a:ln>
        </p:spPr>
      </p:sp>
      <p:sp>
        <p:nvSpPr>
          <p:cNvPr id="43" name="Text 40"/>
          <p:cNvSpPr txBox="1"/>
          <p:nvPr/>
        </p:nvSpPr>
        <p:spPr>
          <a:xfrm>
            <a:off x="6274156" y="5522976"/>
            <a:ext cx="987552" cy="246888"/>
          </a:xfrm>
          <a:prstGeom prst="rect">
            <a:avLst/>
          </a:prstGeom>
          <a:noFill/>
          <a:ln/>
        </p:spPr>
        <p:txBody>
          <a:bodyPr wrap="square" lIns="0" tIns="0" rIns="0" bIns="0" rtlCol="0" anchor="ctr"/>
          <a:lstStyle/>
          <a:p>
            <a:pPr algn="ctr" indent="0" marL="0">
              <a:buNone/>
            </a:pPr>
            <a:r>
              <a:rPr lang="en-US" sz="850" b="1" spc="100" kern="0" dirty="0">
                <a:solidFill>
                  <a:srgbClr val="B4532A"/>
                </a:solidFill>
                <a:latin typeface="Arial" pitchFamily="34" charset="0"/>
                <a:ea typeface="Arial" pitchFamily="34" charset="-122"/>
                <a:cs typeface="Arial" pitchFamily="34" charset="-120"/>
              </a:rPr>
              <a:t>IN PROGRESS</a:t>
            </a:r>
            <a:endParaRPr lang="en-US" sz="850" dirty="0"/>
          </a:p>
        </p:txBody>
      </p:sp>
      <p:sp>
        <p:nvSpPr>
          <p:cNvPr id="44" name="Shape 41"/>
          <p:cNvSpPr/>
          <p:nvPr/>
        </p:nvSpPr>
        <p:spPr>
          <a:xfrm>
            <a:off x="3383280" y="6318504"/>
            <a:ext cx="3878428" cy="0"/>
          </a:xfrm>
          <a:prstGeom prst="line">
            <a:avLst/>
          </a:prstGeom>
          <a:noFill/>
          <a:ln w="9525">
            <a:solidFill>
              <a:srgbClr val="D8CDB9"/>
            </a:solidFill>
            <a:prstDash val="solid"/>
          </a:ln>
        </p:spPr>
      </p:sp>
      <p:sp>
        <p:nvSpPr>
          <p:cNvPr id="45" name="Text 42"/>
          <p:cNvSpPr txBox="1"/>
          <p:nvPr/>
        </p:nvSpPr>
        <p:spPr>
          <a:xfrm>
            <a:off x="3383280" y="5870448"/>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Automated tests — unit + API</a:t>
            </a:r>
            <a:endParaRPr lang="en-US" sz="1150" dirty="0"/>
          </a:p>
        </p:txBody>
      </p:sp>
      <p:sp>
        <p:nvSpPr>
          <p:cNvPr id="46" name="Shape 43"/>
          <p:cNvSpPr/>
          <p:nvPr/>
        </p:nvSpPr>
        <p:spPr>
          <a:xfrm>
            <a:off x="6274156" y="5971032"/>
            <a:ext cx="987552" cy="246888"/>
          </a:xfrm>
          <a:prstGeom prst="roundRect">
            <a:avLst>
              <a:gd name="adj" fmla="val 48148"/>
            </a:avLst>
          </a:prstGeom>
          <a:solidFill>
            <a:srgbClr val="1F2A33"/>
          </a:solidFill>
          <a:ln/>
        </p:spPr>
      </p:sp>
      <p:sp>
        <p:nvSpPr>
          <p:cNvPr id="47" name="Text 44"/>
          <p:cNvSpPr txBox="1"/>
          <p:nvPr/>
        </p:nvSpPr>
        <p:spPr>
          <a:xfrm>
            <a:off x="6274156" y="5971032"/>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48" name="Text 45"/>
          <p:cNvSpPr txBox="1"/>
          <p:nvPr/>
        </p:nvSpPr>
        <p:spPr>
          <a:xfrm>
            <a:off x="7627468" y="1737360"/>
            <a:ext cx="3878428" cy="365760"/>
          </a:xfrm>
          <a:prstGeom prst="rect">
            <a:avLst/>
          </a:prstGeom>
          <a:noFill/>
          <a:ln/>
        </p:spPr>
        <p:txBody>
          <a:bodyPr wrap="square" lIns="0" tIns="0" rIns="0" bIns="0" rtlCol="0" anchor="t"/>
          <a:lstStyle/>
          <a:p>
            <a:pPr indent="0" marL="0">
              <a:buNone/>
            </a:pPr>
            <a:r>
              <a:rPr lang="en-US" sz="1700" dirty="0">
                <a:solidFill>
                  <a:srgbClr val="1F2A33"/>
                </a:solidFill>
                <a:latin typeface="Georgia" pitchFamily="34" charset="0"/>
                <a:ea typeface="Georgia" pitchFamily="34" charset="-122"/>
                <a:cs typeface="Georgia" pitchFamily="34" charset="-120"/>
              </a:rPr>
              <a:t>Frontend — React client</a:t>
            </a:r>
            <a:endParaRPr lang="en-US" sz="1700" dirty="0"/>
          </a:p>
        </p:txBody>
      </p:sp>
      <p:sp>
        <p:nvSpPr>
          <p:cNvPr id="49" name="Shape 46"/>
          <p:cNvSpPr/>
          <p:nvPr/>
        </p:nvSpPr>
        <p:spPr>
          <a:xfrm>
            <a:off x="7627468" y="2734056"/>
            <a:ext cx="3878428" cy="0"/>
          </a:xfrm>
          <a:prstGeom prst="line">
            <a:avLst/>
          </a:prstGeom>
          <a:noFill/>
          <a:ln w="9525">
            <a:solidFill>
              <a:srgbClr val="D8CDB9"/>
            </a:solidFill>
            <a:prstDash val="solid"/>
          </a:ln>
        </p:spPr>
      </p:sp>
      <p:sp>
        <p:nvSpPr>
          <p:cNvPr id="50" name="Text 47"/>
          <p:cNvSpPr txBox="1"/>
          <p:nvPr/>
        </p:nvSpPr>
        <p:spPr>
          <a:xfrm>
            <a:off x="7627468" y="2286000"/>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Home, Destinations, Destination details</a:t>
            </a:r>
            <a:endParaRPr lang="en-US" sz="1150" dirty="0"/>
          </a:p>
        </p:txBody>
      </p:sp>
      <p:sp>
        <p:nvSpPr>
          <p:cNvPr id="51" name="Shape 48"/>
          <p:cNvSpPr/>
          <p:nvPr/>
        </p:nvSpPr>
        <p:spPr>
          <a:xfrm>
            <a:off x="10518343" y="2386584"/>
            <a:ext cx="987552" cy="246888"/>
          </a:xfrm>
          <a:prstGeom prst="roundRect">
            <a:avLst>
              <a:gd name="adj" fmla="val 48148"/>
            </a:avLst>
          </a:prstGeom>
          <a:solidFill>
            <a:srgbClr val="1F2A33"/>
          </a:solidFill>
          <a:ln/>
        </p:spPr>
      </p:sp>
      <p:sp>
        <p:nvSpPr>
          <p:cNvPr id="52" name="Text 49"/>
          <p:cNvSpPr txBox="1"/>
          <p:nvPr/>
        </p:nvSpPr>
        <p:spPr>
          <a:xfrm>
            <a:off x="10518343" y="2386584"/>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53" name="Shape 50"/>
          <p:cNvSpPr/>
          <p:nvPr/>
        </p:nvSpPr>
        <p:spPr>
          <a:xfrm>
            <a:off x="7627468" y="3182112"/>
            <a:ext cx="3878428" cy="0"/>
          </a:xfrm>
          <a:prstGeom prst="line">
            <a:avLst/>
          </a:prstGeom>
          <a:noFill/>
          <a:ln w="9525">
            <a:solidFill>
              <a:srgbClr val="D8CDB9"/>
            </a:solidFill>
            <a:prstDash val="solid"/>
          </a:ln>
        </p:spPr>
      </p:sp>
      <p:sp>
        <p:nvSpPr>
          <p:cNvPr id="54" name="Text 51"/>
          <p:cNvSpPr txBox="1"/>
          <p:nvPr/>
        </p:nvSpPr>
        <p:spPr>
          <a:xfrm>
            <a:off x="7627468" y="2734056"/>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Plan Trip form + generated plan preview</a:t>
            </a:r>
            <a:endParaRPr lang="en-US" sz="1150" dirty="0"/>
          </a:p>
        </p:txBody>
      </p:sp>
      <p:sp>
        <p:nvSpPr>
          <p:cNvPr id="55" name="Shape 52"/>
          <p:cNvSpPr/>
          <p:nvPr/>
        </p:nvSpPr>
        <p:spPr>
          <a:xfrm>
            <a:off x="10518343" y="2834640"/>
            <a:ext cx="987552" cy="246888"/>
          </a:xfrm>
          <a:prstGeom prst="roundRect">
            <a:avLst>
              <a:gd name="adj" fmla="val 48148"/>
            </a:avLst>
          </a:prstGeom>
          <a:solidFill>
            <a:srgbClr val="1F2A33"/>
          </a:solidFill>
          <a:ln/>
        </p:spPr>
      </p:sp>
      <p:sp>
        <p:nvSpPr>
          <p:cNvPr id="56" name="Text 53"/>
          <p:cNvSpPr txBox="1"/>
          <p:nvPr/>
        </p:nvSpPr>
        <p:spPr>
          <a:xfrm>
            <a:off x="10518343" y="2834640"/>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57" name="Shape 54"/>
          <p:cNvSpPr/>
          <p:nvPr/>
        </p:nvSpPr>
        <p:spPr>
          <a:xfrm>
            <a:off x="7627468" y="3630168"/>
            <a:ext cx="3878428" cy="0"/>
          </a:xfrm>
          <a:prstGeom prst="line">
            <a:avLst/>
          </a:prstGeom>
          <a:noFill/>
          <a:ln w="9525">
            <a:solidFill>
              <a:srgbClr val="D8CDB9"/>
            </a:solidFill>
            <a:prstDash val="solid"/>
          </a:ln>
        </p:spPr>
      </p:sp>
      <p:sp>
        <p:nvSpPr>
          <p:cNvPr id="58" name="Text 55"/>
          <p:cNvSpPr txBox="1"/>
          <p:nvPr/>
        </p:nvSpPr>
        <p:spPr>
          <a:xfrm>
            <a:off x="7627468" y="3182112"/>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Login / Register, protected routes, plan restore</a:t>
            </a:r>
            <a:endParaRPr lang="en-US" sz="1150" dirty="0"/>
          </a:p>
        </p:txBody>
      </p:sp>
      <p:sp>
        <p:nvSpPr>
          <p:cNvPr id="59" name="Shape 56"/>
          <p:cNvSpPr/>
          <p:nvPr/>
        </p:nvSpPr>
        <p:spPr>
          <a:xfrm>
            <a:off x="10518343" y="3282696"/>
            <a:ext cx="987552" cy="246888"/>
          </a:xfrm>
          <a:prstGeom prst="roundRect">
            <a:avLst>
              <a:gd name="adj" fmla="val 48148"/>
            </a:avLst>
          </a:prstGeom>
          <a:solidFill>
            <a:srgbClr val="1F2A33"/>
          </a:solidFill>
          <a:ln/>
        </p:spPr>
      </p:sp>
      <p:sp>
        <p:nvSpPr>
          <p:cNvPr id="60" name="Text 57"/>
          <p:cNvSpPr txBox="1"/>
          <p:nvPr/>
        </p:nvSpPr>
        <p:spPr>
          <a:xfrm>
            <a:off x="10518343" y="3282696"/>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61" name="Shape 58"/>
          <p:cNvSpPr/>
          <p:nvPr/>
        </p:nvSpPr>
        <p:spPr>
          <a:xfrm>
            <a:off x="7627468" y="4078224"/>
            <a:ext cx="3878428" cy="0"/>
          </a:xfrm>
          <a:prstGeom prst="line">
            <a:avLst/>
          </a:prstGeom>
          <a:noFill/>
          <a:ln w="9525">
            <a:solidFill>
              <a:srgbClr val="D8CDB9"/>
            </a:solidFill>
            <a:prstDash val="solid"/>
          </a:ln>
        </p:spPr>
      </p:sp>
      <p:sp>
        <p:nvSpPr>
          <p:cNvPr id="62" name="Text 59"/>
          <p:cNvSpPr txBox="1"/>
          <p:nvPr/>
        </p:nvSpPr>
        <p:spPr>
          <a:xfrm>
            <a:off x="7627468" y="3630168"/>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My Trips + Trip Details (notes, status, delete)</a:t>
            </a:r>
            <a:endParaRPr lang="en-US" sz="1150" dirty="0"/>
          </a:p>
        </p:txBody>
      </p:sp>
      <p:sp>
        <p:nvSpPr>
          <p:cNvPr id="63" name="Shape 60"/>
          <p:cNvSpPr/>
          <p:nvPr/>
        </p:nvSpPr>
        <p:spPr>
          <a:xfrm>
            <a:off x="10518343" y="3730752"/>
            <a:ext cx="987552" cy="246888"/>
          </a:xfrm>
          <a:prstGeom prst="roundRect">
            <a:avLst>
              <a:gd name="adj" fmla="val 48148"/>
            </a:avLst>
          </a:prstGeom>
          <a:solidFill>
            <a:srgbClr val="1F2A33"/>
          </a:solidFill>
          <a:ln/>
        </p:spPr>
      </p:sp>
      <p:sp>
        <p:nvSpPr>
          <p:cNvPr id="64" name="Text 61"/>
          <p:cNvSpPr txBox="1"/>
          <p:nvPr/>
        </p:nvSpPr>
        <p:spPr>
          <a:xfrm>
            <a:off x="10518343" y="3730752"/>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65" name="Shape 62"/>
          <p:cNvSpPr/>
          <p:nvPr/>
        </p:nvSpPr>
        <p:spPr>
          <a:xfrm>
            <a:off x="7627468" y="4526280"/>
            <a:ext cx="3878428" cy="0"/>
          </a:xfrm>
          <a:prstGeom prst="line">
            <a:avLst/>
          </a:prstGeom>
          <a:noFill/>
          <a:ln w="9525">
            <a:solidFill>
              <a:srgbClr val="D8CDB9"/>
            </a:solidFill>
            <a:prstDash val="solid"/>
          </a:ln>
        </p:spPr>
      </p:sp>
      <p:sp>
        <p:nvSpPr>
          <p:cNvPr id="66" name="Text 63"/>
          <p:cNvSpPr txBox="1"/>
          <p:nvPr/>
        </p:nvSpPr>
        <p:spPr>
          <a:xfrm>
            <a:off x="7627468" y="4078224"/>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Discover nearby places panel</a:t>
            </a:r>
            <a:endParaRPr lang="en-US" sz="1150" dirty="0"/>
          </a:p>
        </p:txBody>
      </p:sp>
      <p:sp>
        <p:nvSpPr>
          <p:cNvPr id="67" name="Shape 64"/>
          <p:cNvSpPr/>
          <p:nvPr/>
        </p:nvSpPr>
        <p:spPr>
          <a:xfrm>
            <a:off x="10518343" y="4178808"/>
            <a:ext cx="987552" cy="246888"/>
          </a:xfrm>
          <a:prstGeom prst="roundRect">
            <a:avLst>
              <a:gd name="adj" fmla="val 48148"/>
            </a:avLst>
          </a:prstGeom>
          <a:solidFill>
            <a:srgbClr val="1F2A33"/>
          </a:solidFill>
          <a:ln/>
        </p:spPr>
      </p:sp>
      <p:sp>
        <p:nvSpPr>
          <p:cNvPr id="68" name="Text 65"/>
          <p:cNvSpPr txBox="1"/>
          <p:nvPr/>
        </p:nvSpPr>
        <p:spPr>
          <a:xfrm>
            <a:off x="10518343" y="4178808"/>
            <a:ext cx="987552" cy="246888"/>
          </a:xfrm>
          <a:prstGeom prst="rect">
            <a:avLst/>
          </a:prstGeom>
          <a:noFill/>
          <a:ln/>
        </p:spPr>
        <p:txBody>
          <a:bodyPr wrap="square" lIns="0" tIns="0" rIns="0" bIns="0" rtlCol="0" anchor="ctr"/>
          <a:lstStyle/>
          <a:p>
            <a:pPr algn="ctr" indent="0" marL="0">
              <a:buNone/>
            </a:pPr>
            <a:r>
              <a:rPr lang="en-US" sz="850" b="1" spc="100" kern="0" dirty="0">
                <a:solidFill>
                  <a:srgbClr val="F6F1E7"/>
                </a:solidFill>
                <a:latin typeface="Arial" pitchFamily="34" charset="0"/>
                <a:ea typeface="Arial" pitchFamily="34" charset="-122"/>
                <a:cs typeface="Arial" pitchFamily="34" charset="-120"/>
              </a:rPr>
              <a:t>DONE</a:t>
            </a:r>
            <a:endParaRPr lang="en-US" sz="850" dirty="0"/>
          </a:p>
        </p:txBody>
      </p:sp>
      <p:sp>
        <p:nvSpPr>
          <p:cNvPr id="69" name="Shape 66"/>
          <p:cNvSpPr/>
          <p:nvPr/>
        </p:nvSpPr>
        <p:spPr>
          <a:xfrm>
            <a:off x="7627468" y="4974336"/>
            <a:ext cx="3878428" cy="0"/>
          </a:xfrm>
          <a:prstGeom prst="line">
            <a:avLst/>
          </a:prstGeom>
          <a:noFill/>
          <a:ln w="9525">
            <a:solidFill>
              <a:srgbClr val="D8CDB9"/>
            </a:solidFill>
            <a:prstDash val="solid"/>
          </a:ln>
        </p:spPr>
      </p:sp>
      <p:sp>
        <p:nvSpPr>
          <p:cNvPr id="70" name="Text 67"/>
          <p:cNvSpPr txBox="1"/>
          <p:nvPr/>
        </p:nvSpPr>
        <p:spPr>
          <a:xfrm>
            <a:off x="7627468" y="4526280"/>
            <a:ext cx="2781148" cy="448056"/>
          </a:xfrm>
          <a:prstGeom prst="rect">
            <a:avLst/>
          </a:prstGeom>
          <a:noFill/>
          <a:ln/>
        </p:spPr>
        <p:txBody>
          <a:bodyPr wrap="square" lIns="0" tIns="0" rIns="0" bIns="0" rtlCol="0" anchor="ctr"/>
          <a:lstStyle/>
          <a:p>
            <a:pPr indent="0" marL="0">
              <a:buNone/>
            </a:pPr>
            <a:r>
              <a:rPr lang="en-US" sz="1150" dirty="0">
                <a:solidFill>
                  <a:srgbClr val="1F2A33"/>
                </a:solidFill>
                <a:latin typeface="Arial" pitchFamily="34" charset="0"/>
                <a:ea typeface="Arial" pitchFamily="34" charset="-122"/>
                <a:cs typeface="Arial" pitchFamily="34" charset="-120"/>
              </a:rPr>
              <a:t>Accessibility audit + cross-browser testing</a:t>
            </a:r>
            <a:endParaRPr lang="en-US" sz="1150" dirty="0"/>
          </a:p>
        </p:txBody>
      </p:sp>
      <p:sp>
        <p:nvSpPr>
          <p:cNvPr id="71" name="Shape 68"/>
          <p:cNvSpPr/>
          <p:nvPr/>
        </p:nvSpPr>
        <p:spPr>
          <a:xfrm>
            <a:off x="10518343" y="4626864"/>
            <a:ext cx="987552" cy="246888"/>
          </a:xfrm>
          <a:prstGeom prst="roundRect">
            <a:avLst>
              <a:gd name="adj" fmla="val 48148"/>
            </a:avLst>
          </a:prstGeom>
          <a:solidFill>
            <a:srgbClr val="F6F1E7"/>
          </a:solidFill>
          <a:ln w="12700">
            <a:solidFill>
              <a:srgbClr val="B4532A"/>
            </a:solidFill>
            <a:prstDash val="solid"/>
          </a:ln>
        </p:spPr>
      </p:sp>
      <p:sp>
        <p:nvSpPr>
          <p:cNvPr id="72" name="Text 69"/>
          <p:cNvSpPr txBox="1"/>
          <p:nvPr/>
        </p:nvSpPr>
        <p:spPr>
          <a:xfrm>
            <a:off x="10518343" y="4626864"/>
            <a:ext cx="987552" cy="246888"/>
          </a:xfrm>
          <a:prstGeom prst="rect">
            <a:avLst/>
          </a:prstGeom>
          <a:noFill/>
          <a:ln/>
        </p:spPr>
        <p:txBody>
          <a:bodyPr wrap="square" lIns="0" tIns="0" rIns="0" bIns="0" rtlCol="0" anchor="ctr"/>
          <a:lstStyle/>
          <a:p>
            <a:pPr algn="ctr" indent="0" marL="0">
              <a:buNone/>
            </a:pPr>
            <a:r>
              <a:rPr lang="en-US" sz="850" b="1" spc="100" kern="0" dirty="0">
                <a:solidFill>
                  <a:srgbClr val="B4532A"/>
                </a:solidFill>
                <a:latin typeface="Arial" pitchFamily="34" charset="0"/>
                <a:ea typeface="Arial" pitchFamily="34" charset="-122"/>
                <a:cs typeface="Arial" pitchFamily="34" charset="-120"/>
              </a:rPr>
              <a:t>IN PROGRESS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t"/>
          <a:lstStyle/>
          <a:p>
            <a:pPr indent="0" marL="0">
              <a:buNone/>
            </a:pPr>
            <a:r>
              <a:rPr lang="en-US" sz="1050" b="1" spc="300" kern="0" dirty="0">
                <a:solidFill>
                  <a:srgbClr val="B4532A"/>
                </a:solidFill>
                <a:latin typeface="Arial" pitchFamily="34" charset="0"/>
                <a:ea typeface="Arial" pitchFamily="34" charset="-122"/>
                <a:cs typeface="Arial" pitchFamily="34" charset="-120"/>
              </a:rPr>
              <a:t>PART 5 · PROGRESS</a:t>
            </a:r>
            <a:endParaRPr lang="en-US" sz="1050" dirty="0"/>
          </a:p>
        </p:txBody>
      </p:sp>
      <p:sp>
        <p:nvSpPr>
          <p:cNvPr id="3" name="Text 1"/>
          <p:cNvSpPr txBox="1"/>
          <p:nvPr/>
        </p:nvSpPr>
        <p:spPr>
          <a:xfrm>
            <a:off x="685800" y="749808"/>
            <a:ext cx="10820095" cy="685800"/>
          </a:xfrm>
          <a:prstGeom prst="rect">
            <a:avLst/>
          </a:prstGeom>
          <a:noFill/>
          <a:ln/>
        </p:spPr>
        <p:txBody>
          <a:bodyPr wrap="square" lIns="0" tIns="0" rIns="0" bIns="0" rtlCol="0" anchor="ctr"/>
          <a:lstStyle/>
          <a:p>
            <a:pPr indent="0" marL="0">
              <a:buNone/>
            </a:pPr>
            <a:r>
              <a:rPr lang="en-US" sz="3400" dirty="0">
                <a:solidFill>
                  <a:srgbClr val="1F2A33"/>
                </a:solidFill>
                <a:latin typeface="Georgia" pitchFamily="34" charset="0"/>
                <a:ea typeface="Georgia" pitchFamily="34" charset="-122"/>
                <a:cs typeface="Georgia" pitchFamily="34" charset="-120"/>
              </a:rPr>
              <a:t>Implementation Status — Demo Flow</a:t>
            </a:r>
            <a:endParaRPr lang="en-US" sz="3400" dirty="0"/>
          </a:p>
        </p:txBody>
      </p:sp>
      <p:sp>
        <p:nvSpPr>
          <p:cNvPr id="4" name="Text 2"/>
          <p:cNvSpPr txBox="1"/>
          <p:nvPr/>
        </p:nvSpPr>
        <p:spPr>
          <a:xfrm>
            <a:off x="685800" y="6382512"/>
            <a:ext cx="5486400" cy="228600"/>
          </a:xfrm>
          <a:prstGeom prst="rect">
            <a:avLst/>
          </a:prstGeom>
          <a:noFill/>
          <a:ln/>
        </p:spPr>
        <p:txBody>
          <a:bodyPr wrap="square" lIns="0" tIns="0" rIns="0" bIns="0" rtlCol="0" anchor="t"/>
          <a:lstStyle/>
          <a:p>
            <a:pPr indent="0" marL="0">
              <a:buNone/>
            </a:pPr>
            <a:r>
              <a:rPr lang="en-US" sz="1000" dirty="0">
                <a:solidFill>
                  <a:srgbClr val="6A6F73"/>
                </a:solidFill>
                <a:latin typeface="Arial" pitchFamily="34" charset="0"/>
                <a:ea typeface="Arial" pitchFamily="34" charset="-122"/>
                <a:cs typeface="Arial" pitchFamily="34" charset="-120"/>
              </a:rPr>
              <a:t>Smart Trip Planner · Presentation-1</a:t>
            </a:r>
            <a:endParaRPr lang="en-US" sz="1000" dirty="0"/>
          </a:p>
        </p:txBody>
      </p:sp>
      <p:sp>
        <p:nvSpPr>
          <p:cNvPr id="5" name="Text 3"/>
          <p:cNvSpPr txBox="1"/>
          <p:nvPr/>
        </p:nvSpPr>
        <p:spPr>
          <a:xfrm>
            <a:off x="10591495" y="6382512"/>
            <a:ext cx="914400" cy="228600"/>
          </a:xfrm>
          <a:prstGeom prst="rect">
            <a:avLst/>
          </a:prstGeom>
          <a:noFill/>
          <a:ln/>
        </p:spPr>
        <p:txBody>
          <a:bodyPr wrap="square" lIns="0" tIns="0" rIns="0" bIns="0" rtlCol="0" anchor="t"/>
          <a:lstStyle/>
          <a:p>
            <a:pPr algn="r" indent="0" marL="0">
              <a:buNone/>
            </a:pPr>
            <a:r>
              <a:rPr lang="en-US" sz="1100" dirty="0">
                <a:solidFill>
                  <a:srgbClr val="6A6F73"/>
                </a:solidFill>
                <a:latin typeface="Georgia" pitchFamily="34" charset="0"/>
                <a:ea typeface="Georgia" pitchFamily="34" charset="-122"/>
                <a:cs typeface="Georgia" pitchFamily="34" charset="-120"/>
              </a:rPr>
              <a:t>28</a:t>
            </a:r>
            <a:endParaRPr lang="en-US" sz="1100" dirty="0"/>
          </a:p>
        </p:txBody>
      </p:sp>
      <p:sp>
        <p:nvSpPr>
          <p:cNvPr id="7" name="Shape 4"/>
          <p:cNvSpPr/>
          <p:nvPr/>
        </p:nvSpPr>
        <p:spPr>
          <a:xfrm>
            <a:off x="896112" y="2057400"/>
            <a:ext cx="7396277" cy="0"/>
          </a:xfrm>
          <a:prstGeom prst="line">
            <a:avLst/>
          </a:prstGeom>
          <a:noFill/>
          <a:ln w="15875">
            <a:solidFill>
              <a:srgbClr val="B4532A"/>
            </a:solidFill>
            <a:prstDash val="dash"/>
          </a:ln>
        </p:spPr>
      </p:sp>
      <p:sp>
        <p:nvSpPr>
          <p:cNvPr id="8" name="Shape 5"/>
          <p:cNvSpPr/>
          <p:nvPr/>
        </p:nvSpPr>
        <p:spPr>
          <a:xfrm>
            <a:off x="896112" y="4160520"/>
            <a:ext cx="7396277" cy="0"/>
          </a:xfrm>
          <a:prstGeom prst="line">
            <a:avLst/>
          </a:prstGeom>
          <a:noFill/>
          <a:ln w="15875">
            <a:solidFill>
              <a:srgbClr val="B4532A"/>
            </a:solidFill>
            <a:prstDash val="dash"/>
          </a:ln>
        </p:spPr>
      </p:sp>
      <p:sp>
        <p:nvSpPr>
          <p:cNvPr id="9" name="Shape 6"/>
          <p:cNvSpPr/>
          <p:nvPr/>
        </p:nvSpPr>
        <p:spPr>
          <a:xfrm>
            <a:off x="685800" y="1847088"/>
            <a:ext cx="420624" cy="420624"/>
          </a:xfrm>
          <a:prstGeom prst="ellipse">
            <a:avLst/>
          </a:prstGeom>
          <a:solidFill>
            <a:srgbClr val="B4532A"/>
          </a:solidFill>
          <a:ln/>
        </p:spPr>
      </p:sp>
      <p:sp>
        <p:nvSpPr>
          <p:cNvPr id="10" name="Text 7"/>
          <p:cNvSpPr txBox="1"/>
          <p:nvPr/>
        </p:nvSpPr>
        <p:spPr>
          <a:xfrm>
            <a:off x="685800"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1" name="Shape 8"/>
          <p:cNvSpPr/>
          <p:nvPr/>
        </p:nvSpPr>
        <p:spPr>
          <a:xfrm>
            <a:off x="685800" y="2423160"/>
            <a:ext cx="3423818" cy="1463040"/>
          </a:xfrm>
          <a:prstGeom prst="roundRect">
            <a:avLst>
              <a:gd name="adj" fmla="val 3750"/>
            </a:avLst>
          </a:prstGeom>
          <a:solidFill>
            <a:srgbClr val="FFFFFF"/>
          </a:solidFill>
          <a:ln w="9525">
            <a:solidFill>
              <a:srgbClr val="D8CDB9"/>
            </a:solidFill>
            <a:prstDash val="solid"/>
          </a:ln>
        </p:spPr>
      </p:sp>
      <p:sp>
        <p:nvSpPr>
          <p:cNvPr id="12" name="Text 9"/>
          <p:cNvSpPr txBox="1"/>
          <p:nvPr/>
        </p:nvSpPr>
        <p:spPr>
          <a:xfrm>
            <a:off x="941832" y="258775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Start the stack</a:t>
            </a:r>
            <a:endParaRPr lang="en-US" sz="1800" dirty="0"/>
          </a:p>
        </p:txBody>
      </p:sp>
      <p:sp>
        <p:nvSpPr>
          <p:cNvPr id="13" name="Text 10"/>
          <p:cNvSpPr txBox="1"/>
          <p:nvPr/>
        </p:nvSpPr>
        <p:spPr>
          <a:xfrm>
            <a:off x="941832" y="301752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docker compose up -d, npm run seed, then npm run dev for server and client.</a:t>
            </a:r>
            <a:endParaRPr lang="en-US" sz="1250" dirty="0"/>
          </a:p>
        </p:txBody>
      </p:sp>
      <p:sp>
        <p:nvSpPr>
          <p:cNvPr id="14" name="Shape 11"/>
          <p:cNvSpPr/>
          <p:nvPr/>
        </p:nvSpPr>
        <p:spPr>
          <a:xfrm>
            <a:off x="4383938" y="1847088"/>
            <a:ext cx="420624" cy="420624"/>
          </a:xfrm>
          <a:prstGeom prst="ellipse">
            <a:avLst/>
          </a:prstGeom>
          <a:solidFill>
            <a:srgbClr val="B4532A"/>
          </a:solidFill>
          <a:ln/>
        </p:spPr>
      </p:sp>
      <p:sp>
        <p:nvSpPr>
          <p:cNvPr id="15" name="Text 12"/>
          <p:cNvSpPr txBox="1"/>
          <p:nvPr/>
        </p:nvSpPr>
        <p:spPr>
          <a:xfrm>
            <a:off x="4383938"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Shape 13"/>
          <p:cNvSpPr/>
          <p:nvPr/>
        </p:nvSpPr>
        <p:spPr>
          <a:xfrm>
            <a:off x="4383938" y="2423160"/>
            <a:ext cx="3423818" cy="1463040"/>
          </a:xfrm>
          <a:prstGeom prst="roundRect">
            <a:avLst>
              <a:gd name="adj" fmla="val 3750"/>
            </a:avLst>
          </a:prstGeom>
          <a:solidFill>
            <a:srgbClr val="FFFFFF"/>
          </a:solidFill>
          <a:ln w="9525">
            <a:solidFill>
              <a:srgbClr val="D8CDB9"/>
            </a:solidFill>
            <a:prstDash val="solid"/>
          </a:ln>
        </p:spPr>
      </p:sp>
      <p:sp>
        <p:nvSpPr>
          <p:cNvPr id="17" name="Text 14"/>
          <p:cNvSpPr txBox="1"/>
          <p:nvPr/>
        </p:nvSpPr>
        <p:spPr>
          <a:xfrm>
            <a:off x="4639970" y="258775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Browse</a:t>
            </a:r>
            <a:endParaRPr lang="en-US" sz="1800" dirty="0"/>
          </a:p>
        </p:txBody>
      </p:sp>
      <p:sp>
        <p:nvSpPr>
          <p:cNvPr id="18" name="Text 15"/>
          <p:cNvSpPr txBox="1"/>
          <p:nvPr/>
        </p:nvSpPr>
        <p:spPr>
          <a:xfrm>
            <a:off x="4639970" y="301752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Home → Destinations → open Manali.</a:t>
            </a:r>
            <a:endParaRPr lang="en-US" sz="1250" dirty="0"/>
          </a:p>
        </p:txBody>
      </p:sp>
      <p:sp>
        <p:nvSpPr>
          <p:cNvPr id="19" name="Shape 16"/>
          <p:cNvSpPr/>
          <p:nvPr/>
        </p:nvSpPr>
        <p:spPr>
          <a:xfrm>
            <a:off x="8082077" y="1847088"/>
            <a:ext cx="420624" cy="420624"/>
          </a:xfrm>
          <a:prstGeom prst="ellipse">
            <a:avLst/>
          </a:prstGeom>
          <a:solidFill>
            <a:srgbClr val="B4532A"/>
          </a:solidFill>
          <a:ln/>
        </p:spPr>
      </p:sp>
      <p:sp>
        <p:nvSpPr>
          <p:cNvPr id="20" name="Text 17"/>
          <p:cNvSpPr txBox="1"/>
          <p:nvPr/>
        </p:nvSpPr>
        <p:spPr>
          <a:xfrm>
            <a:off x="8082077"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Shape 18"/>
          <p:cNvSpPr/>
          <p:nvPr/>
        </p:nvSpPr>
        <p:spPr>
          <a:xfrm>
            <a:off x="8082077" y="2423160"/>
            <a:ext cx="3423818" cy="1463040"/>
          </a:xfrm>
          <a:prstGeom prst="roundRect">
            <a:avLst>
              <a:gd name="adj" fmla="val 3750"/>
            </a:avLst>
          </a:prstGeom>
          <a:solidFill>
            <a:srgbClr val="FFFFFF"/>
          </a:solidFill>
          <a:ln w="9525">
            <a:solidFill>
              <a:srgbClr val="D8CDB9"/>
            </a:solidFill>
            <a:prstDash val="solid"/>
          </a:ln>
        </p:spPr>
      </p:sp>
      <p:sp>
        <p:nvSpPr>
          <p:cNvPr id="22" name="Text 19"/>
          <p:cNvSpPr txBox="1"/>
          <p:nvPr/>
        </p:nvSpPr>
        <p:spPr>
          <a:xfrm>
            <a:off x="8338109" y="258775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Plan</a:t>
            </a:r>
            <a:endParaRPr lang="en-US" sz="1800" dirty="0"/>
          </a:p>
        </p:txBody>
      </p:sp>
      <p:sp>
        <p:nvSpPr>
          <p:cNvPr id="23" name="Text 20"/>
          <p:cNvSpPr txBox="1"/>
          <p:nvPr/>
        </p:nvSpPr>
        <p:spPr>
          <a:xfrm>
            <a:off x="8338109" y="301752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Plan a trip here: 4 days, 2 travellers, Standard, Adventure + Nature → Generate plan.</a:t>
            </a:r>
            <a:endParaRPr lang="en-US" sz="1250" dirty="0"/>
          </a:p>
        </p:txBody>
      </p:sp>
      <p:sp>
        <p:nvSpPr>
          <p:cNvPr id="24" name="Shape 21"/>
          <p:cNvSpPr/>
          <p:nvPr/>
        </p:nvSpPr>
        <p:spPr>
          <a:xfrm>
            <a:off x="685800" y="3950208"/>
            <a:ext cx="420624" cy="420624"/>
          </a:xfrm>
          <a:prstGeom prst="ellipse">
            <a:avLst/>
          </a:prstGeom>
          <a:solidFill>
            <a:srgbClr val="B4532A"/>
          </a:solidFill>
          <a:ln/>
        </p:spPr>
      </p:sp>
      <p:sp>
        <p:nvSpPr>
          <p:cNvPr id="25" name="Text 22"/>
          <p:cNvSpPr txBox="1"/>
          <p:nvPr/>
        </p:nvSpPr>
        <p:spPr>
          <a:xfrm>
            <a:off x="685800" y="3950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Shape 23"/>
          <p:cNvSpPr/>
          <p:nvPr/>
        </p:nvSpPr>
        <p:spPr>
          <a:xfrm>
            <a:off x="685800" y="4526280"/>
            <a:ext cx="3423818" cy="1463040"/>
          </a:xfrm>
          <a:prstGeom prst="roundRect">
            <a:avLst>
              <a:gd name="adj" fmla="val 3750"/>
            </a:avLst>
          </a:prstGeom>
          <a:solidFill>
            <a:srgbClr val="FFFFFF"/>
          </a:solidFill>
          <a:ln w="9525">
            <a:solidFill>
              <a:srgbClr val="D8CDB9"/>
            </a:solidFill>
            <a:prstDash val="solid"/>
          </a:ln>
        </p:spPr>
      </p:sp>
      <p:sp>
        <p:nvSpPr>
          <p:cNvPr id="27" name="Text 24"/>
          <p:cNvSpPr txBox="1"/>
          <p:nvPr/>
        </p:nvSpPr>
        <p:spPr>
          <a:xfrm>
            <a:off x="941832" y="469087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Read the plan</a:t>
            </a:r>
            <a:endParaRPr lang="en-US" sz="1800" dirty="0"/>
          </a:p>
        </p:txBody>
      </p:sp>
      <p:sp>
        <p:nvSpPr>
          <p:cNvPr id="28" name="Text 25"/>
          <p:cNvSpPr txBox="1"/>
          <p:nvPr/>
        </p:nvSpPr>
        <p:spPr>
          <a:xfrm>
            <a:off x="941832" y="512064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Day-wise itinerary with timings, then the budget breakdown.</a:t>
            </a:r>
            <a:endParaRPr lang="en-US" sz="1250" dirty="0"/>
          </a:p>
        </p:txBody>
      </p:sp>
      <p:sp>
        <p:nvSpPr>
          <p:cNvPr id="29" name="Shape 26"/>
          <p:cNvSpPr/>
          <p:nvPr/>
        </p:nvSpPr>
        <p:spPr>
          <a:xfrm>
            <a:off x="4383938" y="3950208"/>
            <a:ext cx="420624" cy="420624"/>
          </a:xfrm>
          <a:prstGeom prst="ellipse">
            <a:avLst/>
          </a:prstGeom>
          <a:solidFill>
            <a:srgbClr val="B4532A"/>
          </a:solidFill>
          <a:ln/>
        </p:spPr>
      </p:sp>
      <p:sp>
        <p:nvSpPr>
          <p:cNvPr id="30" name="Text 27"/>
          <p:cNvSpPr txBox="1"/>
          <p:nvPr/>
        </p:nvSpPr>
        <p:spPr>
          <a:xfrm>
            <a:off x="4383938" y="3950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1" name="Shape 28"/>
          <p:cNvSpPr/>
          <p:nvPr/>
        </p:nvSpPr>
        <p:spPr>
          <a:xfrm>
            <a:off x="4383938" y="4526280"/>
            <a:ext cx="3423818" cy="1463040"/>
          </a:xfrm>
          <a:prstGeom prst="roundRect">
            <a:avLst>
              <a:gd name="adj" fmla="val 3750"/>
            </a:avLst>
          </a:prstGeom>
          <a:solidFill>
            <a:srgbClr val="FFFFFF"/>
          </a:solidFill>
          <a:ln w="9525">
            <a:solidFill>
              <a:srgbClr val="D8CDB9"/>
            </a:solidFill>
            <a:prstDash val="solid"/>
          </a:ln>
        </p:spPr>
      </p:sp>
      <p:sp>
        <p:nvSpPr>
          <p:cNvPr id="32" name="Text 29"/>
          <p:cNvSpPr txBox="1"/>
          <p:nvPr/>
        </p:nvSpPr>
        <p:spPr>
          <a:xfrm>
            <a:off x="4639970" y="469087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Save</a:t>
            </a:r>
            <a:endParaRPr lang="en-US" sz="1800" dirty="0"/>
          </a:p>
        </p:txBody>
      </p:sp>
      <p:sp>
        <p:nvSpPr>
          <p:cNvPr id="33" name="Text 30"/>
          <p:cNvSpPr txBox="1"/>
          <p:nvPr/>
        </p:nvSpPr>
        <p:spPr>
          <a:xfrm>
            <a:off x="4639970" y="512064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Save → asked to log in → register → plan restored → Save → Trip Details.</a:t>
            </a:r>
            <a:endParaRPr lang="en-US" sz="1250" dirty="0"/>
          </a:p>
        </p:txBody>
      </p:sp>
      <p:sp>
        <p:nvSpPr>
          <p:cNvPr id="34" name="Shape 31"/>
          <p:cNvSpPr/>
          <p:nvPr/>
        </p:nvSpPr>
        <p:spPr>
          <a:xfrm>
            <a:off x="8082077" y="3950208"/>
            <a:ext cx="420624" cy="420624"/>
          </a:xfrm>
          <a:prstGeom prst="ellipse">
            <a:avLst/>
          </a:prstGeom>
          <a:solidFill>
            <a:srgbClr val="B4532A"/>
          </a:solidFill>
          <a:ln/>
        </p:spPr>
      </p:sp>
      <p:sp>
        <p:nvSpPr>
          <p:cNvPr id="35" name="Text 32"/>
          <p:cNvSpPr txBox="1"/>
          <p:nvPr/>
        </p:nvSpPr>
        <p:spPr>
          <a:xfrm>
            <a:off x="8082077" y="3950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6" name="Shape 33"/>
          <p:cNvSpPr/>
          <p:nvPr/>
        </p:nvSpPr>
        <p:spPr>
          <a:xfrm>
            <a:off x="8082077" y="4526280"/>
            <a:ext cx="3423818" cy="1463040"/>
          </a:xfrm>
          <a:prstGeom prst="roundRect">
            <a:avLst>
              <a:gd name="adj" fmla="val 3750"/>
            </a:avLst>
          </a:prstGeom>
          <a:solidFill>
            <a:srgbClr val="FFFFFF"/>
          </a:solidFill>
          <a:ln w="9525">
            <a:solidFill>
              <a:srgbClr val="D8CDB9"/>
            </a:solidFill>
            <a:prstDash val="solid"/>
          </a:ln>
        </p:spPr>
      </p:sp>
      <p:sp>
        <p:nvSpPr>
          <p:cNvPr id="37" name="Text 34"/>
          <p:cNvSpPr txBox="1"/>
          <p:nvPr/>
        </p:nvSpPr>
        <p:spPr>
          <a:xfrm>
            <a:off x="8338109" y="4690872"/>
            <a:ext cx="2911754" cy="365760"/>
          </a:xfrm>
          <a:prstGeom prst="rect">
            <a:avLst/>
          </a:prstGeom>
          <a:noFill/>
          <a:ln/>
        </p:spPr>
        <p:txBody>
          <a:bodyPr wrap="square" lIns="0" tIns="0" rIns="0" bIns="0" rtlCol="0" anchor="t"/>
          <a:lstStyle/>
          <a:p>
            <a:pPr indent="0" marL="0">
              <a:buNone/>
            </a:pPr>
            <a:r>
              <a:rPr lang="en-US" sz="1800" dirty="0">
                <a:solidFill>
                  <a:srgbClr val="1F2A33"/>
                </a:solidFill>
                <a:latin typeface="Georgia" pitchFamily="34" charset="0"/>
                <a:ea typeface="Georgia" pitchFamily="34" charset="-122"/>
                <a:cs typeface="Georgia" pitchFamily="34" charset="-120"/>
              </a:rPr>
              <a:t>Manage</a:t>
            </a:r>
            <a:endParaRPr lang="en-US" sz="1800" dirty="0"/>
          </a:p>
        </p:txBody>
      </p:sp>
      <p:sp>
        <p:nvSpPr>
          <p:cNvPr id="38" name="Text 35"/>
          <p:cNvSpPr txBox="1"/>
          <p:nvPr/>
        </p:nvSpPr>
        <p:spPr>
          <a:xfrm>
            <a:off x="8338109" y="5120640"/>
            <a:ext cx="2911754" cy="777240"/>
          </a:xfrm>
          <a:prstGeom prst="rect">
            <a:avLst/>
          </a:prstGeom>
          <a:noFill/>
          <a:ln/>
        </p:spPr>
        <p:txBody>
          <a:bodyPr wrap="square" lIns="0" tIns="0" rIns="0" bIns="0" rtlCol="0" anchor="t"/>
          <a:lstStyle/>
          <a:p>
            <a:pPr indent="0" marL="0">
              <a:buNone/>
            </a:pPr>
            <a:r>
              <a:rPr lang="en-US" sz="1250" dirty="0">
                <a:solidFill>
                  <a:srgbClr val="3D4852"/>
                </a:solidFill>
                <a:latin typeface="Arial" pitchFamily="34" charset="0"/>
                <a:ea typeface="Arial" pitchFamily="34" charset="-122"/>
                <a:cs typeface="Arial" pitchFamily="34" charset="-120"/>
              </a:rPr>
              <a:t>My Trips shows the trip: mark completed, add notes, delete.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222A"/>
        </a:solidFill>
      </p:bgPr>
    </p:bg>
    <p:spTree>
      <p:nvGrpSpPr>
        <p:cNvPr id="1" name=""/>
        <p:cNvGrpSpPr/>
        <p:nvPr/>
      </p:nvGrpSpPr>
      <p:grpSpPr>
        <a:xfrm>
          <a:off x="0" y="0"/>
          <a:ext cx="0" cy="0"/>
          <a:chOff x="0" y="0"/>
          <a:chExt cx="0" cy="0"/>
        </a:xfrm>
      </p:grpSpPr>
      <p:sp>
        <p:nvSpPr>
          <p:cNvPr id="3" name="Text 0"/>
          <p:cNvSpPr txBox="1"/>
          <p:nvPr/>
        </p:nvSpPr>
        <p:spPr>
          <a:xfrm>
            <a:off x="685800" y="640080"/>
            <a:ext cx="10820095" cy="274320"/>
          </a:xfrm>
          <a:prstGeom prst="rect">
            <a:avLst/>
          </a:prstGeom>
          <a:noFill/>
          <a:ln/>
        </p:spPr>
        <p:txBody>
          <a:bodyPr wrap="square" lIns="0" tIns="0" rIns="0" bIns="0" rtlCol="0" anchor="t"/>
          <a:lstStyle/>
          <a:p>
            <a:pPr indent="0" marL="0">
              <a:buNone/>
            </a:pPr>
            <a:r>
              <a:rPr lang="en-US" sz="1100" b="1" spc="300" kern="0" dirty="0">
                <a:solidFill>
                  <a:srgbClr val="E39568"/>
                </a:solidFill>
                <a:latin typeface="Arial" pitchFamily="34" charset="0"/>
                <a:ea typeface="Arial" pitchFamily="34" charset="-122"/>
                <a:cs typeface="Arial" pitchFamily="34" charset="-120"/>
              </a:rPr>
              <a:t>PRESENTATION-1  ·  21 SEPTEMBER 2026</a:t>
            </a:r>
            <a:endParaRPr lang="en-US" sz="1100" dirty="0"/>
          </a:p>
        </p:txBody>
      </p:sp>
      <p:sp>
        <p:nvSpPr>
          <p:cNvPr id="4" name="Text 1"/>
          <p:cNvSpPr txBox="1"/>
          <p:nvPr/>
        </p:nvSpPr>
        <p:spPr>
          <a:xfrm>
            <a:off x="685800" y="1737360"/>
            <a:ext cx="10820095" cy="1188720"/>
          </a:xfrm>
          <a:prstGeom prst="rect">
            <a:avLst/>
          </a:prstGeom>
          <a:noFill/>
          <a:ln/>
        </p:spPr>
        <p:txBody>
          <a:bodyPr wrap="square" lIns="0" tIns="0" rIns="0" bIns="0" rtlCol="0" anchor="ctr"/>
          <a:lstStyle/>
          <a:p>
            <a:pPr indent="0" marL="0">
              <a:buNone/>
            </a:pPr>
            <a:r>
              <a:rPr lang="en-US" sz="6600" dirty="0">
                <a:solidFill>
                  <a:srgbClr val="F6F1E7"/>
                </a:solidFill>
                <a:latin typeface="Georgia" pitchFamily="34" charset="0"/>
                <a:ea typeface="Georgia" pitchFamily="34" charset="-122"/>
                <a:cs typeface="Georgia" pitchFamily="34" charset="-120"/>
              </a:rPr>
              <a:t>Thank you</a:t>
            </a:r>
            <a:endParaRPr lang="en-US" sz="6600" dirty="0"/>
          </a:p>
        </p:txBody>
      </p:sp>
      <p:sp>
        <p:nvSpPr>
          <p:cNvPr id="5" name="Text 2"/>
          <p:cNvSpPr txBox="1"/>
          <p:nvPr/>
        </p:nvSpPr>
        <p:spPr>
          <a:xfrm>
            <a:off x="685800" y="3017520"/>
            <a:ext cx="8229600" cy="457200"/>
          </a:xfrm>
          <a:prstGeom prst="rect">
            <a:avLst/>
          </a:prstGeom>
          <a:noFill/>
          <a:ln/>
        </p:spPr>
        <p:txBody>
          <a:bodyPr wrap="square" lIns="0" tIns="0" rIns="0" bIns="0" rtlCol="0" anchor="t"/>
          <a:lstStyle/>
          <a:p>
            <a:pPr indent="0" marL="0">
              <a:buNone/>
            </a:pPr>
            <a:r>
              <a:rPr lang="en-US" sz="1800" dirty="0">
                <a:solidFill>
                  <a:srgbClr val="AEB6BC"/>
                </a:solidFill>
                <a:latin typeface="Arial" pitchFamily="34" charset="0"/>
                <a:ea typeface="Arial" pitchFamily="34" charset="-122"/>
                <a:cs typeface="Arial" pitchFamily="34" charset="-120"/>
              </a:rPr>
              <a:t>We would be glad to take your questions and suggestions.</a:t>
            </a:r>
            <a:endParaRPr lang="en-US" sz="1800" dirty="0"/>
          </a:p>
        </p:txBody>
      </p:sp>
      <p:sp>
        <p:nvSpPr>
          <p:cNvPr id="6" name="Text 3"/>
          <p:cNvSpPr txBox="1"/>
          <p:nvPr/>
        </p:nvSpPr>
        <p:spPr>
          <a:xfrm>
            <a:off x="685800" y="4343400"/>
            <a:ext cx="2743200" cy="320040"/>
          </a:xfrm>
          <a:prstGeom prst="rect">
            <a:avLst/>
          </a:prstGeom>
          <a:noFill/>
          <a:ln/>
        </p:spPr>
        <p:txBody>
          <a:bodyPr wrap="square" lIns="0" tIns="0" rIns="0" bIns="0" rtlCol="0" anchor="t"/>
          <a:lstStyle/>
          <a:p>
            <a:pPr indent="0" marL="0">
              <a:buNone/>
            </a:pPr>
            <a:r>
              <a:rPr lang="en-US" sz="1600" dirty="0">
                <a:solidFill>
                  <a:srgbClr val="F6F1E7"/>
                </a:solidFill>
                <a:latin typeface="Georgia" pitchFamily="34" charset="0"/>
                <a:ea typeface="Georgia" pitchFamily="34" charset="-122"/>
                <a:cs typeface="Georgia" pitchFamily="34" charset="-120"/>
              </a:rPr>
              <a:t>Udit Mishra</a:t>
            </a:r>
            <a:endParaRPr lang="en-US" sz="1400" dirty="0"/>
          </a:p>
        </p:txBody>
      </p:sp>
      <p:sp>
        <p:nvSpPr>
          <p:cNvPr id="7" name="Text 4"/>
          <p:cNvSpPr txBox="1"/>
          <p:nvPr/>
        </p:nvSpPr>
        <p:spPr>
          <a:xfrm>
            <a:off x="685800" y="4690872"/>
            <a:ext cx="2743200" cy="274320"/>
          </a:xfrm>
          <a:prstGeom prst="rect">
            <a:avLst/>
          </a:prstGeom>
          <a:noFill/>
          <a:ln/>
        </p:spPr>
        <p:txBody>
          <a:bodyPr wrap="square" lIns="0" tIns="0" rIns="0" bIns="0" rtlCol="0" anchor="t"/>
          <a:lstStyle/>
          <a:p>
            <a:pPr indent="0" marL="0">
              <a:buNone/>
            </a:pPr>
            <a:r>
              <a:rPr lang="en-US" sz="1150" dirty="0">
                <a:solidFill>
                  <a:srgbClr val="AEB6BC"/>
                </a:solidFill>
                <a:latin typeface="Arial" pitchFamily="34" charset="0"/>
                <a:ea typeface="Arial" pitchFamily="34" charset="-122"/>
                <a:cs typeface="Arial" pitchFamily="34" charset="-120"/>
              </a:rPr>
              <a:t>Backend / Database / API</a:t>
            </a:r>
            <a:endParaRPr lang="en-US" sz="1150" dirty="0"/>
          </a:p>
        </p:txBody>
      </p:sp>
      <p:sp>
        <p:nvSpPr>
          <p:cNvPr id="8" name="Text 5"/>
          <p:cNvSpPr txBox="1"/>
          <p:nvPr/>
        </p:nvSpPr>
        <p:spPr>
          <a:xfrm>
            <a:off x="3611880" y="4343400"/>
            <a:ext cx="2743200" cy="320040"/>
          </a:xfrm>
          <a:prstGeom prst="rect">
            <a:avLst/>
          </a:prstGeom>
          <a:noFill/>
          <a:ln/>
        </p:spPr>
        <p:txBody>
          <a:bodyPr wrap="square" lIns="0" tIns="0" rIns="0" bIns="0" rtlCol="0" anchor="t"/>
          <a:lstStyle/>
          <a:p>
            <a:pPr indent="0" marL="0">
              <a:buNone/>
            </a:pPr>
            <a:r>
              <a:rPr lang="en-US" sz="1600" dirty="0">
                <a:solidFill>
                  <a:srgbClr val="F6F1E7"/>
                </a:solidFill>
                <a:latin typeface="Georgia" pitchFamily="34" charset="0"/>
                <a:ea typeface="Georgia" pitchFamily="34" charset="-122"/>
                <a:cs typeface="Georgia" pitchFamily="34" charset="-120"/>
              </a:rPr>
              <a:t>Hardik Vaghela</a:t>
            </a:r>
            <a:endParaRPr lang="en-US" sz="1400" dirty="0"/>
          </a:p>
        </p:txBody>
      </p:sp>
      <p:sp>
        <p:nvSpPr>
          <p:cNvPr id="9" name="Text 6"/>
          <p:cNvSpPr txBox="1"/>
          <p:nvPr/>
        </p:nvSpPr>
        <p:spPr>
          <a:xfrm>
            <a:off x="3611880" y="4690872"/>
            <a:ext cx="2743200" cy="274320"/>
          </a:xfrm>
          <a:prstGeom prst="rect">
            <a:avLst/>
          </a:prstGeom>
          <a:noFill/>
          <a:ln/>
        </p:spPr>
        <p:txBody>
          <a:bodyPr wrap="square" lIns="0" tIns="0" rIns="0" bIns="0" rtlCol="0" anchor="t"/>
          <a:lstStyle/>
          <a:p>
            <a:pPr indent="0" marL="0">
              <a:buNone/>
            </a:pPr>
            <a:r>
              <a:rPr lang="en-US" sz="1150" dirty="0">
                <a:solidFill>
                  <a:srgbClr val="AEB6BC"/>
                </a:solidFill>
                <a:latin typeface="Arial" pitchFamily="34" charset="0"/>
                <a:ea typeface="Arial" pitchFamily="34" charset="-122"/>
                <a:cs typeface="Arial" pitchFamily="34" charset="-120"/>
              </a:rPr>
              <a:t>Frontend / UI</a:t>
            </a:r>
            <a:endParaRPr lang="en-US" sz="1150" dirty="0"/>
          </a:p>
        </p:txBody>
      </p:sp>
      <p:sp>
        <p:nvSpPr>
          <p:cNvPr id="10" name="Text 7"/>
          <p:cNvSpPr txBox="1"/>
          <p:nvPr/>
        </p:nvSpPr>
        <p:spPr>
          <a:xfrm>
            <a:off x="6537960" y="4343400"/>
            <a:ext cx="2743200" cy="320040"/>
          </a:xfrm>
          <a:prstGeom prst="rect">
            <a:avLst/>
          </a:prstGeom>
          <a:noFill/>
          <a:ln/>
        </p:spPr>
        <p:txBody>
          <a:bodyPr wrap="square" lIns="0" tIns="0" rIns="0" bIns="0" rtlCol="0" anchor="t"/>
          <a:lstStyle/>
          <a:p>
            <a:pPr indent="0" marL="0">
              <a:buNone/>
            </a:pPr>
            <a:r>
              <a:rPr lang="en-US" sz="1600" dirty="0">
                <a:solidFill>
                  <a:srgbClr val="F6F1E7"/>
                </a:solidFill>
                <a:latin typeface="Georgia" pitchFamily="34" charset="0"/>
                <a:ea typeface="Georgia" pitchFamily="34" charset="-122"/>
                <a:cs typeface="Georgia" pitchFamily="34" charset="-120"/>
              </a:rPr>
              <a:t>Vraj Panchal</a:t>
            </a:r>
            <a:endParaRPr lang="en-US" sz="1400" dirty="0"/>
          </a:p>
        </p:txBody>
      </p:sp>
      <p:sp>
        <p:nvSpPr>
          <p:cNvPr id="11" name="Text 8"/>
          <p:cNvSpPr txBox="1"/>
          <p:nvPr/>
        </p:nvSpPr>
        <p:spPr>
          <a:xfrm>
            <a:off x="6537960" y="4690872"/>
            <a:ext cx="2743200" cy="274320"/>
          </a:xfrm>
          <a:prstGeom prst="rect">
            <a:avLst/>
          </a:prstGeom>
          <a:noFill/>
          <a:ln/>
        </p:spPr>
        <p:txBody>
          <a:bodyPr wrap="square" lIns="0" tIns="0" rIns="0" bIns="0" rtlCol="0" anchor="t"/>
          <a:lstStyle/>
          <a:p>
            <a:pPr indent="0" marL="0">
              <a:buNone/>
            </a:pPr>
            <a:r>
              <a:rPr lang="en-US" sz="1150" dirty="0">
                <a:solidFill>
                  <a:srgbClr val="AEB6BC"/>
                </a:solidFill>
                <a:latin typeface="Arial" pitchFamily="34" charset="0"/>
                <a:ea typeface="Arial" pitchFamily="34" charset="-122"/>
                <a:cs typeface="Arial" pitchFamily="34" charset="-120"/>
              </a:rPr>
              <a:t>Documentation / UML / System Design</a:t>
            </a:r>
            <a:endParaRPr lang="en-US" sz="1150" dirty="0"/>
          </a:p>
        </p:txBody>
      </p:sp>
      <p:sp>
        <p:nvSpPr>
          <p:cNvPr id="12" name="Text 9"/>
          <p:cNvSpPr txBox="1"/>
          <p:nvPr/>
        </p:nvSpPr>
        <p:spPr>
          <a:xfrm>
            <a:off x="9601200" y="4343400"/>
            <a:ext cx="1904695" cy="640080"/>
          </a:xfrm>
          <a:prstGeom prst="rect">
            <a:avLst/>
          </a:prstGeom>
          <a:noFill/>
          <a:ln/>
        </p:spPr>
        <p:txBody>
          <a:bodyPr wrap="square" lIns="0" tIns="0" rIns="0" bIns="0" rtlCol="0" anchor="t"/>
          <a:lstStyle/>
          <a:p>
            <a:pPr indent="0" marL="0">
              <a:lnSpc>
                <a:spcPct val="120000"/>
              </a:lnSpc>
              <a:buNone/>
            </a:pPr>
            <a:r>
              <a:rPr lang="en-US" sz="1000" b="1" spc="300" kern="0" dirty="0">
                <a:solidFill>
                  <a:srgbClr val="AEB6BC"/>
                </a:solidFill>
                <a:latin typeface="Arial" pitchFamily="34" charset="0"/>
                <a:ea typeface="Arial" pitchFamily="34" charset="-122"/>
                <a:cs typeface="Arial" pitchFamily="34" charset="-120"/>
              </a:rPr>
              <a:t>GUIDED BY</a:t>
            </a:r>
            <a:endParaRPr lang="en-US" sz="1400" dirty="0"/>
          </a:p>
          <a:p>
            <a:pPr indent="0" marL="0">
              <a:lnSpc>
                <a:spcPct val="120000"/>
              </a:lnSpc>
              <a:buNone/>
            </a:pPr>
            <a:r>
              <a:rPr lang="en-US" sz="1400" dirty="0">
                <a:solidFill>
                  <a:srgbClr val="F6F1E7"/>
                </a:solidFill>
                <a:latin typeface="Arial" pitchFamily="34" charset="0"/>
                <a:ea typeface="Arial" pitchFamily="34" charset="-122"/>
                <a:cs typeface="Arial" pitchFamily="34" charset="-120"/>
              </a:rPr>
              <a:t>Prof. Payal Chauhan</a:t>
            </a:r>
            <a:endParaRPr lang="en-US" sz="1400" dirty="0"/>
          </a:p>
        </p:txBody>
      </p:sp>
      <p:sp>
        <p:nvSpPr>
          <p:cNvPr id="13" name="Text 10"/>
          <p:cNvSpPr txBox="1"/>
          <p:nvPr/>
        </p:nvSpPr>
        <p:spPr>
          <a:xfrm>
            <a:off x="685800" y="6217920"/>
            <a:ext cx="10820095" cy="274320"/>
          </a:xfrm>
          <a:prstGeom prst="rect">
            <a:avLst/>
          </a:prstGeom>
          <a:noFill/>
          <a:ln/>
        </p:spPr>
        <p:txBody>
          <a:bodyPr wrap="square" lIns="0" tIns="0" rIns="0" bIns="0" rtlCol="0" anchor="t"/>
          <a:lstStyle/>
          <a:p>
            <a:pPr indent="0" marL="0">
              <a:buNone/>
            </a:pPr>
            <a:r>
              <a:rPr lang="en-US" sz="1150" dirty="0">
                <a:solidFill>
                  <a:srgbClr val="AEB6BC"/>
                </a:solidFill>
                <a:latin typeface="Arial" pitchFamily="34" charset="0"/>
                <a:ea typeface="Arial" pitchFamily="34" charset="-122"/>
                <a:cs typeface="Arial" pitchFamily="34" charset="-120"/>
              </a:rPr>
              <a:t>Smart Trip Planner  ·  Sardar Vallabhbhai Patel Institute of Technology, Vasad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Trip Planner — Presentation-1</dc:title>
  <dc:subject>PptxGenJS Presentation</dc:subject>
  <dc:creator>Udit Mishra, Hardik Vaghela, Vraj Panchal</dc:creator>
  <cp:lastModifiedBy>Udit Mishra, Hardik Vaghela, Vraj Panchal</cp:lastModifiedBy>
  <cp:revision>1</cp:revision>
  <dcterms:created xsi:type="dcterms:W3CDTF">2026-09-20T16:23:05Z</dcterms:created>
  <dcterms:modified xsi:type="dcterms:W3CDTF">2026-09-20T16:23:05Z</dcterms:modified>
</cp:coreProperties>
</file>